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https://www.mckinsey.com/featured-insights/mckinsey-guide-to-navigating-the-new-world-of-work/thriving-at-work-building-resilience-wellness-and-motivation</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https://www.pdpc.gov.sg/overview-of-pdpa/the-legislation/personal-data-protection-act/data-protection-obligations</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https://www.pdpc.gov.sg/overview-of-pdpa/the-legislation/personal-data-protection-act/data-protection-obligations</a:t>
            </a:r>
          </a:p>
          <a:p>
            <a:r>
              <a:t>https://www.cipd.org/globalassets/media/knowledge/knowledge-hub/evidence-reviews/employee-resilience-discussion-report_tcm18-91717.pdf</a:t>
            </a:r>
          </a:p>
          <a:p>
            <a:r>
              <a:t>https://workplacementalhealth.org/mental-health-topics/resilience</a:t>
            </a:r>
          </a:p>
          <a:p>
            <a:r>
              <a:t>https://www.tal.sg/tafep/employment-practices/mental-health</a:t>
            </a:r>
          </a:p>
          <a:p>
            <a:r>
              <a:t>https://www.mckinsey.com/featured-insights/mckinsey-guide-to-navigating-the-new-world-of-work/thriving-at-work-building-resilience-wellness-and-motivation</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https://www.pdpc.gov.sg/overview-of-pdpa/the-legislation/personal-data-protection-act/data-protection-obligations</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https://www.pdpc.gov.sg/overview-of-pdpa/the-legislation/personal-data-protection-act/data-protection-obligations</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https://www.mckinsey.com/featured-insights/mckinsey-guide-to-navigating-the-new-world-of-work/thriving-at-work-building-resilience-wellness-and-motivation</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https://www.pdpc.gov.sg/overview-of-pdpa/the-legislation/personal-data-protection-act/data-protection-obligations</a:t>
            </a:r>
          </a:p>
          <a:p>
            <a:r>
              <a:t>https://www.cipd.org/globalassets/media/knowledge/knowledge-hub/evidence-reviews/employee-resilience-discussion-report_tcm18-91717.pdf</a:t>
            </a:r>
          </a:p>
          <a:p>
            <a:r>
              <a:t>https://workplacementalhealth.org/mental-health-topics/resilience</a:t>
            </a:r>
          </a:p>
          <a:p>
            <a:r>
              <a:t>https://www.tal.sg/tafep/employment-practices/mental-health</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https://www.cipd.org/globalassets/media/knowledge/knowledge-hub/evidence-reviews/employee-resilience-discussion-report_tcm18-91717.pdf</a:t>
            </a:r>
          </a:p>
          <a:p>
            <a:r>
              <a:t>https://workplacementalhealth.org/mental-health-topics/resilience</a:t>
            </a:r>
          </a:p>
          <a:p>
            <a:r>
              <a:t>https://www.tal.sg/tafep/employment-practices/mental-health</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https://www.cipd.org/globalassets/media/knowledge/knowledge-hub/evidence-reviews/employee-resilience-discussion-report_tcm18-91717.pdf</a:t>
            </a:r>
          </a:p>
          <a:p>
            <a:r>
              <a:t>https://workplacementalhealth.org/mental-health-topics/resilience</a:t>
            </a:r>
          </a:p>
          <a:p>
            <a:r>
              <a:t>https://www.tal.sg/tafep/employment-practices/mental-health</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https://www.pdpc.gov.sg/overview-of-pdpa/the-legislation/personal-data-protection-act/data-protection-obligations</a:t>
            </a:r>
          </a:p>
          <a:p>
            <a:r>
              <a:t>https://www.cipd.org/globalassets/media/knowledge/knowledge-hub/evidence-reviews/employee-resilience-discussion-report_tcm18-91717.pdf</a:t>
            </a:r>
          </a:p>
          <a:p>
            <a:r>
              <a:t>https://workplacementalhealth.org/mental-health-topics/resilience</a:t>
            </a:r>
          </a:p>
          <a:p>
            <a:r>
              <a:t>https://www.tal.sg/tafep/employment-practices/mental-health</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https://www.pdpc.gov.sg/overview-of-pdpa/the-legislation/personal-data-protection-act/data-protection-obligations</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https://www.pdpc.gov.sg/overview-of-pdpa/the-legislation/personal-data-protection-act/data-protection-obligations</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https://www.pdpc.gov.sg/overview-of-pdpa/the-legislation/personal-data-protection-act/data-protection-obligations</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https://www.cipd.org/globalassets/media/knowledge/knowledge-hub/evidence-reviews/employee-resilience-discussion-report_tcm18-91717.pdf</a:t>
            </a:r>
          </a:p>
          <a:p>
            <a:r>
              <a:t>https://workplacementalhealth.org/mental-health-topics/resilience</a:t>
            </a:r>
          </a:p>
          <a:p>
            <a:r>
              <a:t>https://www.tal.sg/tafep/employment-practices/mental-health</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https://www.cipd.org/globalassets/media/knowledge/knowledge-hub/evidence-reviews/employee-resilience-discussion-report_tcm18-91717.pdf</a:t>
            </a:r>
          </a:p>
          <a:p>
            <a:r>
              <a:t>https://workplacementalhealth.org/mental-health-topics/resilience</a:t>
            </a:r>
          </a:p>
          <a:p>
            <a:r>
              <a:t>https://www.tal.sg/tafep/employment-practices/mental-health</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https://www.cipd.org/globalassets/media/knowledge/knowledge-hub/evidence-reviews/employee-resilience-discussion-report_tcm18-91717.pdf</a:t>
            </a:r>
          </a:p>
          <a:p>
            <a:r>
              <a:t>https://workplacementalhealth.org/mental-health-topics/resilience</a:t>
            </a:r>
          </a:p>
          <a:p>
            <a:r>
              <a:t>https://www.tal.sg/tafep/employment-practices/mental-health</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https://www.pdpc.gov.sg/overview-of-pdpa/the-legislation/personal-data-protection-act/data-protection-obligations</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https://www.pdpc.gov.sg/overview-of-pdpa/the-legislation/personal-data-protection-act/data-protection-obligations</a:t>
            </a:r>
          </a:p>
          <a:p>
            <a:r>
              <a:t>https://www.cipd.org/globalassets/media/knowledge/knowledge-hub/evidence-reviews/employee-resilience-discussion-report_tcm18-91717.pdf</a:t>
            </a:r>
          </a:p>
          <a:p>
            <a:r>
              <a:t>https://workplacementalhealth.org/mental-health-topics/resilience</a:t>
            </a:r>
          </a:p>
          <a:p>
            <a:r>
              <a:t>https://www.tal.sg/tafep/employment-practices/mental-health</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https://www.pdpc.gov.sg/overview-of-pdpa/the-legislation/personal-data-protection-act/data-protection-obligations</a:t>
            </a:r>
          </a:p>
          <a:p>
            <a:r>
              <a:t>https://www.mckinsey.com/featured-insights/mckinsey-guide-to-navigating-the-new-world-of-work/thriving-at-work-building-resilience-wellness-and-motivation</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https://www.mckinsey.com/featured-insights/mckinsey-guide-to-navigating-the-new-world-of-work/thriving-at-work-building-resilience-wellness-and-motivation</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https://www.pdpc.gov.sg/overview-of-pdpa/the-legislation/personal-data-protection-act/data-protection-obligations</a:t>
            </a:r>
          </a:p>
          <a:p>
            <a:r>
              <a:t>https://www.tertiarycourses.com.sg/wsq-empowering-employee-health-and-wellness-at-the-workplace.html</a:t>
            </a:r>
          </a:p>
          <a:p>
            <a:r>
              <a:t>https://www.ncbi.nlm.nih.gov/books/NBK201567/</a:t>
            </a:r>
          </a:p>
          <a:p>
            <a:r>
              <a:t>https://www.mckinsey.com/featured-insights/mckinsey-guide-to-navigating-the-new-world-of-work/thriving-at-work-building-resilience-wellness-and-motivation</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https://www.pdpc.gov.sg/overview-of-pdpa/the-legislation/personal-data-protection-act/data-protection-obligations</a:t>
            </a:r>
          </a:p>
          <a:p>
            <a:r>
              <a:t>https://www.tertiarycourses.com.sg/wsq-empowering-employee-health-and-wellness-at-the-workplace.html</a:t>
            </a:r>
          </a:p>
          <a:p>
            <a:r>
              <a:t>https://www.ncbi.nlm.nih.gov/books/NBK201567/</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https://www.pdpc.gov.sg/overview-of-pdpa/the-legislation/personal-data-protection-act/data-protection-obligations</a:t>
            </a:r>
          </a:p>
          <a:p>
            <a:r>
              <a:t>https://www.tertiarycourses.com.sg/wsq-empowering-employee-health-and-wellness-at-the-workplace.html</a:t>
            </a:r>
          </a:p>
          <a:p>
            <a:r>
              <a:t>https://www.ncbi.nlm.nih.gov/books/NBK201567/</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https://www.pdpc.gov.sg/overview-of-pdpa/the-legislation/personal-data-protection-act/data-protection-obligations</a:t>
            </a:r>
          </a:p>
          <a:p>
            <a:r>
              <a:t>https://www.tertiarycourses.com.sg/wsq-empowering-employee-health-and-wellness-at-the-workplace.html</a:t>
            </a:r>
          </a:p>
          <a:p>
            <a:r>
              <a:t>https://www.ncbi.nlm.nih.gov/books/NBK201567/</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https://www.pdpc.gov.sg/overview-of-pdpa/the-legislation/personal-data-protection-act/data-protection-obligations</a:t>
            </a:r>
          </a:p>
          <a:p>
            <a:r>
              <a:t>https://www.tertiarycourses.com.sg/wsq-empowering-employee-health-and-wellness-at-the-workplace.html</a:t>
            </a:r>
          </a:p>
          <a:p>
            <a:r>
              <a:t>https://www.ncbi.nlm.nih.gov/books/NBK201567/</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https://www.gallup.com/workplace/404105/importance-of-employee-wellbeing.aspx</a:t>
            </a:r>
          </a:p>
          <a:p>
            <a:r>
              <a:t>https://www.tertiarycourses.com.sg/wsq-empowering-employee-health-and-wellness-at-the-workplace.html</a:t>
            </a:r>
          </a:p>
          <a:p>
            <a:r>
              <a:t>https://www.pdpc.gov.sg/overview-of-pdpa/the-legislation/personal-data-protection-act/data-protection-obligations</a:t>
            </a:r>
          </a:p>
          <a:p>
            <a:r>
              <a:t>https://www.ncbi.nlm.nih.gov/books/NBK201567/</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https://www.gallup.com/workplace/404105/importance-of-employee-wellbeing.aspx</a:t>
            </a:r>
          </a:p>
          <a:p>
            <a:r>
              <a:t>https://www.tertiarycourses.com.sg/wsq-empowering-employee-health-and-wellness-at-the-workplace.html</a:t>
            </a:r>
          </a:p>
          <a:p>
            <a:r>
              <a:t>https://www.pdpc.gov.sg/overview-of-pdpa/the-legislation/personal-data-protection-act/data-protection-obligations</a:t>
            </a:r>
          </a:p>
          <a:p>
            <a:r>
              <a:t>https://www.ncbi.nlm.nih.gov/books/NBK201567/</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https://www.gallup.com/workplace/404105/importance-of-employee-wellbeing.aspx</a:t>
            </a:r>
          </a:p>
          <a:p>
            <a:r>
              <a:t>https://www.tertiarycourses.com.sg/wsq-empowering-employee-health-and-wellness-at-the-workplace.html</a:t>
            </a:r>
          </a:p>
          <a:p>
            <a:r>
              <a:t>https://www.ncbi.nlm.nih.gov/books/NBK201567/</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https://www.gallup.com/workplace/404105/importance-of-employee-wellbeing.aspx</a:t>
            </a:r>
          </a:p>
          <a:p>
            <a:r>
              <a:t>https://www.tertiarycourses.com.sg/wsq-empowering-employee-health-and-wellness-at-the-workplace.html</a:t>
            </a:r>
          </a:p>
          <a:p>
            <a:r>
              <a:t>https://www.ncbi.nlm.nih.gov/books/NBK201567/</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https://www.ncbi.nlm.nih.gov/books/NBK201567/</a:t>
            </a:r>
          </a:p>
          <a:p>
            <a:r>
              <a:t>https://www.tertiarycourses.com.sg/wsq-empowering-employee-health-and-wellness-at-the-workplace.html</a:t>
            </a:r>
          </a:p>
          <a:p>
            <a:r>
              <a:t>https://www.pdpc.gov.sg/overview-of-pdpa/the-legislation/personal-data-protection-act/data-protection-obligations</a:t>
            </a:r>
          </a:p>
          <a:p>
            <a:r>
              <a:t>https://www.mckinsey.com/featured-insights/mckinsey-guide-to-navigating-the-new-world-of-work/thriving-at-work-building-resilience-wellness-and-motivation</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https://www.ncbi.nlm.nih.gov/books/NBK201567/</a:t>
            </a:r>
          </a:p>
          <a:p>
            <a:r>
              <a:t>https://www.tertiarycourses.com.sg/wsq-empowering-employee-health-and-wellness-at-the-workplace.html</a:t>
            </a:r>
          </a:p>
          <a:p>
            <a:r>
              <a:t>https://www.pdpc.gov.sg/overview-of-pdpa/the-legislation/personal-data-protection-act/data-protection-obligations</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https://www.ncbi.nlm.nih.gov/books/NBK201567/</a:t>
            </a:r>
          </a:p>
          <a:p>
            <a:r>
              <a:t>https://www.tertiarycourses.com.sg/wsq-empowering-employee-health-and-wellness-at-the-workplace.html</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https://www.ncbi.nlm.nih.gov/books/NBK201567/</a:t>
            </a:r>
          </a:p>
          <a:p>
            <a:r>
              <a:t>https://www.tertiarycourses.com.sg/wsq-empowering-employee-health-and-wellness-at-the-workplace.html</a:t>
            </a:r>
          </a:p>
          <a:p>
            <a:r>
              <a:t>https://www.pdpc.gov.sg/overview-of-pdpa/the-legislation/personal-data-protection-act/data-protection-obligations</a:t>
            </a:r>
          </a:p>
          <a:p>
            <a:r>
              <a:t>https://www.mckinsey.com/featured-insights/mckinsey-guide-to-navigating-the-new-world-of-work/thriving-at-work-building-resilience-wellness-and-motivation</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https://www.pdpc.gov.sg/overview-of-pdpa/the-legislation/personal-data-protection-act/data-protection-obligations</a:t>
            </a:r>
          </a:p>
          <a:p>
            <a:r>
              <a:t>https://www.tertiarycourses.com.sg/wsq-empowering-employee-health-and-wellness-at-the-workplace.html</a:t>
            </a:r>
          </a:p>
          <a:p>
            <a:r>
              <a:t>https://www.ncbi.nlm.nih.gov/books/NBK201567/</a:t>
            </a:r>
          </a:p>
          <a:p>
            <a:r>
              <a:t>https://www.mckinsey.com/featured-insights/mckinsey-guide-to-navigating-the-new-world-of-work/thriving-at-work-building-resilience-wellness-and-motivation</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https://www.cipd.org/globalassets/media/knowledge/knowledge-hub/evidence-reviews/employee-resilience-discussion-report_tcm18-91717.pdf</a:t>
            </a:r>
          </a:p>
          <a:p>
            <a:r>
              <a:t>https://workplacementalhealth.org/mental-health-topics/resilience</a:t>
            </a:r>
          </a:p>
          <a:p>
            <a:r>
              <a:t>https://www.tal.sg/tafep/employment-practices/mental-health</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https://www.cipd.org/globalassets/media/knowledge/knowledge-hub/evidence-reviews/employee-resilience-discussion-report_tcm18-91717.pdf</a:t>
            </a:r>
          </a:p>
          <a:p>
            <a:r>
              <a:t>https://workplacementalhealth.org/mental-health-topics/resilience</a:t>
            </a:r>
          </a:p>
          <a:p>
            <a:r>
              <a:t>https://www.tal.sg/tafep/employment-practices/mental-health</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https://www.cipd.org/globalassets/media/knowledge/knowledge-hub/evidence-reviews/employee-resilience-discussion-report_tcm18-91717.pdf</a:t>
            </a:r>
          </a:p>
          <a:p>
            <a:r>
              <a:t>https://workplacementalhealth.org/mental-health-topics/resilience</a:t>
            </a:r>
          </a:p>
          <a:p>
            <a:r>
              <a:t>https://www.tal.sg/tafep/employment-practices/mental-health</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https://www.cipd.org/globalassets/media/knowledge/knowledge-hub/evidence-reviews/employee-resilience-discussion-report_tcm18-91717.pdf</a:t>
            </a:r>
          </a:p>
          <a:p>
            <a:r>
              <a:t>https://workplacementalhealth.org/mental-health-topics/resilience</a:t>
            </a:r>
          </a:p>
          <a:p>
            <a:r>
              <a:t>https://www.tal.sg/tafep/employment-practices/mental-health</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https://www.pdpc.gov.sg/overview-of-pdpa/the-legislation/personal-data-protection-act/data-protection-obligations</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https://www.cipd.org/globalassets/media/knowledge/knowledge-hub/evidence-reviews/employee-resilience-discussion-report_tcm18-91717.pdf</a:t>
            </a:r>
          </a:p>
          <a:p>
            <a:r>
              <a:t>https://workplacementalhealth.org/mental-health-topics/resilience</a:t>
            </a:r>
          </a:p>
          <a:p>
            <a:r>
              <a:t>https://www.tal.sg/tafep/employment-practices/mental-health</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https://www.cipd.org/globalassets/media/knowledge/knowledge-hub/evidence-reviews/employee-resilience-discussion-report_tcm18-91717.pdf</a:t>
            </a:r>
          </a:p>
          <a:p>
            <a:r>
              <a:t>https://workplacementalhealth.org/mental-health-topics/resilience</a:t>
            </a:r>
          </a:p>
          <a:p>
            <a:r>
              <a:t>https://www.tal.sg/tafep/employment-practices/mental-health</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https://www.pdpc.gov.sg/overview-of-pdpa/the-legislation/personal-data-protection-act/data-protection-obligations</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https://www.pdpc.gov.sg/overview-of-pdpa/the-legislation/personal-data-protection-act/data-protection-obligations</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https://www.pdpc.gov.sg/overview-of-pdpa/the-legislation/personal-data-protection-act/data-protection-obligations</a:t>
            </a:r>
          </a:p>
          <a:p>
            <a:r>
              <a:t>https://www.mckinsey.com/featured-insights/mckinsey-guide-to-navigating-the-new-world-of-work/thriving-at-work-building-resilience-wellness-and-motivation</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https://www.pdpc.gov.sg/overview-of-pdpa/the-legislation/personal-data-protection-act/data-protection-obligations</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https://www.cipd.org/globalassets/media/knowledge/knowledge-hub/evidence-reviews/employee-resilience-discussion-report_tcm18-91717.pdf</a:t>
            </a:r>
          </a:p>
          <a:p>
            <a:r>
              <a:t>https://www.tertiarycourses.com.sg/wsq-empowering-employee-health-and-wellness-at-the-workplace.html</a:t>
            </a:r>
          </a:p>
          <a:p>
            <a:r>
              <a:t>https://workplacementalhealth.org/mental-health-topics/resilience</a:t>
            </a:r>
          </a:p>
          <a:p>
            <a:r>
              <a:t>https://www.tal.sg/tafep/employment-practices/mental-health</a:t>
            </a:r>
          </a:p>
          <a:p>
            <a:r>
              <a:t>https://www.ncbi.nlm.nih.gov/books/NBK201567/</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https://www.cipd.org/globalassets/media/knowledge/knowledge-hub/evidence-reviews/employee-resilience-discussion-report_tcm18-91717.pdf</a:t>
            </a:r>
          </a:p>
          <a:p>
            <a:r>
              <a:t>https://www.tertiarycourses.com.sg/wsq-empowering-employee-health-and-wellness-at-the-workplace.html</a:t>
            </a:r>
          </a:p>
          <a:p>
            <a:r>
              <a:t>https://workplacementalhealth.org/mental-health-topics/resilience</a:t>
            </a:r>
          </a:p>
          <a:p>
            <a:r>
              <a:t>https://www.tal.sg/tafep/employment-practices/mental-health</a:t>
            </a:r>
          </a:p>
          <a:p>
            <a:r>
              <a:t>https://www.ncbi.nlm.nih.gov/books/NBK201567/</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https://www.cipd.org/globalassets/media/knowledge/knowledge-hub/evidence-reviews/employee-resilience-discussion-report_tcm18-91717.pdf</a:t>
            </a:r>
          </a:p>
          <a:p>
            <a:r>
              <a:t>https://www.tertiarycourses.com.sg/wsq-empowering-employee-health-and-wellness-at-the-workplace.html</a:t>
            </a:r>
          </a:p>
          <a:p>
            <a:r>
              <a:t>https://workplacementalhealth.org/mental-health-topics/resilience</a:t>
            </a:r>
          </a:p>
          <a:p>
            <a:r>
              <a:t>https://www.tal.sg/tafep/employment-practices/mental-health</a:t>
            </a:r>
          </a:p>
          <a:p>
            <a:r>
              <a:t>https://www.ncbi.nlm.nih.gov/books/NBK201567/</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https://www.cipd.org/globalassets/media/knowledge/knowledge-hub/evidence-reviews/employee-resilience-discussion-report_tcm18-91717.pdf</a:t>
            </a:r>
          </a:p>
          <a:p>
            <a:r>
              <a:t>https://www.tertiarycourses.com.sg/wsq-empowering-employee-health-and-wellness-at-the-workplace.html</a:t>
            </a:r>
          </a:p>
          <a:p>
            <a:r>
              <a:t>https://www.ncbi.nlm.nih.gov/books/NBK201567/</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https://www.cipd.org/globalassets/media/knowledge/knowledge-hub/evidence-reviews/employee-resilience-discussion-report_tcm18-91717.pdf</a:t>
            </a:r>
          </a:p>
          <a:p>
            <a:r>
              <a:t>https://www.tertiarycourses.com.sg/wsq-empowering-employee-health-and-wellness-at-the-workplace.html</a:t>
            </a:r>
          </a:p>
          <a:p>
            <a:r>
              <a:t>https://workplacementalhealth.org/mental-health-topics/resilience</a:t>
            </a:r>
          </a:p>
          <a:p>
            <a:r>
              <a:t>https://www.tal.sg/tafep/employment-practices/mental-health</a:t>
            </a:r>
          </a:p>
          <a:p>
            <a:r>
              <a:t>https://www.ncbi.nlm.nih.gov/books/NBK201567/</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https://pmc.ncbi.nlm.nih.gov/articles/PMC8168167/</a:t>
            </a:r>
          </a:p>
          <a:p>
            <a:r>
              <a:t>https://www.tertiarycourses.com.sg/wsq-empowering-employee-health-and-wellness-at-the-workplace.html</a:t>
            </a:r>
          </a:p>
          <a:p>
            <a:r>
              <a:t>https://www.ncbi.nlm.nih.gov/books/NBK201567/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https://pmc.ncbi.nlm.nih.gov/articles/PMC8168167/</a:t>
            </a:r>
          </a:p>
          <a:p>
            <a:r>
              <a:t>https://www.tertiarycourses.com.sg/wsq-empowering-employee-health-and-wellness-at-the-workplace.html</a:t>
            </a:r>
          </a:p>
          <a:p>
            <a:r>
              <a:t>https://www.pdpc.gov.sg/overview-of-pdpa/the-legislation/personal-data-protection-act/data-protection-obligations</a:t>
            </a:r>
          </a:p>
          <a:p>
            <a:r>
              <a:t>https://www.ncbi.nlm.nih.gov/books/NBK201567/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https://pmc.ncbi.nlm.nih.gov/articles/PMC8168167/</a:t>
            </a:r>
          </a:p>
          <a:p>
            <a:r>
              <a:t>https://www.tertiarycourses.com.sg/wsq-empowering-employee-health-and-wellness-at-the-workplace.html</a:t>
            </a:r>
          </a:p>
          <a:p>
            <a:r>
              <a:t>https://www.ncbi.nlm.nih.gov/books/NBK201567/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https://pmc.ncbi.nlm.nih.gov/articles/PMC8168167/</a:t>
            </a:r>
          </a:p>
          <a:p>
            <a:r>
              <a:t>https://www.tertiarycourses.com.sg/wsq-empowering-employee-health-and-wellness-at-the-workplace.html</a:t>
            </a:r>
          </a:p>
          <a:p>
            <a:r>
              <a:t>https://www.pdpc.gov.sg/overview-of-pdpa/the-legislation/personal-data-protection-act/data-protection-obligations</a:t>
            </a:r>
          </a:p>
          <a:p>
            <a:r>
              <a:t>https://www.ncbi.nlm.nih.gov/books/NBK201567/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https://www.tal.sg/tafep/employment-practices/mental-health</a:t>
            </a:r>
          </a:p>
          <a:p>
            <a:r>
              <a:t>https://www.tertiarycourses.com.sg/wsq-empowering-employee-health-and-wellness-at-the-workplace.html</a:t>
            </a:r>
          </a:p>
          <a:p>
            <a:r>
              <a:t>https://www.cipd.org/globalassets/media/knowledge/knowledge-hub/evidence-reviews/employee-resilience-discussion-report_tcm18-91717.pdf</a:t>
            </a:r>
          </a:p>
          <a:p>
            <a:r>
              <a:t>https://workplacementalhealth.org/mental-health-topics/resilience</a:t>
            </a:r>
          </a:p>
          <a:p>
            <a:r>
              <a:t>https://www.ncbi.nlm.nih.gov/books/NBK201567/</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https://www.tal.sg/tafep/employment-practices/mental-health</a:t>
            </a:r>
          </a:p>
          <a:p>
            <a:r>
              <a:t>https://www.tertiarycourses.com.sg/wsq-empowering-employee-health-and-wellness-at-the-workplace.html</a:t>
            </a:r>
          </a:p>
          <a:p>
            <a:r>
              <a:t>https://www.cipd.org/globalassets/media/knowledge/knowledge-hub/evidence-reviews/employee-resilience-discussion-report_tcm18-91717.pdf</a:t>
            </a:r>
          </a:p>
          <a:p>
            <a:r>
              <a:t>https://workplacementalhealth.org/mental-health-topics/resilience</a:t>
            </a:r>
          </a:p>
          <a:p>
            <a:r>
              <a:t>https://www.ncbi.nlm.nih.gov/books/NBK201567/</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https://www.tal.sg/tafep/employment-practices/mental-health</a:t>
            </a:r>
          </a:p>
          <a:p>
            <a:r>
              <a:t>https://www.tertiarycourses.com.sg/wsq-empowering-employee-health-and-wellness-at-the-workplace.html</a:t>
            </a:r>
          </a:p>
          <a:p>
            <a:r>
              <a:t>https://www.ncbi.nlm.nih.gov/books/NBK201567/</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https://www.tal.sg/tafep/employment-practices/mental-health</a:t>
            </a:r>
          </a:p>
          <a:p>
            <a:r>
              <a:t>https://www.tertiarycourses.com.sg/wsq-empowering-employee-health-and-wellness-at-the-workplace.html</a:t>
            </a:r>
          </a:p>
          <a:p>
            <a:r>
              <a:t>https://www.cipd.org/globalassets/media/knowledge/knowledge-hub/evidence-reviews/employee-resilience-discussion-report_tcm18-91717.pdf</a:t>
            </a:r>
          </a:p>
          <a:p>
            <a:r>
              <a:t>https://workplacementalhealth.org/mental-health-topics/resilience</a:t>
            </a:r>
          </a:p>
          <a:p>
            <a:r>
              <a:t>https://www.ncbi.nlm.nih.gov/books/NBK201567/</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https://www.ncbi.nlm.nih.gov/books/NBK201567/</a:t>
            </a:r>
          </a:p>
          <a:p>
            <a:r>
              <a:t>https://www.tertiarycourses.com.sg/wsq-empowering-employee-health-and-wellness-at-the-workplace.html</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https://www.ncbi.nlm.nih.gov/books/NBK201567/</a:t>
            </a:r>
          </a:p>
          <a:p>
            <a:r>
              <a:t>https://www.tertiarycourses.com.sg/wsq-empowering-employee-health-and-wellness-at-the-workplace.html</a:t>
            </a:r>
          </a:p>
          <a:p>
            <a:r>
              <a:t>https://www.pdpc.gov.sg/overview-of-pdpa/the-legislation/personal-data-protection-act/data-protection-obligations</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https://www.ncbi.nlm.nih.gov/books/NBK201567/</a:t>
            </a:r>
          </a:p>
          <a:p>
            <a:r>
              <a:t>https://www.tertiarycourses.com.sg/wsq-empowering-employee-health-and-wellness-at-the-workplace.html</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https://www.ncbi.nlm.nih.gov/books/NBK201567/</a:t>
            </a:r>
          </a:p>
          <a:p>
            <a:r>
              <a:t>https://www.tertiarycourses.com.sg/wsq-empowering-employee-health-and-wellness-at-the-workplace.html</a:t>
            </a:r>
          </a:p>
          <a:p>
            <a:r>
              <a:t>https://www.pdpc.gov.sg/overview-of-pdpa/the-legislation/personal-data-protection-act/data-protection-obligations</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https://www.cipd.org/globalassets/media/knowledge/knowledge-hub/evidence-reviews/employee-resilience-discussion-report_tcm18-91717.pdf</a:t>
            </a:r>
          </a:p>
          <a:p>
            <a:r>
              <a:t>https://www.tertiarycourses.com.sg/wsq-empowering-employee-health-and-wellness-at-the-workplace.html</a:t>
            </a:r>
          </a:p>
          <a:p>
            <a:r>
              <a:t>https://workplacementalhealth.org/mental-health-topics/resilience</a:t>
            </a:r>
          </a:p>
          <a:p>
            <a:r>
              <a:t>https://www.tal.sg/tafep/employment-practices/mental-health</a:t>
            </a:r>
          </a:p>
          <a:p>
            <a:r>
              <a:t>https://www.ncbi.nlm.nih.gov/books/NBK201567/</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https://www.pdpc.gov.sg/overview-of-pdpa/the-legislation/personal-data-protection-act/data-protection-obligations</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https://www.pdpc.gov.sg/overview-of-pdpa/the-legislation/personal-data-protection-act/data-protection-obligations</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https://www.pdpc.gov.sg/overview-of-pdpa/the-legislation/personal-data-protection-act/data-protection-obligations</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https://www.pdpc.gov.sg/overview-of-pdpa/the-legislation/personal-data-protection-act/data-protection-obligations</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https://www.pdpc.gov.sg/overview-of-pdpa/the-legislation/personal-data-protection-act/data-protection-obligations</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https://www.pdpc.gov.sg/overview-of-pdpa/the-legislation/personal-data-protection-act/data-protection-obligations</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https://www.cipd.org/globalassets/media/knowledge/knowledge-hub/evidence-reviews/employee-resilience-discussion-report_tcm18-91717.pdf</a:t>
            </a:r>
          </a:p>
          <a:p>
            <a:r>
              <a:t>https://workplacementalhealth.org/mental-health-topics/resilience</a:t>
            </a:r>
          </a:p>
          <a:p>
            <a:r>
              <a:t>https://www.tal.sg/tafep/employment-practices/mental-health</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https://www.pdpc.gov.sg/overview-of-pdpa/the-legislation/personal-data-protection-act/data-protection-obligations</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https://www.pdpc.gov.sg/overview-of-pdpa/the-legislation/personal-data-protection-act/data-protection-obligations</a:t>
            </a:r>
          </a:p>
          <a:p>
            <a:r>
              <a:t>https://www.tertiarycourses.com.sg/wsq-empowering-employee-health-and-wellness-at-the-workplace.html</a:t>
            </a:r>
          </a:p>
          <a:p>
            <a:r>
              <a:t>https://www.ncbi.nlm.nih.gov/books/NBK201567/</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https://www.gallup.com/workplace/404105/importance-of-employee-wellbeing.aspx</a:t>
            </a:r>
          </a:p>
          <a:p>
            <a:r>
              <a:t>https://www.tertiarycourses.com.sg/wsq-empowering-employee-health-and-wellness-at-the-workplace.html</a:t>
            </a:r>
          </a:p>
          <a:p>
            <a:r>
              <a:t>https://www.pdpc.gov.sg/overview-of-pdpa/the-legislation/personal-data-protection-act/data-protection-obligations</a:t>
            </a:r>
          </a:p>
          <a:p>
            <a:r>
              <a:t>https://www.ncbi.nlm.nih.gov/books/NBK201567/</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https://www.gallup.com/workplace/404105/importance-of-employee-wellbeing.aspx</a:t>
            </a:r>
          </a:p>
          <a:p>
            <a:r>
              <a:t>https://www.tertiarycourses.com.sg/wsq-empowering-employee-health-and-wellness-at-the-workplace.html</a:t>
            </a:r>
          </a:p>
          <a:p>
            <a:r>
              <a:t>https://www.ncbi.nlm.nih.gov/books/NBK201567/</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https://www.gallup.com/workplace/404105/importance-of-employee-wellbeing.aspx</a:t>
            </a:r>
          </a:p>
          <a:p>
            <a:r>
              <a:t>https://www.tertiarycourses.com.sg/wsq-empowering-employee-health-and-wellness-at-the-workplace.html</a:t>
            </a:r>
          </a:p>
          <a:p>
            <a:r>
              <a:t>https://www.pdpc.gov.sg/overview-of-pdpa/the-legislation/personal-data-protection-act/data-protection-obligations</a:t>
            </a:r>
          </a:p>
          <a:p>
            <a:r>
              <a:t>https://www.ncbi.nlm.nih.gov/books/NBK201567/</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https://www.gallup.com/workplace/404105/importance-of-employee-wellbeing.aspx</a:t>
            </a:r>
          </a:p>
          <a:p>
            <a:r>
              <a:t>https://www.tertiarycourses.com.sg/wsq-empowering-employee-health-and-wellness-at-the-workplace.html</a:t>
            </a:r>
          </a:p>
          <a:p>
            <a:r>
              <a:t>https://www.pdpc.gov.sg/overview-of-pdpa/the-legislation/personal-data-protection-act/data-protection-obligations</a:t>
            </a:r>
          </a:p>
          <a:p>
            <a:r>
              <a:t>https://www.ncbi.nlm.nih.gov/books/NBK201567/</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https://workplacementalhealth.org/mental-health-topics/resilience</a:t>
            </a:r>
          </a:p>
          <a:p>
            <a:r>
              <a:t>https://www.tertiarycourses.com.sg/wsq-empowering-employee-health-and-wellness-at-the-workplace.html</a:t>
            </a:r>
          </a:p>
          <a:p>
            <a:r>
              <a:t>https://www.pdpc.gov.sg/overview-of-pdpa/the-legislation/personal-data-protection-act/data-protection-obligations</a:t>
            </a:r>
          </a:p>
          <a:p>
            <a:r>
              <a:t>https://www.cipd.org/globalassets/media/knowledge/knowledge-hub/evidence-reviews/employee-resilience-discussion-report_tcm18-91717.pdf</a:t>
            </a:r>
          </a:p>
          <a:p>
            <a:r>
              <a:t>https://www.tal.sg/tafep/employment-practices/mental-health</a:t>
            </a:r>
          </a:p>
          <a:p>
            <a:r>
              <a:t>https://www.ncbi.nlm.nih.gov/books/NBK201567/</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https://workplacementalhealth.org/mental-health-topics/resilience</a:t>
            </a:r>
          </a:p>
          <a:p>
            <a:r>
              <a:t>https://www.tertiarycourses.com.sg/wsq-empowering-employee-health-and-wellness-at-the-workplace.html</a:t>
            </a:r>
          </a:p>
          <a:p>
            <a:r>
              <a:t>https://www.cipd.org/globalassets/media/knowledge/knowledge-hub/evidence-reviews/employee-resilience-discussion-report_tcm18-91717.pdf</a:t>
            </a:r>
          </a:p>
          <a:p>
            <a:r>
              <a:t>https://www.tal.sg/tafep/employment-practices/mental-health</a:t>
            </a:r>
          </a:p>
          <a:p>
            <a:r>
              <a:t>https://www.ncbi.nlm.nih.gov/books/NBK201567/</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https://workplacementalhealth.org/mental-health-topics/resilience</a:t>
            </a:r>
          </a:p>
          <a:p>
            <a:r>
              <a:t>https://www.tertiarycourses.com.sg/wsq-empowering-employee-health-and-wellness-at-the-workplace.html</a:t>
            </a:r>
          </a:p>
          <a:p>
            <a:r>
              <a:t>https://www.pdpc.gov.sg/overview-of-pdpa/the-legislation/personal-data-protection-act/data-protection-obligations</a:t>
            </a:r>
          </a:p>
          <a:p>
            <a:r>
              <a:t>https://www.ncbi.nlm.nih.gov/books/NBK201567/</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https://workplacementalhealth.org/mental-health-topics/resilience</a:t>
            </a:r>
          </a:p>
          <a:p>
            <a:r>
              <a:t>https://www.tertiarycourses.com.sg/wsq-empowering-employee-health-and-wellness-at-the-workplace.html</a:t>
            </a:r>
          </a:p>
          <a:p>
            <a:r>
              <a:t>https://www.pdpc.gov.sg/overview-of-pdpa/the-legislation/personal-data-protection-act/data-protection-obligations</a:t>
            </a:r>
          </a:p>
          <a:p>
            <a:r>
              <a:t>https://www.ncbi.nlm.nih.gov/books/NBK201567/</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https://www.pdpc.gov.sg/overview-of-pdpa/the-legislation/personal-data-protection-act/data-protection-obligations</a:t>
            </a:r>
          </a:p>
          <a:p>
            <a:r>
              <a:t>https://www.tertiarycourses.com.sg/wsq-empowering-employee-health-and-wellness-at-the-workplace.html</a:t>
            </a:r>
          </a:p>
          <a:p>
            <a:r>
              <a:t>https://www.ncbi.nlm.nih.gov/books/NBK201567/</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https://www.pdpc.gov.sg/overview-of-pdpa/the-legislation/personal-data-protection-act/data-protection-obligations</a:t>
            </a:r>
          </a:p>
          <a:p>
            <a:r>
              <a:t>https://www.tertiarycourses.com.sg/wsq-empowering-employee-health-and-wellness-at-the-workplace.html</a:t>
            </a:r>
          </a:p>
          <a:p>
            <a:r>
              <a:t>https://www.cipd.org/globalassets/media/knowledge/knowledge-hub/evidence-reviews/employee-resilience-discussion-report_tcm18-91717.pdf</a:t>
            </a:r>
          </a:p>
          <a:p>
            <a:r>
              <a:t>https://workplacementalhealth.org/mental-health-topics/resilience</a:t>
            </a:r>
          </a:p>
          <a:p>
            <a:r>
              <a:t>https://www.tal.sg/tafep/employment-practices/mental-health</a:t>
            </a:r>
          </a:p>
          <a:p>
            <a:r>
              <a:t>https://www.ncbi.nlm.nih.gov/books/NBK201567/</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https://www.pdpc.gov.sg/overview-of-pdpa/the-legislation/personal-data-protection-act/data-protection-obligations</a:t>
            </a:r>
          </a:p>
          <a:p>
            <a:r>
              <a:t>https://www.tertiarycourses.com.sg/wsq-empowering-employee-health-and-wellness-at-the-workplace.html</a:t>
            </a:r>
          </a:p>
          <a:p>
            <a:r>
              <a:t>https://www.ncbi.nlm.nih.gov/books/NBK201567/</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https://www.pdpc.gov.sg/overview-of-pdpa/the-legislation/personal-data-protection-act/data-protection-obligations</a:t>
            </a:r>
          </a:p>
          <a:p>
            <a:r>
              <a:t>https://www.tertiarycourses.com.sg/wsq-empowering-employee-health-and-wellness-at-the-workplace.html</a:t>
            </a:r>
          </a:p>
          <a:p>
            <a:r>
              <a:t>https://www.ncbi.nlm.nih.gov/books/NBK201567/</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https://www.gallup.com/workplace/404105/importance-of-employee-wellbeing.aspx</a:t>
            </a:r>
          </a:p>
          <a:p>
            <a:r>
              <a:t>https://www.tertiarycourses.com.sg/wsq-empowering-employee-health-and-wellness-at-the-workplace.html</a:t>
            </a:r>
          </a:p>
          <a:p>
            <a:r>
              <a:t>https://www.ncbi.nlm.nih.gov/books/NBK201567/</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https://www.ncbi.nlm.nih.gov/books/NBK201567/</a:t>
            </a:r>
          </a:p>
          <a:p>
            <a:r>
              <a:t>https://www.gallup.com/workplace/404105/importance-of-employee-wellbeing.aspx</a:t>
            </a:r>
          </a:p>
          <a:p>
            <a:r>
              <a:t>https://www.cipd.org/globalassets/media/knowledge/knowledge-hub/evidence-reviews/employee-resilience-discussion-report_tcm18-91717.pdf</a:t>
            </a:r>
          </a:p>
          <a:p>
            <a:r>
              <a:t>https://workplacementalhealth.org/mental-health-topics/resilience</a:t>
            </a:r>
          </a:p>
          <a:p>
            <a:r>
              <a:t>https://wtalentsolutions.com/wellness-in-the-workplace/</a:t>
            </a:r>
          </a:p>
          <a:p>
            <a:r>
              <a:t>https://www.mckinsey.com/featured-insights/mckinsey-guide-to-navigating-the-new-world-of-work/thriving-at-work-building-resilience-wellness-and-motivation</a:t>
            </a:r>
          </a:p>
          <a:p>
            <a:r>
              <a:t>https://pmc.ncbi.nlm.nih.gov/articles/PMC13206323/</a:t>
            </a:r>
          </a:p>
          <a:p>
            <a:r>
              <a:t>https://www.outbackteambuilding.com/blog/corporate-wellness-and-resiliency/</a:t>
            </a:r>
          </a:p>
          <a:p>
            <a:r>
              <a:t>https://pmc.ncbi.nlm.nih.gov/articles/PMC8168167/</a:t>
            </a:r>
          </a:p>
          <a:p>
            <a:r>
              <a:t>https://www.pdpc.gov.sg/overview-of-pdpa/the-legislation/personal-data-protection-act/data-protection-obligations</a:t>
            </a:r>
          </a:p>
          <a:p>
            <a:r>
              <a:t>https://www.tal.sg/tafep/employment-practices/mental-health</a:t>
            </a:r>
          </a:p>
          <a:p>
            <a:r>
              <a:t>https://www.hpb.gov.sg/workplace</a:t>
            </a:r>
          </a:p>
          <a:p>
            <a:r>
              <a:t>https://www.mom.gov.sg/employment-practices/leave/sick-leave/eligibility-and-entitlement</a:t>
            </a:r>
          </a:p>
          <a:p>
            <a:r>
              <a:t>https://www.healthiersg.gov.sg/about/what-is-healthier-sg/</a:t>
            </a:r>
          </a:p>
          <a:p>
            <a:r>
              <a:t>https://www.tertiarycourses.com.sg/wsq-empowering-employee-health-and-wellness-at-the-workplace.html</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https://www.ncbi.nlm.nih.gov/books/NBK201567/</a:t>
            </a:r>
          </a:p>
          <a:p>
            <a:r>
              <a:t>https://www.gallup.com/workplace/404105/importance-of-employee-wellbeing.aspx</a:t>
            </a:r>
          </a:p>
          <a:p>
            <a:r>
              <a:t>https://www.cipd.org/globalassets/media/knowledge/knowledge-hub/evidence-reviews/employee-resilience-discussion-report_tcm18-91717.pdf</a:t>
            </a:r>
          </a:p>
          <a:p>
            <a:r>
              <a:t>https://workplacementalhealth.org/mental-health-topics/resilience</a:t>
            </a:r>
          </a:p>
          <a:p>
            <a:r>
              <a:t>https://wtalentsolutions.com/wellness-in-the-workplace/</a:t>
            </a:r>
          </a:p>
          <a:p>
            <a:r>
              <a:t>https://www.mckinsey.com/featured-insights/mckinsey-guide-to-navigating-the-new-world-of-work/thriving-at-work-building-resilience-wellness-and-motivation</a:t>
            </a:r>
          </a:p>
          <a:p>
            <a:r>
              <a:t>https://pmc.ncbi.nlm.nih.gov/articles/PMC13206323/</a:t>
            </a:r>
          </a:p>
          <a:p>
            <a:r>
              <a:t>https://www.outbackteambuilding.com/blog/corporate-wellness-and-resiliency/</a:t>
            </a:r>
          </a:p>
          <a:p>
            <a:r>
              <a:t>https://pmc.ncbi.nlm.nih.gov/articles/PMC8168167/</a:t>
            </a:r>
          </a:p>
          <a:p>
            <a:r>
              <a:t>https://www.pdpc.gov.sg/overview-of-pdpa/the-legislation/personal-data-protection-act/data-protection-obligations</a:t>
            </a:r>
          </a:p>
          <a:p>
            <a:r>
              <a:t>https://www.tal.sg/tafep/employment-practices/mental-health</a:t>
            </a:r>
          </a:p>
          <a:p>
            <a:r>
              <a:t>https://www.hpb.gov.sg/workplace</a:t>
            </a:r>
          </a:p>
          <a:p>
            <a:r>
              <a:t>https://www.mom.gov.sg/employment-practices/leave/sick-leave/eligibility-and-entitlement</a:t>
            </a:r>
          </a:p>
          <a:p>
            <a:r>
              <a:t>https://www.healthiersg.gov.sg/about/what-is-healthier-sg/</a:t>
            </a:r>
          </a:p>
          <a:p>
            <a:r>
              <a:t>https://www.tertiarycourses.com.sg/wsq-empowering-employee-health-and-wellness-at-the-workplace.html</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https://www.ncbi.nlm.nih.gov/books/NBK201567/</a:t>
            </a:r>
          </a:p>
          <a:p>
            <a:r>
              <a:t>https://www.gallup.com/workplace/404105/importance-of-employee-wellbeing.aspx</a:t>
            </a:r>
          </a:p>
          <a:p>
            <a:r>
              <a:t>https://www.cipd.org/globalassets/media/knowledge/knowledge-hub/evidence-reviews/employee-resilience-discussion-report_tcm18-91717.pdf</a:t>
            </a:r>
          </a:p>
          <a:p>
            <a:r>
              <a:t>https://workplacementalhealth.org/mental-health-topics/resilience</a:t>
            </a:r>
          </a:p>
          <a:p>
            <a:r>
              <a:t>https://wtalentsolutions.com/wellness-in-the-workplace/</a:t>
            </a:r>
          </a:p>
          <a:p>
            <a:r>
              <a:t>https://www.mckinsey.com/featured-insights/mckinsey-guide-to-navigating-the-new-world-of-work/thriving-at-work-building-resilience-wellness-and-motivation</a:t>
            </a:r>
          </a:p>
          <a:p>
            <a:r>
              <a:t>https://pmc.ncbi.nlm.nih.gov/articles/PMC13206323/</a:t>
            </a:r>
          </a:p>
          <a:p>
            <a:r>
              <a:t>https://www.outbackteambuilding.com/blog/corporate-wellness-and-resiliency/</a:t>
            </a:r>
          </a:p>
          <a:p>
            <a:r>
              <a:t>https://pmc.ncbi.nlm.nih.gov/articles/PMC8168167/</a:t>
            </a:r>
          </a:p>
          <a:p>
            <a:r>
              <a:t>https://www.pdpc.gov.sg/overview-of-pdpa/the-legislation/personal-data-protection-act/data-protection-obligations</a:t>
            </a:r>
          </a:p>
          <a:p>
            <a:r>
              <a:t>https://www.tal.sg/tafep/employment-practices/mental-health</a:t>
            </a:r>
          </a:p>
          <a:p>
            <a:r>
              <a:t>https://www.hpb.gov.sg/workplace</a:t>
            </a:r>
          </a:p>
          <a:p>
            <a:r>
              <a:t>https://www.mom.gov.sg/employment-practices/leave/sick-leave/eligibility-and-entitlement</a:t>
            </a:r>
          </a:p>
          <a:p>
            <a:r>
              <a:t>https://www.healthiersg.gov.sg/about/what-is-healthier-sg/</a:t>
            </a:r>
          </a:p>
          <a:p>
            <a:r>
              <a:t>https://www.tertiarycourses.com.sg/wsq-empowering-employee-health-and-wellness-at-the-workplace.html</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https://www.tertiarycourses.com.sg/wsq-empowering-employee-health-and-wellness-at-the-workplace.html</a:t>
            </a:r>
          </a:p>
          <a:p>
            <a:r>
              <a:t>https://www.ncbi.nlm.nih.gov/books/NBK201567/</a:t>
            </a:r>
          </a:p>
          <a:p>
            <a:r>
              <a:t>https://www.gallup.com/workplace/404105/importance-of-employee-wellbeing.aspx</a:t>
            </a:r>
          </a:p>
          <a:p>
            <a:r>
              <a:t>https://pmc.ncbi.nlm.nih.gov/articles/PMC8168167/</a:t>
            </a:r>
          </a:p>
          <a:p>
            <a:r>
              <a:t>https://www.hpb.gov.sg/workplace</a:t>
            </a:r>
          </a:p>
          <a:p>
            <a:r>
              <a:t>[/Sources]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ertiarycourses/TGS-2024045222-Empowering-Employee-Health-and-Wellness-at-the-Workplace" TargetMode="Externa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ms-tms.tertiaryinfotech.com/" TargetMode="Externa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ms-tms.tertiaryinfotech.com/" TargetMode="External"/><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over-hero-v1.png"/>
          <p:cNvPicPr>
            <a:picLocks noChangeAspect="1"/>
          </p:cNvPicPr>
          <p:nvPr/>
        </p:nvPicPr>
        <p:blipFill>
          <a:blip r:embed="rId2"/>
          <a:stretch>
            <a:fillRect/>
          </a:stretch>
        </p:blipFill>
        <p:spPr>
          <a:xfrm>
            <a:off x="0" y="0"/>
            <a:ext cx="12191695" cy="6861474"/>
          </a:xfrm>
          <a:prstGeom prst="rect">
            <a:avLst/>
          </a:prstGeom>
        </p:spPr>
      </p:pic>
      <p:sp>
        <p:nvSpPr>
          <p:cNvPr id="4" name="Rectangle 3"/>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ertiary-infotech-logo.png"/>
          <p:cNvPicPr>
            <a:picLocks noChangeAspect="1"/>
          </p:cNvPicPr>
          <p:nvPr/>
        </p:nvPicPr>
        <p:blipFill>
          <a:blip r:embed="rId3"/>
          <a:stretch>
            <a:fillRect/>
          </a:stretch>
        </p:blipFill>
        <p:spPr>
          <a:xfrm>
            <a:off x="777240" y="640080"/>
            <a:ext cx="960120" cy="960120"/>
          </a:xfrm>
          <a:prstGeom prst="rect">
            <a:avLst/>
          </a:prstGeom>
        </p:spPr>
      </p:pic>
      <p:sp>
        <p:nvSpPr>
          <p:cNvPr id="7" name="Rectangle 6"/>
          <p:cNvSpPr/>
          <p:nvPr/>
        </p:nvSpPr>
        <p:spPr>
          <a:xfrm>
            <a:off x="4709160" y="658368"/>
            <a:ext cx="91440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09160" y="804672"/>
            <a:ext cx="914400" cy="320040"/>
          </a:xfrm>
          <a:prstGeom prst="rect">
            <a:avLst/>
          </a:prstGeom>
          <a:noFill/>
        </p:spPr>
        <p:txBody>
          <a:bodyPr wrap="square" anchor="t">
            <a:spAutoFit/>
          </a:bodyPr>
          <a:lstStyle/>
          <a:p>
            <a:pPr algn="ctr">
              <a:spcAft>
                <a:spcPts val="400"/>
              </a:spcAft>
            </a:pPr>
            <a:r>
              <a:rPr sz="2200" b="1">
                <a:solidFill>
                  <a:srgbClr val="FFFFFF"/>
                </a:solidFill>
                <a:latin typeface="Arial"/>
              </a:rPr>
              <a:t>W</a:t>
            </a:r>
          </a:p>
        </p:txBody>
      </p:sp>
      <p:sp>
        <p:nvSpPr>
          <p:cNvPr id="9" name="TextBox 8"/>
          <p:cNvSpPr txBox="1"/>
          <p:nvPr/>
        </p:nvSpPr>
        <p:spPr>
          <a:xfrm>
            <a:off x="4709160" y="1170432"/>
            <a:ext cx="914400" cy="228600"/>
          </a:xfrm>
          <a:prstGeom prst="rect">
            <a:avLst/>
          </a:prstGeom>
          <a:noFill/>
        </p:spPr>
        <p:txBody>
          <a:bodyPr wrap="square" anchor="t">
            <a:spAutoFit/>
          </a:bodyPr>
          <a:lstStyle/>
          <a:p>
            <a:pPr algn="ctr">
              <a:spcAft>
                <a:spcPts val="400"/>
              </a:spcAft>
            </a:pPr>
            <a:r>
              <a:rPr sz="700" b="1">
                <a:solidFill>
                  <a:srgbClr val="FFFFFF"/>
                </a:solidFill>
                <a:latin typeface="Arial"/>
              </a:rPr>
              <a:t>THRIVE</a:t>
            </a:r>
          </a:p>
        </p:txBody>
      </p:sp>
      <p:sp>
        <p:nvSpPr>
          <p:cNvPr id="10" name="TextBox 9"/>
          <p:cNvSpPr txBox="1"/>
          <p:nvPr/>
        </p:nvSpPr>
        <p:spPr>
          <a:xfrm>
            <a:off x="822960" y="1874519"/>
            <a:ext cx="4937760" cy="457200"/>
          </a:xfrm>
          <a:prstGeom prst="rect">
            <a:avLst/>
          </a:prstGeom>
          <a:noFill/>
        </p:spPr>
        <p:txBody>
          <a:bodyPr wrap="square" anchor="t">
            <a:spAutoFit/>
          </a:bodyPr>
          <a:lstStyle/>
          <a:p>
            <a:pPr algn="l">
              <a:spcAft>
                <a:spcPts val="400"/>
              </a:spcAft>
            </a:pPr>
            <a:r>
              <a:rPr sz="1500" b="1">
                <a:solidFill>
                  <a:srgbClr val="1F6FEB"/>
                </a:solidFill>
                <a:latin typeface="Arial"/>
              </a:rPr>
              <a:t>COURSE SLIDES  ·  WSQ</a:t>
            </a:r>
          </a:p>
        </p:txBody>
      </p:sp>
      <p:sp>
        <p:nvSpPr>
          <p:cNvPr id="11" name="TextBox 10"/>
          <p:cNvSpPr txBox="1"/>
          <p:nvPr/>
        </p:nvSpPr>
        <p:spPr>
          <a:xfrm>
            <a:off x="822960" y="2331720"/>
            <a:ext cx="5074920" cy="2057400"/>
          </a:xfrm>
          <a:prstGeom prst="rect">
            <a:avLst/>
          </a:prstGeom>
          <a:noFill/>
        </p:spPr>
        <p:txBody>
          <a:bodyPr wrap="square" anchor="t">
            <a:spAutoFit/>
          </a:bodyPr>
          <a:lstStyle/>
          <a:p>
            <a:pPr algn="l">
              <a:spcAft>
                <a:spcPts val="400"/>
              </a:spcAft>
            </a:pPr>
            <a:r>
              <a:rPr sz="3400" b="1">
                <a:solidFill>
                  <a:srgbClr val="161B26"/>
                </a:solidFill>
                <a:latin typeface="Arial"/>
              </a:rPr>
              <a:t>Empowering Employee Health and Wellness at the Workplace</a:t>
            </a:r>
          </a:p>
        </p:txBody>
      </p:sp>
      <p:sp>
        <p:nvSpPr>
          <p:cNvPr id="12" name="Rectangle 11"/>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4617720"/>
            <a:ext cx="5074920" cy="128016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TGS-2024045222</a:t>
            </a:r>
          </a:p>
          <a:p>
            <a:pPr algn="l">
              <a:spcAft>
                <a:spcPts val="600"/>
              </a:spcAft>
            </a:pPr>
            <a:r>
              <a:rPr sz="1300" b="0">
                <a:solidFill>
                  <a:srgbClr val="5B6372"/>
                </a:solidFill>
                <a:latin typeface="Arial"/>
              </a:rPr>
              <a:t>Conducted by Tertiary Infotech Academy Pte Ltd</a:t>
            </a:r>
          </a:p>
        </p:txBody>
      </p:sp>
      <p:sp>
        <p:nvSpPr>
          <p:cNvPr id="14" name="TextBox 13"/>
          <p:cNvSpPr txBox="1"/>
          <p:nvPr/>
        </p:nvSpPr>
        <p:spPr>
          <a:xfrm>
            <a:off x="822960" y="5943600"/>
            <a:ext cx="5074920" cy="365760"/>
          </a:xfrm>
          <a:prstGeom prst="rect">
            <a:avLst/>
          </a:prstGeom>
          <a:noFill/>
        </p:spPr>
        <p:txBody>
          <a:bodyPr wrap="square" anchor="t">
            <a:spAutoFit/>
          </a:bodyPr>
          <a:lstStyle/>
          <a:p>
            <a:pPr algn="l">
              <a:spcAft>
                <a:spcPts val="400"/>
              </a:spcAft>
            </a:pPr>
            <a:r>
              <a:rPr sz="1200" b="0">
                <a:solidFill>
                  <a:srgbClr val="5B6372"/>
                </a:solidFill>
                <a:latin typeface="Arial"/>
              </a:rPr>
              <a:t>Version v8.0  ·  16 August 2026</a:t>
            </a:r>
          </a:p>
        </p:txBody>
      </p:sp>
      <p:sp>
        <p:nvSpPr>
          <p:cNvPr id="15" name="TextBox 14"/>
          <p:cNvSpPr txBox="1"/>
          <p:nvPr/>
        </p:nvSpPr>
        <p:spPr>
          <a:xfrm>
            <a:off x="822960" y="6263640"/>
            <a:ext cx="5074920" cy="310896"/>
          </a:xfrm>
          <a:prstGeom prst="rect">
            <a:avLst/>
          </a:prstGeom>
          <a:noFill/>
        </p:spPr>
        <p:txBody>
          <a:bodyPr wrap="square" anchor="t">
            <a:spAutoFit/>
          </a:bodyPr>
          <a:lstStyle/>
          <a:p>
            <a:pPr algn="l">
              <a:spcAft>
                <a:spcPts val="400"/>
              </a:spcAft>
            </a:pPr>
            <a:r>
              <a:rPr sz="900" b="0">
                <a:solidFill>
                  <a:srgbClr val="5B6372"/>
                </a:solidFill>
                <a:latin typeface="Arial"/>
              </a:rPr>
              <a:t>© 2026 Tertiary Infotech Academy Pte Ltd</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Outcomes and Assessment</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00</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AM, PM and Assessment</a:t>
            </a:r>
          </a:p>
          <a:p>
            <a:pPr algn="l">
              <a:spcAft>
                <a:spcPts val="300"/>
              </a:spcAft>
            </a:pPr>
            <a:r>
              <a:rPr sz="1200" b="0">
                <a:solidFill>
                  <a:srgbClr val="5B6372"/>
                </a:solidFill>
                <a:latin typeface="Arial"/>
              </a:rPr>
              <a:t>Complete every SSG digital-attendance event shown by the trainer.</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Scan the QR code</a:t>
            </a:r>
          </a:p>
          <a:p>
            <a:pPr algn="l">
              <a:spcAft>
                <a:spcPts val="300"/>
              </a:spcAft>
            </a:pPr>
            <a:r>
              <a:rPr sz="1200" b="0">
                <a:solidFill>
                  <a:srgbClr val="5B6372"/>
                </a:solidFill>
                <a:latin typeface="Arial"/>
              </a:rPr>
              <a:t>Use the mobile camera and submit the generated attendance form.</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Verify submission</a:t>
            </a:r>
          </a:p>
          <a:p>
            <a:pPr algn="l">
              <a:spcAft>
                <a:spcPts val="300"/>
              </a:spcAft>
            </a:pPr>
            <a:r>
              <a:rPr sz="1200" b="0">
                <a:solidFill>
                  <a:srgbClr val="5B6372"/>
                </a:solidFill>
                <a:latin typeface="Arial"/>
              </a:rPr>
              <a:t>Tell the trainer immediately if the confirmation does not appear.</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Funding condition</a:t>
            </a:r>
          </a:p>
          <a:p>
            <a:pPr algn="l">
              <a:spcAft>
                <a:spcPts val="300"/>
              </a:spcAft>
            </a:pPr>
            <a:r>
              <a:rPr sz="1200" b="0">
                <a:solidFill>
                  <a:srgbClr val="5B6372"/>
                </a:solidFill>
                <a:latin typeface="Arial"/>
              </a:rPr>
              <a:t>At least 75% attendance and a Competent result are required.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COURSE PROVIDER</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Tertiary Infotech Academy</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WSQ training provider</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ORGANISATION</a:t>
            </a:r>
          </a:p>
          <a:p>
            <a:pPr algn="l">
              <a:spcAft>
                <a:spcPts val="300"/>
              </a:spcAft>
            </a:pPr>
            <a:r>
              <a:rPr sz="1400" b="0">
                <a:solidFill>
                  <a:srgbClr val="161B26"/>
                </a:solidFill>
                <a:latin typeface="Arial"/>
              </a:rPr>
              <a:t>Tertiary Infotech Academy Pte Ltd</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UEN</a:t>
            </a:r>
          </a:p>
          <a:p>
            <a:pPr algn="l">
              <a:spcAft>
                <a:spcPts val="300"/>
              </a:spcAft>
            </a:pPr>
            <a:r>
              <a:rPr sz="1400" b="0">
                <a:solidFill>
                  <a:srgbClr val="161B26"/>
                </a:solidFill>
                <a:latin typeface="Arial"/>
              </a:rPr>
              <a:t>201200696W</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COURSE</a:t>
            </a:r>
          </a:p>
          <a:p>
            <a:pPr algn="l">
              <a:spcAft>
                <a:spcPts val="300"/>
              </a:spcAft>
            </a:pPr>
            <a:r>
              <a:rPr sz="1400" b="0">
                <a:solidFill>
                  <a:srgbClr val="161B26"/>
                </a:solidFill>
                <a:latin typeface="Arial"/>
              </a:rPr>
              <a:t>Empowering Employee Health and Wellness at the Workplace</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COURSE CODE</a:t>
            </a:r>
          </a:p>
          <a:p>
            <a:pPr algn="l">
              <a:spcAft>
                <a:spcPts val="300"/>
              </a:spcAft>
            </a:pPr>
            <a:r>
              <a:rPr sz="1400" b="0">
                <a:solidFill>
                  <a:srgbClr val="161B26"/>
                </a:solidFill>
                <a:latin typeface="Arial"/>
              </a:rPr>
              <a:t>TGS-2024045222</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TSC</a:t>
            </a:r>
          </a:p>
          <a:p>
            <a:pPr algn="l">
              <a:spcAft>
                <a:spcPts val="300"/>
              </a:spcAft>
            </a:pPr>
            <a:r>
              <a:rPr sz="1400" b="0">
                <a:solidFill>
                  <a:srgbClr val="161B26"/>
                </a:solidFill>
                <a:latin typeface="Arial"/>
              </a:rPr>
              <a:t>HRS-HRM-3019-1.1</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400" b="0">
                <a:solidFill>
                  <a:srgbClr val="161B26"/>
                </a:solidFill>
                <a:latin typeface="Arial"/>
              </a:rPr>
              <a:t>enquiry@tertiaryinfotech.com</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Principal Trainer · Tertiary Infotech Academy Pte Ltd</a:t>
            </a:r>
          </a:p>
        </p:txBody>
      </p:sp>
      <p:sp>
        <p:nvSpPr>
          <p:cNvPr id="13" name="Rectangle 12"/>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161B26"/>
                </a:solidFill>
                <a:latin typeface="Arial"/>
              </a:rPr>
              <a:t>Principal Trainer and course facilitator</a:t>
            </a:r>
          </a:p>
        </p:txBody>
      </p:sp>
      <p:sp>
        <p:nvSpPr>
          <p:cNvPr id="16" name="Rectangle 15"/>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SPECIALISMS</a:t>
            </a:r>
          </a:p>
          <a:p>
            <a:pPr algn="l">
              <a:spcAft>
                <a:spcPts val="300"/>
              </a:spcAft>
            </a:pPr>
            <a:r>
              <a:rPr sz="1400" b="0">
                <a:solidFill>
                  <a:srgbClr val="161B26"/>
                </a:solidFill>
                <a:latin typeface="Arial"/>
              </a:rPr>
              <a:t>Workplace wellbeing, responsible technology and programme management</a:t>
            </a:r>
          </a:p>
        </p:txBody>
      </p:sp>
      <p:sp>
        <p:nvSpPr>
          <p:cNvPr id="19" name="Rectangle 18"/>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DELIVERY</a:t>
            </a:r>
          </a:p>
          <a:p>
            <a:pPr algn="l">
              <a:spcAft>
                <a:spcPts val="300"/>
              </a:spcAft>
            </a:pPr>
            <a:r>
              <a:rPr sz="1400" b="0">
                <a:solidFill>
                  <a:srgbClr val="161B26"/>
                </a:solidFill>
                <a:latin typeface="Arial"/>
              </a:rPr>
              <a:t>WSQ professional development and workplace application</a:t>
            </a:r>
          </a:p>
        </p:txBody>
      </p:sp>
      <p:sp>
        <p:nvSpPr>
          <p:cNvPr id="22" name="Rectangle 21"/>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CONTACT</a:t>
            </a:r>
          </a:p>
          <a:p>
            <a:pPr algn="l">
              <a:spcAft>
                <a:spcPts val="300"/>
              </a:spcAft>
            </a:pPr>
            <a:r>
              <a:rPr sz="1400" b="0">
                <a:solidFill>
                  <a:srgbClr val="161B26"/>
                </a:solidFill>
                <a:latin typeface="Arial"/>
              </a:rPr>
              <a:t>enquiry@tertiaryinfotech.com</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INTRODUCTION</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Role</a:t>
            </a:r>
          </a:p>
          <a:p>
            <a:pPr algn="l">
              <a:spcAft>
                <a:spcPts val="300"/>
              </a:spcAft>
            </a:pPr>
            <a:r>
              <a:rPr sz="1200" b="0">
                <a:solidFill>
                  <a:srgbClr val="5B6372"/>
                </a:solidFill>
                <a:latin typeface="Arial"/>
              </a:rPr>
              <a:t>Your organisation, function and wellbeing responsibilities.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Employee experience</a:t>
            </a:r>
          </a:p>
          <a:p>
            <a:pPr algn="l">
              <a:spcAft>
                <a:spcPts val="300"/>
              </a:spcAft>
            </a:pPr>
            <a:r>
              <a:rPr sz="1200" b="0">
                <a:solidFill>
                  <a:srgbClr val="5B6372"/>
                </a:solidFill>
                <a:latin typeface="Arial"/>
              </a:rPr>
              <a:t>One workplace condition that helps or drains sustainable energy.</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Learning goal</a:t>
            </a:r>
          </a:p>
          <a:p>
            <a:pPr algn="l">
              <a:spcAft>
                <a:spcPts val="300"/>
              </a:spcAft>
            </a:pPr>
            <a:r>
              <a:rPr sz="1200" b="0">
                <a:solidFill>
                  <a:srgbClr val="5B6372"/>
                </a:solidFill>
                <a:latin typeface="Arial"/>
              </a:rPr>
              <a:t>One programme decision or capability you want to strengthen.</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Case lens</a:t>
            </a:r>
          </a:p>
          <a:p>
            <a:pPr algn="l">
              <a:spcAft>
                <a:spcPts val="300"/>
              </a:spcAft>
            </a:pPr>
            <a:r>
              <a:rPr sz="1200" b="0">
                <a:solidFill>
                  <a:srgbClr val="5B6372"/>
                </a:solidFill>
                <a:latin typeface="Arial"/>
              </a:rPr>
              <a:t>One employee group whose access needs you will represent.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Participate</a:t>
            </a:r>
          </a:p>
          <a:p>
            <a:pPr algn="l">
              <a:spcAft>
                <a:spcPts val="300"/>
              </a:spcAft>
            </a:pPr>
            <a:r>
              <a:rPr sz="1200" b="0">
                <a:solidFill>
                  <a:srgbClr val="5B6372"/>
                </a:solidFill>
                <a:latin typeface="Arial"/>
              </a:rPr>
              <a:t>Challenge assumptions and contribute evidence.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Respect</a:t>
            </a:r>
          </a:p>
          <a:p>
            <a:pPr algn="l">
              <a:spcAft>
                <a:spcPts val="300"/>
              </a:spcAft>
            </a:pPr>
            <a:r>
              <a:rPr sz="1200" b="0">
                <a:solidFill>
                  <a:srgbClr val="5B6372"/>
                </a:solidFill>
                <a:latin typeface="Arial"/>
              </a:rPr>
              <a:t>Disagree with ideas, not people.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Confidentiality</a:t>
            </a:r>
          </a:p>
          <a:p>
            <a:pPr algn="l">
              <a:spcAft>
                <a:spcPts val="300"/>
              </a:spcAft>
            </a:pPr>
            <a:r>
              <a:rPr sz="1200" b="0">
                <a:solidFill>
                  <a:srgbClr val="5B6372"/>
                </a:solidFill>
                <a:latin typeface="Arial"/>
              </a:rPr>
              <a:t>Use public or course data only; do not disclose live incident information.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Devices</a:t>
            </a:r>
          </a:p>
          <a:p>
            <a:pPr algn="l">
              <a:spcAft>
                <a:spcPts val="300"/>
              </a:spcAft>
            </a:pPr>
            <a:r>
              <a:rPr sz="1200" b="0">
                <a:solidFill>
                  <a:srgbClr val="5B6372"/>
                </a:solidFill>
                <a:latin typeface="Arial"/>
              </a:rPr>
              <a:t>Silent mode; step out quietly if needed.</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Time</a:t>
            </a:r>
          </a:p>
          <a:p>
            <a:pPr algn="l">
              <a:spcAft>
                <a:spcPts val="300"/>
              </a:spcAft>
            </a:pPr>
            <a:r>
              <a:rPr sz="1200" b="0">
                <a:solidFill>
                  <a:srgbClr val="5B6372"/>
                </a:solidFill>
                <a:latin typeface="Arial"/>
              </a:rPr>
              <a:t>Return from breaks promptly.</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Attendance</a:t>
            </a:r>
          </a:p>
          <a:p>
            <a:pPr algn="l">
              <a:spcAft>
                <a:spcPts val="300"/>
              </a:spcAft>
            </a:pPr>
            <a:r>
              <a:rPr sz="1200" b="0">
                <a:solidFill>
                  <a:srgbClr val="5B6372"/>
                </a:solidFill>
                <a:latin typeface="Arial"/>
              </a:rPr>
              <a:t>Maintain the required SSG attendance record.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LESSON PLAN</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Course Outline — 2 Days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Day 1</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Day 2</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Day 1 — Understand and design</a:t>
            </a:r>
          </a:p>
          <a:p>
            <a:pPr>
              <a:spcAft>
                <a:spcPts val="1000"/>
              </a:spcAft>
            </a:pPr>
            <a:r>
              <a:rPr sz="1400" b="0">
                <a:solidFill>
                  <a:srgbClr val="5B6372"/>
                </a:solidFill>
                <a:latin typeface="Arial"/>
              </a:rPr>
              <a:t>–  Topic 1: requirements, factors, trends and evidence</a:t>
            </a:r>
          </a:p>
          <a:p>
            <a:pPr>
              <a:spcAft>
                <a:spcPts val="1000"/>
              </a:spcAft>
            </a:pPr>
            <a:r>
              <a:rPr sz="1400" b="0">
                <a:solidFill>
                  <a:srgbClr val="5B6372"/>
                </a:solidFill>
                <a:latin typeface="Arial"/>
              </a:rPr>
              <a:t>–  Activities 1–3: privacy, needs and technology</a:t>
            </a:r>
          </a:p>
          <a:p>
            <a:pPr>
              <a:spcAft>
                <a:spcPts val="1000"/>
              </a:spcAft>
            </a:pPr>
            <a:r>
              <a:rPr sz="1400" b="0">
                <a:solidFill>
                  <a:srgbClr val="5B6372"/>
                </a:solidFill>
                <a:latin typeface="Arial"/>
              </a:rPr>
              <a:t>–  Topic 2: programme portfolio and resilience</a:t>
            </a:r>
          </a:p>
          <a:p>
            <a:pPr>
              <a:spcAft>
                <a:spcPts val="1000"/>
              </a:spcAft>
            </a:pPr>
            <a:r>
              <a:rPr sz="1400" b="0">
                <a:solidFill>
                  <a:srgbClr val="5B6372"/>
                </a:solidFill>
                <a:latin typeface="Arial"/>
              </a:rPr>
              <a:t>–  Activities 4–5: work redesign and portfolio</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Day 2 — Implement and improve</a:t>
            </a:r>
          </a:p>
          <a:p>
            <a:pPr>
              <a:spcAft>
                <a:spcPts val="1000"/>
              </a:spcAft>
            </a:pPr>
            <a:r>
              <a:rPr sz="1400" b="0">
                <a:solidFill>
                  <a:srgbClr val="5B6372"/>
                </a:solidFill>
                <a:latin typeface="Arial"/>
              </a:rPr>
              <a:t>–  Topic 2: policy-to-practice and participation</a:t>
            </a:r>
          </a:p>
          <a:p>
            <a:pPr>
              <a:spcAft>
                <a:spcPts val="1000"/>
              </a:spcAft>
            </a:pPr>
            <a:r>
              <a:rPr sz="1400" b="0">
                <a:solidFill>
                  <a:srgbClr val="5B6372"/>
                </a:solidFill>
                <a:latin typeface="Arial"/>
              </a:rPr>
              <a:t>–  Activities 6–7: playbook and partner recovery</a:t>
            </a:r>
          </a:p>
          <a:p>
            <a:pPr>
              <a:spcAft>
                <a:spcPts val="1000"/>
              </a:spcAft>
            </a:pPr>
            <a:r>
              <a:rPr sz="1400" b="0">
                <a:solidFill>
                  <a:srgbClr val="5B6372"/>
                </a:solidFill>
                <a:latin typeface="Arial"/>
              </a:rPr>
              <a:t>–  Topic 3: communication, feedback and evaluation</a:t>
            </a:r>
          </a:p>
          <a:p>
            <a:pPr>
              <a:spcAft>
                <a:spcPts val="1000"/>
              </a:spcAft>
            </a:pPr>
            <a:r>
              <a:rPr sz="1400" b="0">
                <a:solidFill>
                  <a:srgbClr val="5B6372"/>
                </a:solidFill>
                <a:latin typeface="Arial"/>
              </a:rPr>
              <a:t>–  Activities 8–10; WA 4–5pm; CS 5–6pm</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 WILL ACHIEVE</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LO1</a:t>
            </a:r>
          </a:p>
          <a:p>
            <a:pPr algn="l">
              <a:spcAft>
                <a:spcPts val="300"/>
              </a:spcAft>
            </a:pPr>
            <a:r>
              <a:rPr sz="1000" b="0">
                <a:solidFill>
                  <a:srgbClr val="5B6372"/>
                </a:solidFill>
                <a:latin typeface="Arial"/>
              </a:rPr>
              <a:t>Identify workplace health and wellness trends, technologies and research implications for employees and the organisation.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LO2</a:t>
            </a:r>
          </a:p>
          <a:p>
            <a:pPr algn="l">
              <a:spcAft>
                <a:spcPts val="300"/>
              </a:spcAft>
            </a:pPr>
            <a:r>
              <a:rPr sz="1000" b="0">
                <a:solidFill>
                  <a:srgbClr val="5B6372"/>
                </a:solidFill>
                <a:latin typeface="Arial"/>
              </a:rPr>
              <a:t>Implement inclusive health and wellness programmes for different employee groups and translate policies into day-to-day practices.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LO3</a:t>
            </a:r>
          </a:p>
          <a:p>
            <a:pPr algn="l">
              <a:spcAft>
                <a:spcPts val="300"/>
              </a:spcAft>
            </a:pPr>
            <a:r>
              <a:rPr sz="1000" b="0">
                <a:solidFill>
                  <a:srgbClr val="5B6372"/>
                </a:solidFill>
                <a:latin typeface="Arial"/>
              </a:rPr>
              <a:t>Communicate programme benefits through appropriate channels and assess effectiveness using employee feedback and programme evidence.</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TSC ALIGNMENT</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Skills Framework Alignment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HRS-HRM-3019-1.1</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Health and Wellness Programme Management</a:t>
            </a:r>
          </a:p>
          <a:p>
            <a:pPr>
              <a:spcAft>
                <a:spcPts val="900"/>
              </a:spcAft>
            </a:pPr>
            <a:r>
              <a:rPr sz="1400" b="0">
                <a:solidFill>
                  <a:srgbClr val="161B26"/>
                </a:solidFill>
                <a:latin typeface="Arial"/>
              </a:rPr>
              <a:t>•  Proficiency Level 3</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Knowledge K1–K7</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requirements · factors · trends · programmes · practices · benefits · communication</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Abilities A1–A6</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identify · research · assess · implement · communicate · gather feedback</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BEFORE ASSESSMENT</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Individual</a:t>
            </a:r>
          </a:p>
          <a:p>
            <a:pPr algn="l">
              <a:spcAft>
                <a:spcPts val="300"/>
              </a:spcAft>
            </a:pPr>
            <a:r>
              <a:rPr sz="1100" b="0">
                <a:solidFill>
                  <a:srgbClr val="5B6372"/>
                </a:solidFill>
                <a:latin typeface="Arial"/>
              </a:rPr>
              <a:t>No discussion, photography or recording.</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Open book</a:t>
            </a:r>
          </a:p>
          <a:p>
            <a:pPr algn="l">
              <a:spcAft>
                <a:spcPts val="300"/>
              </a:spcAft>
            </a:pPr>
            <a:r>
              <a:rPr sz="1100" b="0">
                <a:solidFill>
                  <a:srgbClr val="5B6372"/>
                </a:solidFill>
                <a:latin typeface="Arial"/>
              </a:rPr>
              <a:t>Use slides, Learner Guide and approved course materials only.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Submission</a:t>
            </a:r>
          </a:p>
          <a:p>
            <a:pPr algn="l">
              <a:spcAft>
                <a:spcPts val="300"/>
              </a:spcAft>
            </a:pPr>
            <a:r>
              <a:rPr sz="1100" b="0">
                <a:solidFill>
                  <a:srgbClr val="5B6372"/>
                </a:solidFill>
                <a:latin typeface="Arial"/>
              </a:rPr>
              <a:t>Answer in your own words and upload the completed document to the LMS.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Conduct</a:t>
            </a:r>
          </a:p>
          <a:p>
            <a:pPr algn="l">
              <a:spcAft>
                <a:spcPts val="300"/>
              </a:spcAft>
            </a:pPr>
            <a:r>
              <a:rPr sz="1100" b="0">
                <a:solidFill>
                  <a:srgbClr val="5B6372"/>
                </a:solidFill>
                <a:latin typeface="Arial"/>
              </a:rPr>
              <a:t>Phones and other materials under the table; follow assessor instructions.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Outcome</a:t>
            </a:r>
          </a:p>
          <a:p>
            <a:pPr algn="l">
              <a:spcAft>
                <a:spcPts val="300"/>
              </a:spcAft>
            </a:pPr>
            <a:r>
              <a:rPr sz="1100" b="0">
                <a:solidFill>
                  <a:srgbClr val="5B6372"/>
                </a:solidFill>
                <a:latin typeface="Arial"/>
              </a:rPr>
              <a:t>Competent or Not Yet Competent; reassessment and appeal are available.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Sign-off</a:t>
            </a:r>
          </a:p>
          <a:p>
            <a:pPr algn="l">
              <a:spcAft>
                <a:spcPts val="300"/>
              </a:spcAft>
            </a:pPr>
            <a:r>
              <a:rPr sz="1100" b="0">
                <a:solidFill>
                  <a:srgbClr val="5B6372"/>
                </a:solidFill>
                <a:latin typeface="Arial"/>
              </a:rPr>
              <a:t>Complete digital attendance and sign the Assessment Summary Record.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Assessment and Funding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WA-SAQ · 1 hour</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7 open-ended questions</a:t>
            </a:r>
          </a:p>
          <a:p>
            <a:pPr>
              <a:spcAft>
                <a:spcPts val="900"/>
              </a:spcAft>
            </a:pPr>
            <a:r>
              <a:rPr sz="1400" b="0">
                <a:solidFill>
                  <a:srgbClr val="161B26"/>
                </a:solidFill>
                <a:latin typeface="Arial"/>
              </a:rPr>
              <a:t>•  Covers K1–K7</a:t>
            </a:r>
          </a:p>
          <a:p>
            <a:pPr>
              <a:spcAft>
                <a:spcPts val="900"/>
              </a:spcAft>
            </a:pPr>
            <a:r>
              <a:rPr sz="1400" b="0">
                <a:solidFill>
                  <a:srgbClr val="161B26"/>
                </a:solidFill>
                <a:latin typeface="Arial"/>
              </a:rPr>
              <a:t>•  Open book</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Case Study · 1 hour</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3 integrated questions</a:t>
            </a:r>
          </a:p>
          <a:p>
            <a:pPr>
              <a:spcAft>
                <a:spcPts val="900"/>
              </a:spcAft>
            </a:pPr>
            <a:r>
              <a:rPr sz="1400" b="0">
                <a:solidFill>
                  <a:srgbClr val="161B26"/>
                </a:solidFill>
                <a:latin typeface="Arial"/>
              </a:rPr>
              <a:t>•  Covers A1–A6</a:t>
            </a:r>
          </a:p>
          <a:p>
            <a:pPr>
              <a:spcAft>
                <a:spcPts val="900"/>
              </a:spcAft>
            </a:pPr>
            <a:r>
              <a:rPr sz="1400" b="0">
                <a:solidFill>
                  <a:srgbClr val="161B26"/>
                </a:solidFill>
                <a:latin typeface="Arial"/>
              </a:rPr>
              <a:t>•  Open book</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Competency</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Satisfactory evidence</a:t>
            </a:r>
          </a:p>
          <a:p>
            <a:pPr>
              <a:spcAft>
                <a:spcPts val="900"/>
              </a:spcAft>
            </a:pPr>
            <a:r>
              <a:rPr sz="1400" b="0">
                <a:solidFill>
                  <a:srgbClr val="161B26"/>
                </a:solidFill>
                <a:latin typeface="Arial"/>
              </a:rPr>
              <a:t>•  At least 75% attendance</a:t>
            </a:r>
          </a:p>
          <a:p>
            <a:pPr>
              <a:spcAft>
                <a:spcPts val="900"/>
              </a:spcAft>
            </a:pPr>
            <a:r>
              <a:rPr sz="1400" b="0">
                <a:solidFill>
                  <a:srgbClr val="161B26"/>
                </a:solidFill>
                <a:latin typeface="Arial"/>
              </a:rPr>
              <a:t>•  Appeal process available</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ON ASSESSMENT DAY</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TRAQOM / SSG attendance</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Assessment digital attendance</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Sit WA then Case Study</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Submit answers on the LMS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Sign the Assessment Summary Record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HANDS-ON MATERIALS</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Access the Course Activities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52760" cy="658368"/>
          </a:xfrm>
          <a:prstGeom prst="rect">
            <a:avLst/>
          </a:prstGeom>
          <a:solidFill>
            <a:srgbClr val="EE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38528"/>
            <a:ext cx="10195560" cy="411480"/>
          </a:xfrm>
          <a:prstGeom prst="rect">
            <a:avLst/>
          </a:prstGeom>
          <a:noFill/>
        </p:spPr>
        <p:txBody>
          <a:bodyPr wrap="square" anchor="t">
            <a:spAutoFit/>
          </a:bodyPr>
          <a:lstStyle/>
          <a:p>
            <a:pPr algn="ctr">
              <a:spcAft>
                <a:spcPts val="400"/>
              </a:spcAft>
            </a:pPr>
            <a:r>
              <a:rPr sz="1500" b="1">
                <a:solidFill>
                  <a:srgbClr val="7C3AED"/>
                </a:solidFill>
                <a:latin typeface="Arial"/>
                <a:hlinkClick r:id="rId2"/>
              </a:rPr>
              <a:t>Open resource · github.com</a:t>
            </a:r>
          </a:p>
        </p:txBody>
      </p:sp>
      <p:sp>
        <p:nvSpPr>
          <p:cNvPr id="9" name="Rectangle 8"/>
          <p:cNvSpPr/>
          <p:nvPr/>
        </p:nvSpPr>
        <p:spPr>
          <a:xfrm>
            <a:off x="777240" y="2880360"/>
            <a:ext cx="3337560" cy="2514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2880360"/>
            <a:ext cx="3337560"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154680"/>
            <a:ext cx="2926080" cy="502920"/>
          </a:xfrm>
          <a:prstGeom prst="rect">
            <a:avLst/>
          </a:prstGeom>
          <a:noFill/>
        </p:spPr>
        <p:txBody>
          <a:bodyPr wrap="square" anchor="t">
            <a:spAutoFit/>
          </a:bodyPr>
          <a:lstStyle/>
          <a:p>
            <a:pPr algn="l">
              <a:spcAft>
                <a:spcPts val="400"/>
              </a:spcAft>
            </a:pPr>
            <a:r>
              <a:rPr sz="1800" b="1">
                <a:solidFill>
                  <a:srgbClr val="1F6FEB"/>
                </a:solidFill>
                <a:latin typeface="Arial"/>
              </a:rPr>
              <a:t>Canonical source</a:t>
            </a:r>
          </a:p>
        </p:txBody>
      </p:sp>
      <p:sp>
        <p:nvSpPr>
          <p:cNvPr id="12" name="TextBox 11"/>
          <p:cNvSpPr txBox="1"/>
          <p:nvPr/>
        </p:nvSpPr>
        <p:spPr>
          <a:xfrm>
            <a:off x="978408" y="3794760"/>
            <a:ext cx="2926080" cy="1325880"/>
          </a:xfrm>
          <a:prstGeom prst="rect">
            <a:avLst/>
          </a:prstGeom>
          <a:noFill/>
        </p:spPr>
        <p:txBody>
          <a:bodyPr wrap="square" anchor="t">
            <a:spAutoFit/>
          </a:bodyPr>
          <a:lstStyle/>
          <a:p>
            <a:pPr algn="l">
              <a:spcAft>
                <a:spcPts val="400"/>
              </a:spcAft>
            </a:pPr>
            <a:r>
              <a:rPr sz="1500" b="0">
                <a:solidFill>
                  <a:srgbClr val="161B26"/>
                </a:solidFill>
                <a:latin typeface="Arial"/>
              </a:rPr>
              <a:t>The repository holds the current learner-facing activity package.</a:t>
            </a:r>
          </a:p>
        </p:txBody>
      </p:sp>
      <p:sp>
        <p:nvSpPr>
          <p:cNvPr id="13" name="Rectangle 12"/>
          <p:cNvSpPr/>
          <p:nvPr/>
        </p:nvSpPr>
        <p:spPr>
          <a:xfrm>
            <a:off x="4434840" y="2880360"/>
            <a:ext cx="3337560" cy="2514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2880360"/>
            <a:ext cx="3337560"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36008" y="3154680"/>
            <a:ext cx="2926080" cy="502920"/>
          </a:xfrm>
          <a:prstGeom prst="rect">
            <a:avLst/>
          </a:prstGeom>
          <a:noFill/>
        </p:spPr>
        <p:txBody>
          <a:bodyPr wrap="square" anchor="t">
            <a:spAutoFit/>
          </a:bodyPr>
          <a:lstStyle/>
          <a:p>
            <a:pPr algn="l">
              <a:spcAft>
                <a:spcPts val="400"/>
              </a:spcAft>
            </a:pPr>
            <a:r>
              <a:rPr sz="1800" b="1">
                <a:solidFill>
                  <a:srgbClr val="10B981"/>
                </a:solidFill>
                <a:latin typeface="Arial"/>
              </a:rPr>
              <a:t>Individual folders</a:t>
            </a:r>
          </a:p>
        </p:txBody>
      </p:sp>
      <p:sp>
        <p:nvSpPr>
          <p:cNvPr id="16" name="TextBox 15"/>
          <p:cNvSpPr txBox="1"/>
          <p:nvPr/>
        </p:nvSpPr>
        <p:spPr>
          <a:xfrm>
            <a:off x="4636008" y="3794760"/>
            <a:ext cx="2926080" cy="1325880"/>
          </a:xfrm>
          <a:prstGeom prst="rect">
            <a:avLst/>
          </a:prstGeom>
          <a:noFill/>
        </p:spPr>
        <p:txBody>
          <a:bodyPr wrap="square" anchor="t">
            <a:spAutoFit/>
          </a:bodyPr>
          <a:lstStyle/>
          <a:p>
            <a:pPr algn="l">
              <a:spcAft>
                <a:spcPts val="400"/>
              </a:spcAft>
            </a:pPr>
            <a:r>
              <a:rPr sz="1500" b="0">
                <a:solidFill>
                  <a:srgbClr val="161B26"/>
                </a:solidFill>
                <a:latin typeface="Arial"/>
              </a:rPr>
              <a:t>Each activity keeps its scenario, data, questions and evidence together.</a:t>
            </a:r>
          </a:p>
        </p:txBody>
      </p:sp>
      <p:sp>
        <p:nvSpPr>
          <p:cNvPr id="17" name="Rectangle 16"/>
          <p:cNvSpPr/>
          <p:nvPr/>
        </p:nvSpPr>
        <p:spPr>
          <a:xfrm>
            <a:off x="8092440" y="2880360"/>
            <a:ext cx="3337560" cy="2514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2440" y="2880360"/>
            <a:ext cx="3337560"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3608" y="3154680"/>
            <a:ext cx="2926080" cy="502920"/>
          </a:xfrm>
          <a:prstGeom prst="rect">
            <a:avLst/>
          </a:prstGeom>
          <a:noFill/>
        </p:spPr>
        <p:txBody>
          <a:bodyPr wrap="square" anchor="t">
            <a:spAutoFit/>
          </a:bodyPr>
          <a:lstStyle/>
          <a:p>
            <a:pPr algn="l">
              <a:spcAft>
                <a:spcPts val="400"/>
              </a:spcAft>
            </a:pPr>
            <a:r>
              <a:rPr sz="1800" b="1">
                <a:solidFill>
                  <a:srgbClr val="7C3AED"/>
                </a:solidFill>
                <a:latin typeface="Arial"/>
              </a:rPr>
              <a:t>Detailed guidance</a:t>
            </a:r>
          </a:p>
        </p:txBody>
      </p:sp>
      <p:sp>
        <p:nvSpPr>
          <p:cNvPr id="20" name="TextBox 19"/>
          <p:cNvSpPr txBox="1"/>
          <p:nvPr/>
        </p:nvSpPr>
        <p:spPr>
          <a:xfrm>
            <a:off x="8293608" y="3794760"/>
            <a:ext cx="2926080" cy="1325880"/>
          </a:xfrm>
          <a:prstGeom prst="rect">
            <a:avLst/>
          </a:prstGeom>
          <a:noFill/>
        </p:spPr>
        <p:txBody>
          <a:bodyPr wrap="square" anchor="t">
            <a:spAutoFit/>
          </a:bodyPr>
          <a:lstStyle/>
          <a:p>
            <a:pPr algn="l">
              <a:spcAft>
                <a:spcPts val="400"/>
              </a:spcAft>
            </a:pPr>
            <a:r>
              <a:rPr sz="1500" b="0">
                <a:solidFill>
                  <a:srgbClr val="161B26"/>
                </a:solidFill>
                <a:latin typeface="Arial"/>
              </a:rPr>
              <a:t>Procedures and acceptance criteria are in the Learner Guide and activity Markdown.</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COURSEWARE AND ASSESSMENT</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Download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52760" cy="658368"/>
          </a:xfrm>
          <a:prstGeom prst="rect">
            <a:avLst/>
          </a:prstGeom>
          <a:solidFill>
            <a:srgbClr val="EE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38528"/>
            <a:ext cx="10195560" cy="411480"/>
          </a:xfrm>
          <a:prstGeom prst="rect">
            <a:avLst/>
          </a:prstGeom>
          <a:noFill/>
        </p:spPr>
        <p:txBody>
          <a:bodyPr wrap="square" anchor="t">
            <a:spAutoFit/>
          </a:bodyPr>
          <a:lstStyle/>
          <a:p>
            <a:pPr algn="ctr">
              <a:spcAft>
                <a:spcPts val="400"/>
              </a:spcAft>
            </a:pPr>
            <a:r>
              <a:rPr sz="1500" b="1">
                <a:solidFill>
                  <a:srgbClr val="7C3AED"/>
                </a:solidFill>
                <a:latin typeface="Arial"/>
                <a:hlinkClick r:id="rId2"/>
              </a:rPr>
              <a:t>Open resource · lms-tms.tertiaryinfotech.com</a:t>
            </a:r>
          </a:p>
        </p:txBody>
      </p:sp>
      <p:sp>
        <p:nvSpPr>
          <p:cNvPr id="9" name="Rectangle 8"/>
          <p:cNvSpPr/>
          <p:nvPr/>
        </p:nvSpPr>
        <p:spPr>
          <a:xfrm>
            <a:off x="777240" y="2880360"/>
            <a:ext cx="3337560" cy="2514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2880360"/>
            <a:ext cx="3337560"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154680"/>
            <a:ext cx="2926080" cy="502920"/>
          </a:xfrm>
          <a:prstGeom prst="rect">
            <a:avLst/>
          </a:prstGeom>
          <a:noFill/>
        </p:spPr>
        <p:txBody>
          <a:bodyPr wrap="square" anchor="t">
            <a:spAutoFit/>
          </a:bodyPr>
          <a:lstStyle/>
          <a:p>
            <a:pPr algn="l">
              <a:spcAft>
                <a:spcPts val="400"/>
              </a:spcAft>
            </a:pPr>
            <a:r>
              <a:rPr sz="1800" b="1">
                <a:solidFill>
                  <a:srgbClr val="1F6FEB"/>
                </a:solidFill>
                <a:latin typeface="Arial"/>
              </a:rPr>
              <a:t>Courseware</a:t>
            </a:r>
          </a:p>
        </p:txBody>
      </p:sp>
      <p:sp>
        <p:nvSpPr>
          <p:cNvPr id="12" name="TextBox 11"/>
          <p:cNvSpPr txBox="1"/>
          <p:nvPr/>
        </p:nvSpPr>
        <p:spPr>
          <a:xfrm>
            <a:off x="978408" y="3794760"/>
            <a:ext cx="2926080" cy="1325880"/>
          </a:xfrm>
          <a:prstGeom prst="rect">
            <a:avLst/>
          </a:prstGeom>
          <a:noFill/>
        </p:spPr>
        <p:txBody>
          <a:bodyPr wrap="square" anchor="t">
            <a:spAutoFit/>
          </a:bodyPr>
          <a:lstStyle/>
          <a:p>
            <a:pPr algn="l">
              <a:spcAft>
                <a:spcPts val="400"/>
              </a:spcAft>
            </a:pPr>
            <a:r>
              <a:rPr sz="1500" b="0">
                <a:solidFill>
                  <a:srgbClr val="161B26"/>
                </a:solidFill>
                <a:latin typeface="Arial"/>
              </a:rPr>
              <a:t>Current slides and Learner Guide are available to enrolled learners.</a:t>
            </a:r>
          </a:p>
        </p:txBody>
      </p:sp>
      <p:sp>
        <p:nvSpPr>
          <p:cNvPr id="13" name="Rectangle 12"/>
          <p:cNvSpPr/>
          <p:nvPr/>
        </p:nvSpPr>
        <p:spPr>
          <a:xfrm>
            <a:off x="4434840" y="2880360"/>
            <a:ext cx="3337560" cy="2514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2880360"/>
            <a:ext cx="3337560"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36008" y="3154680"/>
            <a:ext cx="2926080" cy="502920"/>
          </a:xfrm>
          <a:prstGeom prst="rect">
            <a:avLst/>
          </a:prstGeom>
          <a:noFill/>
        </p:spPr>
        <p:txBody>
          <a:bodyPr wrap="square" anchor="t">
            <a:spAutoFit/>
          </a:bodyPr>
          <a:lstStyle/>
          <a:p>
            <a:pPr algn="l">
              <a:spcAft>
                <a:spcPts val="400"/>
              </a:spcAft>
            </a:pPr>
            <a:r>
              <a:rPr sz="1800" b="1">
                <a:solidFill>
                  <a:srgbClr val="10B981"/>
                </a:solidFill>
                <a:latin typeface="Arial"/>
              </a:rPr>
              <a:t>Assessment</a:t>
            </a:r>
          </a:p>
        </p:txBody>
      </p:sp>
      <p:sp>
        <p:nvSpPr>
          <p:cNvPr id="16" name="TextBox 15"/>
          <p:cNvSpPr txBox="1"/>
          <p:nvPr/>
        </p:nvSpPr>
        <p:spPr>
          <a:xfrm>
            <a:off x="4636008" y="3794760"/>
            <a:ext cx="2926080" cy="1325880"/>
          </a:xfrm>
          <a:prstGeom prst="rect">
            <a:avLst/>
          </a:prstGeom>
          <a:noFill/>
        </p:spPr>
        <p:txBody>
          <a:bodyPr wrap="square" anchor="t">
            <a:spAutoFit/>
          </a:bodyPr>
          <a:lstStyle/>
          <a:p>
            <a:pPr algn="l">
              <a:spcAft>
                <a:spcPts val="400"/>
              </a:spcAft>
            </a:pPr>
            <a:r>
              <a:rPr sz="1500" b="0">
                <a:solidFill>
                  <a:srgbClr val="161B26"/>
                </a:solidFill>
                <a:latin typeface="Arial"/>
              </a:rPr>
              <a:t>The WA and Case Study are completed in the controlled LMS workflow.</a:t>
            </a:r>
          </a:p>
        </p:txBody>
      </p:sp>
      <p:sp>
        <p:nvSpPr>
          <p:cNvPr id="17" name="Rectangle 16"/>
          <p:cNvSpPr/>
          <p:nvPr/>
        </p:nvSpPr>
        <p:spPr>
          <a:xfrm>
            <a:off x="8092440" y="2880360"/>
            <a:ext cx="3337560" cy="2514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2440" y="2880360"/>
            <a:ext cx="3337560"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3608" y="3154680"/>
            <a:ext cx="2926080" cy="502920"/>
          </a:xfrm>
          <a:prstGeom prst="rect">
            <a:avLst/>
          </a:prstGeom>
          <a:noFill/>
        </p:spPr>
        <p:txBody>
          <a:bodyPr wrap="square" anchor="t">
            <a:spAutoFit/>
          </a:bodyPr>
          <a:lstStyle/>
          <a:p>
            <a:pPr algn="l">
              <a:spcAft>
                <a:spcPts val="400"/>
              </a:spcAft>
            </a:pPr>
            <a:r>
              <a:rPr sz="1800" b="1">
                <a:solidFill>
                  <a:srgbClr val="7C3AED"/>
                </a:solidFill>
                <a:latin typeface="Arial"/>
              </a:rPr>
              <a:t>Support</a:t>
            </a:r>
          </a:p>
        </p:txBody>
      </p:sp>
      <p:sp>
        <p:nvSpPr>
          <p:cNvPr id="20" name="TextBox 19"/>
          <p:cNvSpPr txBox="1"/>
          <p:nvPr/>
        </p:nvSpPr>
        <p:spPr>
          <a:xfrm>
            <a:off x="8293608" y="3794760"/>
            <a:ext cx="2926080" cy="1325880"/>
          </a:xfrm>
          <a:prstGeom prst="rect">
            <a:avLst/>
          </a:prstGeom>
          <a:noFill/>
        </p:spPr>
        <p:txBody>
          <a:bodyPr wrap="square" anchor="t">
            <a:spAutoFit/>
          </a:bodyPr>
          <a:lstStyle/>
          <a:p>
            <a:pPr algn="l">
              <a:spcAft>
                <a:spcPts val="400"/>
              </a:spcAft>
            </a:pPr>
            <a:r>
              <a:rPr sz="1500" b="0">
                <a:solidFill>
                  <a:srgbClr val="161B26"/>
                </a:solidFill>
                <a:latin typeface="Arial"/>
              </a:rPr>
              <a:t>Use the academy support route if access or submission is unavailable.</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CORE MODEL</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Understand · Design · Enable · Learn</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C</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END-TO-END VIEW</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The workplace wellbeing system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Understand conditions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Prioritise needs</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Design work and support</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Enable safe access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Evaluate and improve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EVIDENCE BEFORE CONFIDENCE</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Evidence hierarchy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Verified public fact</a:t>
            </a:r>
          </a:p>
          <a:p>
            <a:pPr algn="l">
              <a:spcAft>
                <a:spcPts val="300"/>
              </a:spcAft>
            </a:pPr>
            <a:r>
              <a:rPr sz="1200" b="0">
                <a:solidFill>
                  <a:srgbClr val="5B6372"/>
                </a:solidFill>
                <a:latin typeface="Arial"/>
              </a:rPr>
              <a:t>Published or regulatory information with source and date.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Organisation evidence</a:t>
            </a:r>
          </a:p>
          <a:p>
            <a:pPr algn="l">
              <a:spcAft>
                <a:spcPts val="300"/>
              </a:spcAft>
            </a:pPr>
            <a:r>
              <a:rPr sz="1200" b="0">
                <a:solidFill>
                  <a:srgbClr val="5B6372"/>
                </a:solidFill>
                <a:latin typeface="Arial"/>
              </a:rPr>
              <a:t>Workforce voice, risk data, programme records and approved decisions.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Training assumption</a:t>
            </a:r>
          </a:p>
          <a:p>
            <a:pPr algn="l">
              <a:spcAft>
                <a:spcPts val="300"/>
              </a:spcAft>
            </a:pPr>
            <a:r>
              <a:rPr sz="1200" b="0">
                <a:solidFill>
                  <a:srgbClr val="5B6372"/>
                </a:solidFill>
                <a:latin typeface="Arial"/>
              </a:rPr>
              <a:t>A simulated input used only for learning and clearly labelled.</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Pilot observation</a:t>
            </a:r>
          </a:p>
          <a:p>
            <a:pPr algn="l">
              <a:spcAft>
                <a:spcPts val="300"/>
              </a:spcAft>
            </a:pPr>
            <a:r>
              <a:rPr sz="1200" b="0">
                <a:solidFill>
                  <a:srgbClr val="5B6372"/>
                </a:solidFill>
                <a:latin typeface="Arial"/>
              </a:rPr>
              <a:t>Observed behaviour or artefact compared with pre-set criteria.</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COURSE MODEL</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Employee wellbeing emerges from the whole system.</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Leadership, job design, access, trust and personal resources must work together.</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LEARNING UNIT 01 · K1 · K2 · K3 · A1 · A2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Workplace Health, Wellness and Evidence</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wellbeing dimensions · Singapore requirements · needs · trends · technology · evidence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TSC HRS-HRM-3019-1.1</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400" b="1">
                <a:solidFill>
                  <a:srgbClr val="161B26"/>
                </a:solidFill>
                <a:latin typeface="Arial"/>
              </a:rPr>
              <a:t>Key Concepts — Workplace Health, Wellness and Evidence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Health</a:t>
            </a:r>
          </a:p>
          <a:p>
            <a:pPr algn="l">
              <a:spcAft>
                <a:spcPts val="300"/>
              </a:spcAft>
            </a:pPr>
            <a:r>
              <a:rPr sz="1200" b="0">
                <a:solidFill>
                  <a:srgbClr val="5B6372"/>
                </a:solidFill>
                <a:latin typeface="Arial"/>
              </a:rPr>
              <a:t>A state and capability shaped by physical, mental and social conditions—not merely the absence of illness.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Wellness</a:t>
            </a:r>
          </a:p>
          <a:p>
            <a:pPr algn="l">
              <a:spcAft>
                <a:spcPts val="300"/>
              </a:spcAft>
            </a:pPr>
            <a:r>
              <a:rPr sz="1200" b="0">
                <a:solidFill>
                  <a:srgbClr val="5B6372"/>
                </a:solidFill>
                <a:latin typeface="Arial"/>
              </a:rPr>
              <a:t>Intentional practices and enabling conditions that support people to function and thrive.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Evidence</a:t>
            </a:r>
          </a:p>
          <a:p>
            <a:pPr algn="l">
              <a:spcAft>
                <a:spcPts val="300"/>
              </a:spcAft>
            </a:pPr>
            <a:r>
              <a:rPr sz="1200" b="0">
                <a:solidFill>
                  <a:srgbClr val="5B6372"/>
                </a:solidFill>
                <a:latin typeface="Arial"/>
              </a:rPr>
              <a:t>A useful decision separates verified facts, workforce data, professional judgement and assumptions.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System</a:t>
            </a:r>
          </a:p>
          <a:p>
            <a:pPr algn="l">
              <a:spcAft>
                <a:spcPts val="300"/>
              </a:spcAft>
            </a:pPr>
            <a:r>
              <a:rPr sz="1200" b="0">
                <a:solidFill>
                  <a:srgbClr val="5B6372"/>
                </a:solidFill>
                <a:latin typeface="Arial"/>
              </a:rPr>
              <a:t>Job design, managers, culture, access and individual resources interact; a perk alone is not a strategy.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transition spd="med">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TOPIC 01 · K1 · K2 · K3 · A1 · A2</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Wellbeing is an operating condition, not a collection of perks.</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Design work and support so that people can be healthy, contribute and recover sustainably.</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transition spd="med">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K1 · K2 · K3 · A1 · A2</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Health and wellness: related, not interchangeable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Perspective A</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Perspective B</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Health includes physical, mental and social functioning and limitations.</a:t>
            </a:r>
          </a:p>
          <a:p>
            <a:pPr>
              <a:spcAft>
                <a:spcPts val="1000"/>
              </a:spcAft>
            </a:pPr>
            <a:r>
              <a:rPr sz="1600" b="0">
                <a:solidFill>
                  <a:srgbClr val="161B26"/>
                </a:solidFill>
                <a:latin typeface="Arial"/>
              </a:rPr>
              <a:t>•  It may require clinical care, reasonable support and risk controls.</a:t>
            </a:r>
          </a:p>
          <a:p>
            <a:pPr>
              <a:spcAft>
                <a:spcPts val="1000"/>
              </a:spcAft>
            </a:pPr>
            <a:r>
              <a:rPr sz="1600" b="0">
                <a:solidFill>
                  <a:srgbClr val="161B26"/>
                </a:solidFill>
                <a:latin typeface="Arial"/>
              </a:rPr>
              <a:t>•  Employers should not diagnose or infer a condition from behaviour.</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Wellness describes choices, resources and conditions that support functioning.</a:t>
            </a:r>
          </a:p>
          <a:p>
            <a:pPr>
              <a:spcAft>
                <a:spcPts val="1000"/>
              </a:spcAft>
            </a:pPr>
            <a:r>
              <a:rPr sz="1600" b="0">
                <a:solidFill>
                  <a:srgbClr val="161B26"/>
                </a:solidFill>
                <a:latin typeface="Arial"/>
              </a:rPr>
              <a:t>•  Participation should be voluntary, inclusive and free from coercion.</a:t>
            </a:r>
          </a:p>
          <a:p>
            <a:pPr>
              <a:spcAft>
                <a:spcPts val="1000"/>
              </a:spcAft>
            </a:pPr>
            <a:r>
              <a:rPr sz="1600" b="0">
                <a:solidFill>
                  <a:srgbClr val="161B26"/>
                </a:solidFill>
                <a:latin typeface="Arial"/>
              </a:rPr>
              <a:t>•  Programme design complements—not replaces—safe work and medical care.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transition spd="med">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K1 · K2 · K3 · A1 · A2</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Interdependent dimensions of wellbeing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Career</a:t>
            </a:r>
          </a:p>
          <a:p>
            <a:pPr algn="l">
              <a:spcAft>
                <a:spcPts val="300"/>
              </a:spcAft>
            </a:pPr>
            <a:r>
              <a:rPr sz="1200" b="0">
                <a:solidFill>
                  <a:srgbClr val="5B6372"/>
                </a:solidFill>
                <a:latin typeface="Arial"/>
              </a:rPr>
              <a:t>Meaning, manageable expectations, strengths and development.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Social</a:t>
            </a:r>
          </a:p>
          <a:p>
            <a:pPr algn="l">
              <a:spcAft>
                <a:spcPts val="300"/>
              </a:spcAft>
            </a:pPr>
            <a:r>
              <a:rPr sz="1200" b="0">
                <a:solidFill>
                  <a:srgbClr val="5B6372"/>
                </a:solidFill>
                <a:latin typeface="Arial"/>
              </a:rPr>
              <a:t>Belonging, support, respect and constructive relationships.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Financial</a:t>
            </a:r>
          </a:p>
          <a:p>
            <a:pPr algn="l">
              <a:spcAft>
                <a:spcPts val="300"/>
              </a:spcAft>
            </a:pPr>
            <a:r>
              <a:rPr sz="1200" b="0">
                <a:solidFill>
                  <a:srgbClr val="5B6372"/>
                </a:solidFill>
                <a:latin typeface="Arial"/>
              </a:rPr>
              <a:t>Security, capability and access to trustworthy guidance.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Physical</a:t>
            </a:r>
          </a:p>
          <a:p>
            <a:pPr algn="l">
              <a:spcAft>
                <a:spcPts val="300"/>
              </a:spcAft>
            </a:pPr>
            <a:r>
              <a:rPr sz="1200" b="0">
                <a:solidFill>
                  <a:srgbClr val="5B6372"/>
                </a:solidFill>
                <a:latin typeface="Arial"/>
              </a:rPr>
              <a:t>Energy, movement, rest, nutrition and safe work.</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Community</a:t>
            </a:r>
          </a:p>
          <a:p>
            <a:pPr algn="l">
              <a:spcAft>
                <a:spcPts val="300"/>
              </a:spcAft>
            </a:pPr>
            <a:r>
              <a:rPr sz="1200" b="0">
                <a:solidFill>
                  <a:srgbClr val="5B6372"/>
                </a:solidFill>
                <a:latin typeface="Arial"/>
              </a:rPr>
              <a:t>Connection, contribution and confidence in the wider environment.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Mental and emotional</a:t>
            </a:r>
          </a:p>
          <a:p>
            <a:pPr algn="l">
              <a:spcAft>
                <a:spcPts val="300"/>
              </a:spcAft>
            </a:pPr>
            <a:r>
              <a:rPr sz="1200" b="0">
                <a:solidFill>
                  <a:srgbClr val="5B6372"/>
                </a:solidFill>
                <a:latin typeface="Arial"/>
              </a:rPr>
              <a:t>Psychological safety, recovery, coping resources and access to help.</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transition spd="med">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SYSTEM VIEW</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The workplace wellbeing system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flipV="1">
            <a:off x="1691640" y="2468880"/>
            <a:ext cx="4389120" cy="1371600"/>
          </a:xfrm>
          <a:prstGeom prst="line">
            <a:avLst/>
          </a:prstGeom>
          <a:ln w="25400">
            <a:solidFill>
              <a:srgbClr val="E2E8F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flipV="1">
            <a:off x="4297680" y="2286000"/>
            <a:ext cx="1783080" cy="1554480"/>
          </a:xfrm>
          <a:prstGeom prst="line">
            <a:avLst/>
          </a:prstGeom>
          <a:ln w="25400">
            <a:solidFill>
              <a:srgbClr val="E2E8F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6080760" y="2286000"/>
            <a:ext cx="2148840" cy="1554480"/>
          </a:xfrm>
          <a:prstGeom prst="line">
            <a:avLst/>
          </a:prstGeom>
          <a:ln w="25400">
            <a:solidFill>
              <a:srgbClr val="E2E8F0"/>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6080760" y="2468880"/>
            <a:ext cx="4389120" cy="1371600"/>
          </a:xfrm>
          <a:prstGeom prst="line">
            <a:avLst/>
          </a:prstGeom>
          <a:ln w="25400">
            <a:solidFill>
              <a:srgbClr val="E2E8F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2743200" y="3840480"/>
            <a:ext cx="3337560" cy="1371600"/>
          </a:xfrm>
          <a:prstGeom prst="line">
            <a:avLst/>
          </a:prstGeom>
          <a:ln w="25400">
            <a:solidFill>
              <a:srgbClr val="E2E8F0"/>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80760" y="3840480"/>
            <a:ext cx="3246120" cy="1371600"/>
          </a:xfrm>
          <a:prstGeom prst="line">
            <a:avLst/>
          </a:prstGeom>
          <a:ln w="25400">
            <a:solidFill>
              <a:srgbClr val="E2E8F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4709160" y="2971800"/>
            <a:ext cx="2743200" cy="1645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92040" y="3273552"/>
            <a:ext cx="2377440" cy="914400"/>
          </a:xfrm>
          <a:prstGeom prst="rect">
            <a:avLst/>
          </a:prstGeom>
          <a:noFill/>
        </p:spPr>
        <p:txBody>
          <a:bodyPr wrap="square" anchor="ctr">
            <a:spAutoFit/>
          </a:bodyPr>
          <a:lstStyle/>
          <a:p>
            <a:pPr algn="ctr">
              <a:spcAft>
                <a:spcPts val="400"/>
              </a:spcAft>
            </a:pPr>
            <a:r>
              <a:rPr sz="2000" b="1">
                <a:solidFill>
                  <a:srgbClr val="FFFFFF"/>
                </a:solidFill>
                <a:latin typeface="Arial"/>
              </a:rPr>
              <a:t>EMPLOYEE</a:t>
            </a:r>
          </a:p>
          <a:p>
            <a:pPr algn="ctr">
              <a:spcAft>
                <a:spcPts val="400"/>
              </a:spcAft>
            </a:pPr>
            <a:r>
              <a:rPr sz="2000" b="1">
                <a:solidFill>
                  <a:srgbClr val="FFFFFF"/>
                </a:solidFill>
                <a:latin typeface="Arial"/>
              </a:rPr>
              <a:t>EXPERIENCE</a:t>
            </a:r>
          </a:p>
        </p:txBody>
      </p:sp>
      <p:sp>
        <p:nvSpPr>
          <p:cNvPr id="15" name="Oval 14"/>
          <p:cNvSpPr/>
          <p:nvPr/>
        </p:nvSpPr>
        <p:spPr>
          <a:xfrm>
            <a:off x="777240" y="1965960"/>
            <a:ext cx="1828800" cy="10058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6968" y="2130552"/>
            <a:ext cx="1609344" cy="548640"/>
          </a:xfrm>
          <a:prstGeom prst="rect">
            <a:avLst/>
          </a:prstGeom>
          <a:noFill/>
        </p:spPr>
        <p:txBody>
          <a:bodyPr wrap="square" anchor="ctr">
            <a:spAutoFit/>
          </a:bodyPr>
          <a:lstStyle/>
          <a:p>
            <a:pPr algn="ctr">
              <a:spcAft>
                <a:spcPts val="400"/>
              </a:spcAft>
            </a:pPr>
            <a:r>
              <a:rPr sz="1000" b="1">
                <a:solidFill>
                  <a:srgbClr val="FFFFFF"/>
                </a:solidFill>
                <a:latin typeface="Arial"/>
              </a:rPr>
              <a:t>LEADERSHIP</a:t>
            </a:r>
          </a:p>
        </p:txBody>
      </p:sp>
      <p:sp>
        <p:nvSpPr>
          <p:cNvPr id="17" name="TextBox 16"/>
          <p:cNvSpPr txBox="1"/>
          <p:nvPr/>
        </p:nvSpPr>
        <p:spPr>
          <a:xfrm>
            <a:off x="777240" y="2999231"/>
            <a:ext cx="1828800" cy="320040"/>
          </a:xfrm>
          <a:prstGeom prst="rect">
            <a:avLst/>
          </a:prstGeom>
          <a:noFill/>
        </p:spPr>
        <p:txBody>
          <a:bodyPr wrap="square" anchor="t">
            <a:spAutoFit/>
          </a:bodyPr>
          <a:lstStyle/>
          <a:p>
            <a:pPr algn="ctr">
              <a:spcAft>
                <a:spcPts val="400"/>
              </a:spcAft>
            </a:pPr>
            <a:r>
              <a:rPr sz="900" b="0">
                <a:solidFill>
                  <a:srgbClr val="5B6372"/>
                </a:solidFill>
                <a:latin typeface="Arial"/>
              </a:rPr>
              <a:t>priority · trust</a:t>
            </a:r>
          </a:p>
        </p:txBody>
      </p:sp>
      <p:sp>
        <p:nvSpPr>
          <p:cNvPr id="18" name="Oval 17"/>
          <p:cNvSpPr/>
          <p:nvPr/>
        </p:nvSpPr>
        <p:spPr>
          <a:xfrm>
            <a:off x="3383280" y="1783080"/>
            <a:ext cx="1828800" cy="10058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93008" y="1947672"/>
            <a:ext cx="1609344" cy="548640"/>
          </a:xfrm>
          <a:prstGeom prst="rect">
            <a:avLst/>
          </a:prstGeom>
          <a:noFill/>
        </p:spPr>
        <p:txBody>
          <a:bodyPr wrap="square" anchor="ctr">
            <a:spAutoFit/>
          </a:bodyPr>
          <a:lstStyle/>
          <a:p>
            <a:pPr algn="ctr">
              <a:spcAft>
                <a:spcPts val="400"/>
              </a:spcAft>
            </a:pPr>
            <a:r>
              <a:rPr sz="1000" b="1">
                <a:solidFill>
                  <a:srgbClr val="FFFFFF"/>
                </a:solidFill>
                <a:latin typeface="Arial"/>
              </a:rPr>
              <a:t>JOB DESIGN</a:t>
            </a:r>
          </a:p>
        </p:txBody>
      </p:sp>
      <p:sp>
        <p:nvSpPr>
          <p:cNvPr id="20" name="TextBox 19"/>
          <p:cNvSpPr txBox="1"/>
          <p:nvPr/>
        </p:nvSpPr>
        <p:spPr>
          <a:xfrm>
            <a:off x="3383280" y="2816351"/>
            <a:ext cx="1828800" cy="320040"/>
          </a:xfrm>
          <a:prstGeom prst="rect">
            <a:avLst/>
          </a:prstGeom>
          <a:noFill/>
        </p:spPr>
        <p:txBody>
          <a:bodyPr wrap="square" anchor="t">
            <a:spAutoFit/>
          </a:bodyPr>
          <a:lstStyle/>
          <a:p>
            <a:pPr algn="ctr">
              <a:spcAft>
                <a:spcPts val="400"/>
              </a:spcAft>
            </a:pPr>
            <a:r>
              <a:rPr sz="900" b="0">
                <a:solidFill>
                  <a:srgbClr val="5B6372"/>
                </a:solidFill>
                <a:latin typeface="Arial"/>
              </a:rPr>
              <a:t>demand · control</a:t>
            </a:r>
          </a:p>
        </p:txBody>
      </p:sp>
      <p:sp>
        <p:nvSpPr>
          <p:cNvPr id="21" name="Oval 20"/>
          <p:cNvSpPr/>
          <p:nvPr/>
        </p:nvSpPr>
        <p:spPr>
          <a:xfrm>
            <a:off x="7315200" y="1783080"/>
            <a:ext cx="1828800" cy="10058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24928" y="1947672"/>
            <a:ext cx="1609344" cy="548640"/>
          </a:xfrm>
          <a:prstGeom prst="rect">
            <a:avLst/>
          </a:prstGeom>
          <a:noFill/>
        </p:spPr>
        <p:txBody>
          <a:bodyPr wrap="square" anchor="ctr">
            <a:spAutoFit/>
          </a:bodyPr>
          <a:lstStyle/>
          <a:p>
            <a:pPr algn="ctr">
              <a:spcAft>
                <a:spcPts val="400"/>
              </a:spcAft>
            </a:pPr>
            <a:r>
              <a:rPr sz="1000" b="1">
                <a:solidFill>
                  <a:srgbClr val="FFFFFF"/>
                </a:solidFill>
                <a:latin typeface="Arial"/>
              </a:rPr>
              <a:t>MANAGERS</a:t>
            </a:r>
          </a:p>
        </p:txBody>
      </p:sp>
      <p:sp>
        <p:nvSpPr>
          <p:cNvPr id="23" name="TextBox 22"/>
          <p:cNvSpPr txBox="1"/>
          <p:nvPr/>
        </p:nvSpPr>
        <p:spPr>
          <a:xfrm>
            <a:off x="7315200" y="2816351"/>
            <a:ext cx="1828800" cy="320040"/>
          </a:xfrm>
          <a:prstGeom prst="rect">
            <a:avLst/>
          </a:prstGeom>
          <a:noFill/>
        </p:spPr>
        <p:txBody>
          <a:bodyPr wrap="square" anchor="t">
            <a:spAutoFit/>
          </a:bodyPr>
          <a:lstStyle/>
          <a:p>
            <a:pPr algn="ctr">
              <a:spcAft>
                <a:spcPts val="400"/>
              </a:spcAft>
            </a:pPr>
            <a:r>
              <a:rPr sz="900" b="0">
                <a:solidFill>
                  <a:srgbClr val="5B6372"/>
                </a:solidFill>
                <a:latin typeface="Arial"/>
              </a:rPr>
              <a:t>clarity · support</a:t>
            </a:r>
          </a:p>
        </p:txBody>
      </p:sp>
      <p:sp>
        <p:nvSpPr>
          <p:cNvPr id="24" name="Oval 23"/>
          <p:cNvSpPr/>
          <p:nvPr/>
        </p:nvSpPr>
        <p:spPr>
          <a:xfrm>
            <a:off x="9555480" y="1965960"/>
            <a:ext cx="1828800" cy="10058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65208" y="2130552"/>
            <a:ext cx="1609344" cy="548640"/>
          </a:xfrm>
          <a:prstGeom prst="rect">
            <a:avLst/>
          </a:prstGeom>
          <a:noFill/>
        </p:spPr>
        <p:txBody>
          <a:bodyPr wrap="square" anchor="ctr">
            <a:spAutoFit/>
          </a:bodyPr>
          <a:lstStyle/>
          <a:p>
            <a:pPr algn="ctr">
              <a:spcAft>
                <a:spcPts val="400"/>
              </a:spcAft>
            </a:pPr>
            <a:r>
              <a:rPr sz="1000" b="1">
                <a:solidFill>
                  <a:srgbClr val="FFFFFF"/>
                </a:solidFill>
                <a:latin typeface="Arial"/>
              </a:rPr>
              <a:t>ACCESS</a:t>
            </a:r>
          </a:p>
        </p:txBody>
      </p:sp>
      <p:sp>
        <p:nvSpPr>
          <p:cNvPr id="26" name="TextBox 25"/>
          <p:cNvSpPr txBox="1"/>
          <p:nvPr/>
        </p:nvSpPr>
        <p:spPr>
          <a:xfrm>
            <a:off x="9555480" y="2999231"/>
            <a:ext cx="1828800" cy="320040"/>
          </a:xfrm>
          <a:prstGeom prst="rect">
            <a:avLst/>
          </a:prstGeom>
          <a:noFill/>
        </p:spPr>
        <p:txBody>
          <a:bodyPr wrap="square" anchor="t">
            <a:spAutoFit/>
          </a:bodyPr>
          <a:lstStyle/>
          <a:p>
            <a:pPr algn="ctr">
              <a:spcAft>
                <a:spcPts val="400"/>
              </a:spcAft>
            </a:pPr>
            <a:r>
              <a:rPr sz="900" b="0">
                <a:solidFill>
                  <a:srgbClr val="5B6372"/>
                </a:solidFill>
                <a:latin typeface="Arial"/>
              </a:rPr>
              <a:t>choice · inclusion</a:t>
            </a:r>
          </a:p>
        </p:txBody>
      </p:sp>
      <p:sp>
        <p:nvSpPr>
          <p:cNvPr id="27" name="Oval 26"/>
          <p:cNvSpPr/>
          <p:nvPr/>
        </p:nvSpPr>
        <p:spPr>
          <a:xfrm>
            <a:off x="1828800" y="4709160"/>
            <a:ext cx="1828800" cy="10058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938528" y="4873752"/>
            <a:ext cx="1609344" cy="548640"/>
          </a:xfrm>
          <a:prstGeom prst="rect">
            <a:avLst/>
          </a:prstGeom>
          <a:noFill/>
        </p:spPr>
        <p:txBody>
          <a:bodyPr wrap="square" anchor="ctr">
            <a:spAutoFit/>
          </a:bodyPr>
          <a:lstStyle/>
          <a:p>
            <a:pPr algn="ctr">
              <a:spcAft>
                <a:spcPts val="400"/>
              </a:spcAft>
            </a:pPr>
            <a:r>
              <a:rPr sz="1000" b="1">
                <a:solidFill>
                  <a:srgbClr val="FFFFFF"/>
                </a:solidFill>
                <a:latin typeface="Arial"/>
              </a:rPr>
              <a:t>SOCIAL RESOURCES</a:t>
            </a:r>
          </a:p>
        </p:txBody>
      </p:sp>
      <p:sp>
        <p:nvSpPr>
          <p:cNvPr id="29" name="TextBox 28"/>
          <p:cNvSpPr txBox="1"/>
          <p:nvPr/>
        </p:nvSpPr>
        <p:spPr>
          <a:xfrm>
            <a:off x="1828800" y="5742431"/>
            <a:ext cx="1828800" cy="320040"/>
          </a:xfrm>
          <a:prstGeom prst="rect">
            <a:avLst/>
          </a:prstGeom>
          <a:noFill/>
        </p:spPr>
        <p:txBody>
          <a:bodyPr wrap="square" anchor="t">
            <a:spAutoFit/>
          </a:bodyPr>
          <a:lstStyle/>
          <a:p>
            <a:pPr algn="ctr">
              <a:spcAft>
                <a:spcPts val="400"/>
              </a:spcAft>
            </a:pPr>
            <a:r>
              <a:rPr sz="900" b="0">
                <a:solidFill>
                  <a:srgbClr val="5B6372"/>
                </a:solidFill>
                <a:latin typeface="Arial"/>
              </a:rPr>
              <a:t>belonging · recovery</a:t>
            </a:r>
          </a:p>
        </p:txBody>
      </p:sp>
      <p:sp>
        <p:nvSpPr>
          <p:cNvPr id="30" name="Oval 29"/>
          <p:cNvSpPr/>
          <p:nvPr/>
        </p:nvSpPr>
        <p:spPr>
          <a:xfrm>
            <a:off x="8412480" y="4709160"/>
            <a:ext cx="1828800" cy="10058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22208" y="4873752"/>
            <a:ext cx="1609344" cy="548640"/>
          </a:xfrm>
          <a:prstGeom prst="rect">
            <a:avLst/>
          </a:prstGeom>
          <a:noFill/>
        </p:spPr>
        <p:txBody>
          <a:bodyPr wrap="square" anchor="ctr">
            <a:spAutoFit/>
          </a:bodyPr>
          <a:lstStyle/>
          <a:p>
            <a:pPr algn="ctr">
              <a:spcAft>
                <a:spcPts val="400"/>
              </a:spcAft>
            </a:pPr>
            <a:r>
              <a:rPr sz="1000" b="1">
                <a:solidFill>
                  <a:srgbClr val="FFFFFF"/>
                </a:solidFill>
                <a:latin typeface="Arial"/>
              </a:rPr>
              <a:t>PERSONAL CONTEXT</a:t>
            </a:r>
          </a:p>
        </p:txBody>
      </p:sp>
      <p:sp>
        <p:nvSpPr>
          <p:cNvPr id="32" name="TextBox 31"/>
          <p:cNvSpPr txBox="1"/>
          <p:nvPr/>
        </p:nvSpPr>
        <p:spPr>
          <a:xfrm>
            <a:off x="8412480" y="5742431"/>
            <a:ext cx="1828800" cy="320040"/>
          </a:xfrm>
          <a:prstGeom prst="rect">
            <a:avLst/>
          </a:prstGeom>
          <a:noFill/>
        </p:spPr>
        <p:txBody>
          <a:bodyPr wrap="square" anchor="t">
            <a:spAutoFit/>
          </a:bodyPr>
          <a:lstStyle/>
          <a:p>
            <a:pPr algn="ctr">
              <a:spcAft>
                <a:spcPts val="400"/>
              </a:spcAft>
            </a:pPr>
            <a:r>
              <a:rPr sz="900" b="0">
                <a:solidFill>
                  <a:srgbClr val="5B6372"/>
                </a:solidFill>
                <a:latin typeface="Arial"/>
              </a:rPr>
              <a:t>health · life stage</a:t>
            </a:r>
          </a:p>
        </p:txBody>
      </p:sp>
      <p:sp>
        <p:nvSpPr>
          <p:cNvPr id="33" name="TextBox 3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34" name="TextBox 3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5" name="TextBox 3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transition spd="med">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K1 · K2 · K3 · A1 · A2</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Population health indicators and workplace decisions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Perspective A</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Perspective B</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Life expectancy estimates years lived; health-adjusted life expectancy also considers years lived in less than full health.</a:t>
            </a:r>
          </a:p>
          <a:p>
            <a:pPr>
              <a:spcAft>
                <a:spcPts val="1000"/>
              </a:spcAft>
            </a:pPr>
            <a:r>
              <a:rPr sz="1600" b="0">
                <a:solidFill>
                  <a:srgbClr val="161B26"/>
                </a:solidFill>
                <a:latin typeface="Arial"/>
              </a:rPr>
              <a:t>•  Population indicators can signal prevention priorities and health inequality.</a:t>
            </a:r>
          </a:p>
          <a:p>
            <a:pPr>
              <a:spcAft>
                <a:spcPts val="1000"/>
              </a:spcAft>
            </a:pPr>
            <a:r>
              <a:rPr sz="1600" b="0">
                <a:solidFill>
                  <a:srgbClr val="161B26"/>
                </a:solidFill>
                <a:latin typeface="Arial"/>
              </a:rPr>
              <a:t>•  They do not diagnose a workforce or measure one employer programme.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Use workforce needs, job risks, access and employee voice for workplace decisions.</a:t>
            </a:r>
          </a:p>
          <a:p>
            <a:pPr>
              <a:spcAft>
                <a:spcPts val="1000"/>
              </a:spcAft>
            </a:pPr>
            <a:r>
              <a:rPr sz="1600" b="0">
                <a:solidFill>
                  <a:srgbClr val="161B26"/>
                </a:solidFill>
                <a:latin typeface="Arial"/>
              </a:rPr>
              <a:t>•  Do not convert population averages into individual targets or employment judgements.</a:t>
            </a:r>
          </a:p>
          <a:p>
            <a:pPr>
              <a:spcAft>
                <a:spcPts val="1000"/>
              </a:spcAft>
            </a:pPr>
            <a:r>
              <a:rPr sz="1600" b="0">
                <a:solidFill>
                  <a:srgbClr val="161B26"/>
                </a:solidFill>
                <a:latin typeface="Arial"/>
              </a:rPr>
              <a:t>•  Connect prevention with safe work, timely support and public-health pathways.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transition spd="med">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K1 · K2 · K3 · A1 · A2</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400" b="1">
                <a:solidFill>
                  <a:srgbClr val="161B26"/>
                </a:solidFill>
                <a:latin typeface="Arial"/>
              </a:rPr>
              <a:t>Singapore workplace requirements: the practical baseline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PDPA</a:t>
            </a:r>
          </a:p>
          <a:p>
            <a:pPr algn="l">
              <a:spcAft>
                <a:spcPts val="300"/>
              </a:spcAft>
            </a:pPr>
            <a:r>
              <a:rPr sz="1200" b="0">
                <a:solidFill>
                  <a:srgbClr val="5B6372"/>
                </a:solidFill>
                <a:latin typeface="Arial"/>
              </a:rPr>
              <a:t>Use a lawful purpose, notify appropriately, protect data, limit retention and enable applicable access/correction rights.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Workplace safety and health</a:t>
            </a:r>
          </a:p>
          <a:p>
            <a:pPr algn="l">
              <a:spcAft>
                <a:spcPts val="300"/>
              </a:spcAft>
            </a:pPr>
            <a:r>
              <a:rPr sz="1200" b="0">
                <a:solidFill>
                  <a:srgbClr val="5B6372"/>
                </a:solidFill>
                <a:latin typeface="Arial"/>
              </a:rPr>
              <a:t>Manage workplace risks, including work conditions that can harm physical or psychological health.</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Employment practices</a:t>
            </a:r>
          </a:p>
          <a:p>
            <a:pPr algn="l">
              <a:spcAft>
                <a:spcPts val="300"/>
              </a:spcAft>
            </a:pPr>
            <a:r>
              <a:rPr sz="1200" b="0">
                <a:solidFill>
                  <a:srgbClr val="5B6372"/>
                </a:solidFill>
                <a:latin typeface="Arial"/>
              </a:rPr>
              <a:t>Make objective decisions, maintain confidentiality and provide fair, respectful support.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Future fairness regime</a:t>
            </a:r>
          </a:p>
          <a:p>
            <a:pPr algn="l">
              <a:spcAft>
                <a:spcPts val="300"/>
              </a:spcAft>
            </a:pPr>
            <a:r>
              <a:rPr sz="1200" b="0">
                <a:solidFill>
                  <a:srgbClr val="5B6372"/>
                </a:solidFill>
                <a:latin typeface="Arial"/>
              </a:rPr>
              <a:t>Prepare for Singapore's Workplace Fairness Act implementation; do not describe future duties as already in force.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transition spd="med">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K1 · K2 · K3 · A1 · A2</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Singapore health and employment touchpoints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Employment Act sick leave</a:t>
            </a:r>
          </a:p>
          <a:p>
            <a:pPr algn="l">
              <a:spcAft>
                <a:spcPts val="300"/>
              </a:spcAft>
            </a:pPr>
            <a:r>
              <a:rPr sz="1200" b="0">
                <a:solidFill>
                  <a:srgbClr val="5B6372"/>
                </a:solidFill>
                <a:latin typeface="Arial"/>
              </a:rPr>
              <a:t>Eligible employees have statutory outpatient and hospitalisation leave subject to service, notification and certification rules.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Healthier SG</a:t>
            </a:r>
          </a:p>
          <a:p>
            <a:pPr algn="l">
              <a:spcAft>
                <a:spcPts val="300"/>
              </a:spcAft>
            </a:pPr>
            <a:r>
              <a:rPr sz="1200" b="0">
                <a:solidFill>
                  <a:srgbClr val="5B6372"/>
                </a:solidFill>
                <a:latin typeface="Arial"/>
              </a:rPr>
              <a:t>A national preventive-health initiative centred on family doctors, health plans and community support; employers can signpost without accessing clinical data.</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HPB workplace support</a:t>
            </a:r>
          </a:p>
          <a:p>
            <a:pPr algn="l">
              <a:spcAft>
                <a:spcPts val="300"/>
              </a:spcAft>
            </a:pPr>
            <a:r>
              <a:rPr sz="1200" b="0">
                <a:solidFill>
                  <a:srgbClr val="5B6372"/>
                </a:solidFill>
                <a:latin typeface="Arial"/>
              </a:rPr>
              <a:t>Current workplace programmes and tools can complement an organisation's needs-led plan; validate eligibility and terms before commitment.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Employment data boundary</a:t>
            </a:r>
          </a:p>
          <a:p>
            <a:pPr algn="l">
              <a:spcAft>
                <a:spcPts val="300"/>
              </a:spcAft>
            </a:pPr>
            <a:r>
              <a:rPr sz="1200" b="0">
                <a:solidFill>
                  <a:srgbClr val="5B6372"/>
                </a:solidFill>
                <a:latin typeface="Arial"/>
              </a:rPr>
              <a:t>Administer leave and benefits with necessary information; do not infer a blanket right to employee diagnoses or unrelated health data.</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transition spd="med">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K1 · K2 · K3 · A1 · A2</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Privacy-by-design for wellbeing data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59002"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59002"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Define a necessary purpose</a:t>
            </a:r>
          </a:p>
        </p:txBody>
      </p:sp>
      <p:sp>
        <p:nvSpPr>
          <p:cNvPr id="12" name="TextBox 11"/>
          <p:cNvSpPr txBox="1"/>
          <p:nvPr/>
        </p:nvSpPr>
        <p:spPr>
          <a:xfrm>
            <a:off x="2253996"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601468"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601468"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298323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8323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2747772"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Collect the minimum</a:t>
            </a:r>
          </a:p>
        </p:txBody>
      </p:sp>
      <p:sp>
        <p:nvSpPr>
          <p:cNvPr id="18" name="TextBox 17"/>
          <p:cNvSpPr txBox="1"/>
          <p:nvPr/>
        </p:nvSpPr>
        <p:spPr>
          <a:xfrm>
            <a:off x="407822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4425696"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25696"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807458"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07458"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4572000"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Separate identifiers</a:t>
            </a:r>
          </a:p>
        </p:txBody>
      </p:sp>
      <p:sp>
        <p:nvSpPr>
          <p:cNvPr id="24" name="TextBox 23"/>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6249924"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49924"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63168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3168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6396228"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Restrict access</a:t>
            </a:r>
          </a:p>
        </p:txBody>
      </p:sp>
      <p:sp>
        <p:nvSpPr>
          <p:cNvPr id="30" name="TextBox 29"/>
          <p:cNvSpPr txBox="1"/>
          <p:nvPr/>
        </p:nvSpPr>
        <p:spPr>
          <a:xfrm>
            <a:off x="772668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8074152"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74152"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45591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5591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8220456"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Set retention and deletion</a:t>
            </a:r>
          </a:p>
        </p:txBody>
      </p:sp>
      <p:sp>
        <p:nvSpPr>
          <p:cNvPr id="36" name="TextBox 35"/>
          <p:cNvSpPr txBox="1"/>
          <p:nvPr/>
        </p:nvSpPr>
        <p:spPr>
          <a:xfrm>
            <a:off x="9550908"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7" name="Rectangle 36"/>
          <p:cNvSpPr/>
          <p:nvPr/>
        </p:nvSpPr>
        <p:spPr>
          <a:xfrm>
            <a:off x="989838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98380"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280142"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280142"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6</a:t>
            </a:r>
          </a:p>
        </p:txBody>
      </p:sp>
      <p:sp>
        <p:nvSpPr>
          <p:cNvPr id="41" name="TextBox 40"/>
          <p:cNvSpPr txBox="1"/>
          <p:nvPr/>
        </p:nvSpPr>
        <p:spPr>
          <a:xfrm>
            <a:off x="10044684"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Report only safe aggregates</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transition spd="med">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K1 · K2 · K3 · A1 · A2</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Consent and power imbalance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Perspective A</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Perspective B</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A checkbox does not make every use fair or necessary.</a:t>
            </a:r>
          </a:p>
          <a:p>
            <a:pPr>
              <a:spcAft>
                <a:spcPts val="1000"/>
              </a:spcAft>
            </a:pPr>
            <a:r>
              <a:rPr sz="1600" b="0">
                <a:solidFill>
                  <a:srgbClr val="161B26"/>
                </a:solidFill>
                <a:latin typeface="Arial"/>
              </a:rPr>
              <a:t>•  Employees may feel pressure when managers sponsor participation.</a:t>
            </a:r>
          </a:p>
          <a:p>
            <a:pPr>
              <a:spcAft>
                <a:spcPts val="1000"/>
              </a:spcAft>
            </a:pPr>
            <a:r>
              <a:rPr sz="1600" b="0">
                <a:solidFill>
                  <a:srgbClr val="161B26"/>
                </a:solidFill>
                <a:latin typeface="Arial"/>
              </a:rPr>
              <a:t>•  Avoid linking sensitive health disclosure to performance decisions.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Offer a genuine choice and a useful non-participation path.</a:t>
            </a:r>
          </a:p>
          <a:p>
            <a:pPr>
              <a:spcAft>
                <a:spcPts val="1000"/>
              </a:spcAft>
            </a:pPr>
            <a:r>
              <a:rPr sz="1600" b="0">
                <a:solidFill>
                  <a:srgbClr val="161B26"/>
                </a:solidFill>
                <a:latin typeface="Arial"/>
              </a:rPr>
              <a:t>•  Explain purpose, recipients, retention and withdrawal clearly.</a:t>
            </a:r>
          </a:p>
          <a:p>
            <a:pPr>
              <a:spcAft>
                <a:spcPts val="1000"/>
              </a:spcAft>
            </a:pPr>
            <a:r>
              <a:rPr sz="1600" b="0">
                <a:solidFill>
                  <a:srgbClr val="161B26"/>
                </a:solidFill>
                <a:latin typeface="Arial"/>
              </a:rPr>
              <a:t>•  Use independent providers and aggregates where practical.</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transition spd="med">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K1 · K2 · K3 · A1 · A2</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Data risks in wearables and wellness platforms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Function creep</a:t>
            </a:r>
          </a:p>
          <a:p>
            <a:pPr algn="l">
              <a:spcAft>
                <a:spcPts val="300"/>
              </a:spcAft>
            </a:pPr>
            <a:r>
              <a:rPr sz="1200" b="0">
                <a:solidFill>
                  <a:srgbClr val="5B6372"/>
                </a:solidFill>
                <a:latin typeface="Arial"/>
              </a:rPr>
              <a:t>Step or sleep data becomes input for unrelated employment decisions.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Re-identification</a:t>
            </a:r>
          </a:p>
          <a:p>
            <a:pPr algn="l">
              <a:spcAft>
                <a:spcPts val="300"/>
              </a:spcAft>
            </a:pPr>
            <a:r>
              <a:rPr sz="1200" b="0">
                <a:solidFill>
                  <a:srgbClr val="5B6372"/>
                </a:solidFill>
                <a:latin typeface="Arial"/>
              </a:rPr>
              <a:t>Small teams or rare conditions reveal identities despite aggregation.</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Vendor exposure</a:t>
            </a:r>
          </a:p>
          <a:p>
            <a:pPr algn="l">
              <a:spcAft>
                <a:spcPts val="300"/>
              </a:spcAft>
            </a:pPr>
            <a:r>
              <a:rPr sz="1200" b="0">
                <a:solidFill>
                  <a:srgbClr val="5B6372"/>
                </a:solidFill>
                <a:latin typeface="Arial"/>
              </a:rPr>
              <a:t>Cloud, subcontractor and cross-border processing expands the risk surface.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Exclusion</a:t>
            </a:r>
          </a:p>
          <a:p>
            <a:pPr algn="l">
              <a:spcAft>
                <a:spcPts val="300"/>
              </a:spcAft>
            </a:pPr>
            <a:r>
              <a:rPr sz="1200" b="0">
                <a:solidFill>
                  <a:srgbClr val="5B6372"/>
                </a:solidFill>
                <a:latin typeface="Arial"/>
              </a:rPr>
              <a:t>Device, language, disability or algorithm design disadvantages some groups.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transition spd="med">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K1 · K2 · K3 · A1 · A2</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Factors that shape employee health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Work design</a:t>
            </a:r>
          </a:p>
          <a:p>
            <a:pPr algn="l">
              <a:spcAft>
                <a:spcPts val="300"/>
              </a:spcAft>
            </a:pPr>
            <a:r>
              <a:rPr sz="1200" b="0">
                <a:solidFill>
                  <a:srgbClr val="5B6372"/>
                </a:solidFill>
                <a:latin typeface="Arial"/>
              </a:rPr>
              <a:t>Demand, control, staffing, schedules, role clarity and workload variability.</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Relationships</a:t>
            </a:r>
          </a:p>
          <a:p>
            <a:pPr algn="l">
              <a:spcAft>
                <a:spcPts val="300"/>
              </a:spcAft>
            </a:pPr>
            <a:r>
              <a:rPr sz="1200" b="0">
                <a:solidFill>
                  <a:srgbClr val="5B6372"/>
                </a:solidFill>
                <a:latin typeface="Arial"/>
              </a:rPr>
              <a:t>Manager behaviour, team norms, bullying, support and psychological safety.</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Personal context</a:t>
            </a:r>
          </a:p>
          <a:p>
            <a:pPr algn="l">
              <a:spcAft>
                <a:spcPts val="300"/>
              </a:spcAft>
            </a:pPr>
            <a:r>
              <a:rPr sz="1200" b="0">
                <a:solidFill>
                  <a:srgbClr val="5B6372"/>
                </a:solidFill>
                <a:latin typeface="Arial"/>
              </a:rPr>
              <a:t>Health, caring duties, finances, life stage and access to services.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Environment</a:t>
            </a:r>
          </a:p>
          <a:p>
            <a:pPr algn="l">
              <a:spcAft>
                <a:spcPts val="300"/>
              </a:spcAft>
            </a:pPr>
            <a:r>
              <a:rPr sz="1200" b="0">
                <a:solidFill>
                  <a:srgbClr val="5B6372"/>
                </a:solidFill>
                <a:latin typeface="Arial"/>
              </a:rPr>
              <a:t>Ergonomics, noise, heat, travel, food options and digital load.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transition spd="med">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WORK DESIGN</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Job Demands–Resources: redesign the balance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486400" y="3657600"/>
            <a:ext cx="1188720" cy="11887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3383280"/>
            <a:ext cx="8503920" cy="146304"/>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0" y="4005072"/>
            <a:ext cx="1371600" cy="274320"/>
          </a:xfrm>
          <a:prstGeom prst="rect">
            <a:avLst/>
          </a:prstGeom>
          <a:noFill/>
        </p:spPr>
        <p:txBody>
          <a:bodyPr wrap="square" anchor="t">
            <a:spAutoFit/>
          </a:bodyPr>
          <a:lstStyle/>
          <a:p>
            <a:pPr algn="ctr">
              <a:spcAft>
                <a:spcPts val="400"/>
              </a:spcAft>
            </a:pPr>
            <a:r>
              <a:rPr sz="900" b="1">
                <a:solidFill>
                  <a:srgbClr val="FFFFFF"/>
                </a:solidFill>
                <a:latin typeface="Arial"/>
              </a:rPr>
              <a:t>RECOVERY</a:t>
            </a:r>
          </a:p>
        </p:txBody>
      </p:sp>
      <p:sp>
        <p:nvSpPr>
          <p:cNvPr id="10" name="Rectangle 9"/>
          <p:cNvSpPr/>
          <p:nvPr/>
        </p:nvSpPr>
        <p:spPr>
          <a:xfrm>
            <a:off x="1143000" y="1874519"/>
            <a:ext cx="3749039" cy="1234440"/>
          </a:xfrm>
          <a:prstGeom prst="rect">
            <a:avLst/>
          </a:prstGeom>
          <a:solidFill>
            <a:srgbClr val="FE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417320" y="2084831"/>
            <a:ext cx="3200400" cy="822960"/>
          </a:xfrm>
          <a:prstGeom prst="rect">
            <a:avLst/>
          </a:prstGeom>
          <a:noFill/>
        </p:spPr>
        <p:txBody>
          <a:bodyPr wrap="square" anchor="t">
            <a:spAutoFit/>
          </a:bodyPr>
          <a:lstStyle/>
          <a:p>
            <a:pPr algn="ctr">
              <a:spcAft>
                <a:spcPts val="400"/>
              </a:spcAft>
            </a:pPr>
            <a:r>
              <a:rPr sz="2000" b="1">
                <a:solidFill>
                  <a:srgbClr val="B91C1C"/>
                </a:solidFill>
                <a:latin typeface="Arial"/>
              </a:rPr>
              <a:t>DEMANDS</a:t>
            </a:r>
          </a:p>
          <a:p>
            <a:pPr algn="ctr">
              <a:spcAft>
                <a:spcPts val="400"/>
              </a:spcAft>
            </a:pPr>
            <a:r>
              <a:rPr sz="1200" b="0">
                <a:solidFill>
                  <a:srgbClr val="5B6372"/>
                </a:solidFill>
                <a:latin typeface="Arial"/>
              </a:rPr>
              <a:t>workload · emotion · uncertainty · time</a:t>
            </a:r>
          </a:p>
        </p:txBody>
      </p:sp>
      <p:sp>
        <p:nvSpPr>
          <p:cNvPr id="12" name="Rectangle 11"/>
          <p:cNvSpPr/>
          <p:nvPr/>
        </p:nvSpPr>
        <p:spPr>
          <a:xfrm>
            <a:off x="7269480" y="1874519"/>
            <a:ext cx="3749039" cy="1234440"/>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43800" y="2084831"/>
            <a:ext cx="3200400" cy="822960"/>
          </a:xfrm>
          <a:prstGeom prst="rect">
            <a:avLst/>
          </a:prstGeom>
          <a:noFill/>
        </p:spPr>
        <p:txBody>
          <a:bodyPr wrap="square" anchor="t">
            <a:spAutoFit/>
          </a:bodyPr>
          <a:lstStyle/>
          <a:p>
            <a:pPr algn="ctr">
              <a:spcAft>
                <a:spcPts val="400"/>
              </a:spcAft>
            </a:pPr>
            <a:r>
              <a:rPr sz="2000" b="1">
                <a:solidFill>
                  <a:srgbClr val="10B981"/>
                </a:solidFill>
                <a:latin typeface="Arial"/>
              </a:rPr>
              <a:t>RESOURCES</a:t>
            </a:r>
          </a:p>
          <a:p>
            <a:pPr algn="ctr">
              <a:spcAft>
                <a:spcPts val="400"/>
              </a:spcAft>
            </a:pPr>
            <a:r>
              <a:rPr sz="1200" b="0">
                <a:solidFill>
                  <a:srgbClr val="5B6372"/>
                </a:solidFill>
                <a:latin typeface="Arial"/>
              </a:rPr>
              <a:t>control · clarity · support · recovery</a:t>
            </a:r>
          </a:p>
        </p:txBody>
      </p:sp>
      <p:sp>
        <p:nvSpPr>
          <p:cNvPr id="14" name="Rectangle 13"/>
          <p:cNvSpPr/>
          <p:nvPr/>
        </p:nvSpPr>
        <p:spPr>
          <a:xfrm>
            <a:off x="1097280" y="4892040"/>
            <a:ext cx="2057400" cy="868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34439" y="5010912"/>
            <a:ext cx="1783080" cy="603504"/>
          </a:xfrm>
          <a:prstGeom prst="rect">
            <a:avLst/>
          </a:prstGeom>
          <a:noFill/>
        </p:spPr>
        <p:txBody>
          <a:bodyPr wrap="square" anchor="t">
            <a:spAutoFit/>
          </a:bodyPr>
          <a:lstStyle/>
          <a:p>
            <a:pPr algn="ctr">
              <a:spcAft>
                <a:spcPts val="400"/>
              </a:spcAft>
            </a:pPr>
            <a:r>
              <a:rPr sz="1200" b="1">
                <a:solidFill>
                  <a:srgbClr val="1F6FEB"/>
                </a:solidFill>
                <a:latin typeface="Arial"/>
              </a:rPr>
              <a:t>REMOVE</a:t>
            </a:r>
          </a:p>
          <a:p>
            <a:pPr algn="ctr">
              <a:spcAft>
                <a:spcPts val="400"/>
              </a:spcAft>
            </a:pPr>
            <a:r>
              <a:rPr sz="1000" b="0">
                <a:solidFill>
                  <a:srgbClr val="5B6372"/>
                </a:solidFill>
                <a:latin typeface="Arial"/>
              </a:rPr>
              <a:t>preventable hindrance</a:t>
            </a:r>
          </a:p>
        </p:txBody>
      </p:sp>
      <p:sp>
        <p:nvSpPr>
          <p:cNvPr id="16" name="Rectangle 15"/>
          <p:cNvSpPr/>
          <p:nvPr/>
        </p:nvSpPr>
        <p:spPr>
          <a:xfrm>
            <a:off x="3794760" y="4892040"/>
            <a:ext cx="2057400" cy="868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31920" y="5010912"/>
            <a:ext cx="1783080" cy="603504"/>
          </a:xfrm>
          <a:prstGeom prst="rect">
            <a:avLst/>
          </a:prstGeom>
          <a:noFill/>
        </p:spPr>
        <p:txBody>
          <a:bodyPr wrap="square" anchor="t">
            <a:spAutoFit/>
          </a:bodyPr>
          <a:lstStyle/>
          <a:p>
            <a:pPr algn="ctr">
              <a:spcAft>
                <a:spcPts val="400"/>
              </a:spcAft>
            </a:pPr>
            <a:r>
              <a:rPr sz="1200" b="1">
                <a:solidFill>
                  <a:srgbClr val="10B981"/>
                </a:solidFill>
                <a:latin typeface="Arial"/>
              </a:rPr>
              <a:t>RESOURCE</a:t>
            </a:r>
          </a:p>
          <a:p>
            <a:pPr algn="ctr">
              <a:spcAft>
                <a:spcPts val="400"/>
              </a:spcAft>
            </a:pPr>
            <a:r>
              <a:rPr sz="1000" b="0">
                <a:solidFill>
                  <a:srgbClr val="5B6372"/>
                </a:solidFill>
                <a:latin typeface="Arial"/>
              </a:rPr>
              <a:t>necessary challenge</a:t>
            </a:r>
          </a:p>
        </p:txBody>
      </p:sp>
      <p:sp>
        <p:nvSpPr>
          <p:cNvPr id="18" name="Rectangle 17"/>
          <p:cNvSpPr/>
          <p:nvPr/>
        </p:nvSpPr>
        <p:spPr>
          <a:xfrm>
            <a:off x="6492240" y="4892040"/>
            <a:ext cx="2057400" cy="868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29400" y="5010912"/>
            <a:ext cx="1783080" cy="603504"/>
          </a:xfrm>
          <a:prstGeom prst="rect">
            <a:avLst/>
          </a:prstGeom>
          <a:noFill/>
        </p:spPr>
        <p:txBody>
          <a:bodyPr wrap="square" anchor="t">
            <a:spAutoFit/>
          </a:bodyPr>
          <a:lstStyle/>
          <a:p>
            <a:pPr algn="ctr">
              <a:spcAft>
                <a:spcPts val="400"/>
              </a:spcAft>
            </a:pPr>
            <a:r>
              <a:rPr sz="1200" b="1">
                <a:solidFill>
                  <a:srgbClr val="7C3AED"/>
                </a:solidFill>
                <a:latin typeface="Arial"/>
              </a:rPr>
              <a:t>RECOVER</a:t>
            </a:r>
          </a:p>
          <a:p>
            <a:pPr algn="ctr">
              <a:spcAft>
                <a:spcPts val="400"/>
              </a:spcAft>
            </a:pPr>
            <a:r>
              <a:rPr sz="1000" b="0">
                <a:solidFill>
                  <a:srgbClr val="5B6372"/>
                </a:solidFill>
                <a:latin typeface="Arial"/>
              </a:rPr>
              <a:t>protected time</a:t>
            </a:r>
          </a:p>
        </p:txBody>
      </p:sp>
      <p:sp>
        <p:nvSpPr>
          <p:cNvPr id="20" name="Rectangle 19"/>
          <p:cNvSpPr/>
          <p:nvPr/>
        </p:nvSpPr>
        <p:spPr>
          <a:xfrm>
            <a:off x="9189720" y="4892040"/>
            <a:ext cx="2057400" cy="868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26880" y="5010912"/>
            <a:ext cx="1783080" cy="603504"/>
          </a:xfrm>
          <a:prstGeom prst="rect">
            <a:avLst/>
          </a:prstGeom>
          <a:noFill/>
        </p:spPr>
        <p:txBody>
          <a:bodyPr wrap="square" anchor="t">
            <a:spAutoFit/>
          </a:bodyPr>
          <a:lstStyle/>
          <a:p>
            <a:pPr algn="ctr">
              <a:spcAft>
                <a:spcPts val="400"/>
              </a:spcAft>
            </a:pPr>
            <a:r>
              <a:rPr sz="1200" b="1">
                <a:solidFill>
                  <a:srgbClr val="F59E0B"/>
                </a:solidFill>
                <a:latin typeface="Arial"/>
              </a:rPr>
              <a:t>REVIEW</a:t>
            </a:r>
          </a:p>
          <a:p>
            <a:pPr algn="ctr">
              <a:spcAft>
                <a:spcPts val="400"/>
              </a:spcAft>
            </a:pPr>
            <a:r>
              <a:rPr sz="1000" b="0">
                <a:solidFill>
                  <a:srgbClr val="5B6372"/>
                </a:solidFill>
                <a:latin typeface="Arial"/>
              </a:rPr>
              <a:t>employee + service evidence</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transition spd="med">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K1 · K2 · K3 · A1 · A2</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Mental-health continuum: respond without diagnosing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Thriving</a:t>
            </a:r>
          </a:p>
          <a:p>
            <a:pPr algn="l">
              <a:spcAft>
                <a:spcPts val="300"/>
              </a:spcAft>
            </a:pPr>
            <a:r>
              <a:rPr sz="1200" b="0">
                <a:solidFill>
                  <a:srgbClr val="5B6372"/>
                </a:solidFill>
                <a:latin typeface="Arial"/>
              </a:rPr>
              <a:t>Sustainable energy, connection and effective functioning.</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Struggling</a:t>
            </a:r>
          </a:p>
          <a:p>
            <a:pPr algn="l">
              <a:spcAft>
                <a:spcPts val="300"/>
              </a:spcAft>
            </a:pPr>
            <a:r>
              <a:rPr sz="1200" b="0">
                <a:solidFill>
                  <a:srgbClr val="5B6372"/>
                </a:solidFill>
                <a:latin typeface="Arial"/>
              </a:rPr>
              <a:t>Observable changes in work, mood, energy or connection may need a supportive check-in.</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Unwell</a:t>
            </a:r>
          </a:p>
          <a:p>
            <a:pPr algn="l">
              <a:spcAft>
                <a:spcPts val="300"/>
              </a:spcAft>
            </a:pPr>
            <a:r>
              <a:rPr sz="1200" b="0">
                <a:solidFill>
                  <a:srgbClr val="5B6372"/>
                </a:solidFill>
                <a:latin typeface="Arial"/>
              </a:rPr>
              <a:t>Persistent impairment may need professional support and workplace adjustment.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Crisis</a:t>
            </a:r>
          </a:p>
          <a:p>
            <a:pPr algn="l">
              <a:spcAft>
                <a:spcPts val="300"/>
              </a:spcAft>
            </a:pPr>
            <a:r>
              <a:rPr sz="1200" b="0">
                <a:solidFill>
                  <a:srgbClr val="5B6372"/>
                </a:solidFill>
                <a:latin typeface="Arial"/>
              </a:rPr>
              <a:t>Immediate safety concerns require the organisation's emergency and escalation protocol.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transition spd="med">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K1 · K2 · K3 · A1 · A2</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Supportive observation versus diagnosis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Perspective A</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Perspective B</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Describe observable changes: missed deadlines, withdrawal or unusual fatigue.</a:t>
            </a:r>
          </a:p>
          <a:p>
            <a:pPr>
              <a:spcAft>
                <a:spcPts val="1000"/>
              </a:spcAft>
            </a:pPr>
            <a:r>
              <a:rPr sz="1600" b="0">
                <a:solidFill>
                  <a:srgbClr val="161B26"/>
                </a:solidFill>
                <a:latin typeface="Arial"/>
              </a:rPr>
              <a:t>•  Ask privately, listen, clarify work needs and signpost support.</a:t>
            </a:r>
          </a:p>
          <a:p>
            <a:pPr>
              <a:spcAft>
                <a:spcPts val="1000"/>
              </a:spcAft>
            </a:pPr>
            <a:r>
              <a:rPr sz="1600" b="0">
                <a:solidFill>
                  <a:srgbClr val="161B26"/>
                </a:solidFill>
                <a:latin typeface="Arial"/>
              </a:rPr>
              <a:t>•  Escalate immediate risk using the approved protocol.</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Do not label anxiety, depression, bipolar disorder, OCD, psychosis, eating disorders or substance misuse.</a:t>
            </a:r>
          </a:p>
          <a:p>
            <a:pPr>
              <a:spcAft>
                <a:spcPts val="1000"/>
              </a:spcAft>
            </a:pPr>
            <a:r>
              <a:rPr sz="1600" b="0">
                <a:solidFill>
                  <a:srgbClr val="161B26"/>
                </a:solidFill>
                <a:latin typeface="Arial"/>
              </a:rPr>
              <a:t>•  Do not promise absolute secrecy when safety action may be necessary.</a:t>
            </a:r>
          </a:p>
          <a:p>
            <a:pPr>
              <a:spcAft>
                <a:spcPts val="1000"/>
              </a:spcAft>
            </a:pPr>
            <a:r>
              <a:rPr sz="1600" b="0">
                <a:solidFill>
                  <a:srgbClr val="161B26"/>
                </a:solidFill>
                <a:latin typeface="Arial"/>
              </a:rPr>
              <a:t>•  Do not collect clinical details that the work decision does not require.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transition spd="med">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K1 · K2 · K3 · A1 · A2</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Needs-assessment evidence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Workforce voice</a:t>
            </a:r>
          </a:p>
          <a:p>
            <a:pPr algn="l">
              <a:spcAft>
                <a:spcPts val="300"/>
              </a:spcAft>
            </a:pPr>
            <a:r>
              <a:rPr sz="1200" b="0">
                <a:solidFill>
                  <a:srgbClr val="5B6372"/>
                </a:solidFill>
                <a:latin typeface="Arial"/>
              </a:rPr>
              <a:t>Anonymous survey, focus groups, interviews and employee-resource groups.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Operational data</a:t>
            </a:r>
          </a:p>
          <a:p>
            <a:pPr algn="l">
              <a:spcAft>
                <a:spcPts val="300"/>
              </a:spcAft>
            </a:pPr>
            <a:r>
              <a:rPr sz="1200" b="0">
                <a:solidFill>
                  <a:srgbClr val="5B6372"/>
                </a:solidFill>
                <a:latin typeface="Arial"/>
              </a:rPr>
              <a:t>Absence, overtime, turnover, incidents, workload and schedule patterns.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Service data</a:t>
            </a:r>
          </a:p>
          <a:p>
            <a:pPr algn="l">
              <a:spcAft>
                <a:spcPts val="300"/>
              </a:spcAft>
            </a:pPr>
            <a:r>
              <a:rPr sz="1200" b="0">
                <a:solidFill>
                  <a:srgbClr val="5B6372"/>
                </a:solidFill>
                <a:latin typeface="Arial"/>
              </a:rPr>
              <a:t>Aggregated EAP or benefit utilisation and access barriers.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Risk evidence</a:t>
            </a:r>
          </a:p>
          <a:p>
            <a:pPr algn="l">
              <a:spcAft>
                <a:spcPts val="300"/>
              </a:spcAft>
            </a:pPr>
            <a:r>
              <a:rPr sz="1200" b="0">
                <a:solidFill>
                  <a:srgbClr val="5B6372"/>
                </a:solidFill>
                <a:latin typeface="Arial"/>
              </a:rPr>
              <a:t>WSH assessments, ergonomic observations and job-demand reviews.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transition spd="med">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K1 · K2 · K3 · A1 · A2</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Responsible segmentation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59002"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59002"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Choose a decision need</a:t>
            </a:r>
          </a:p>
        </p:txBody>
      </p:sp>
      <p:sp>
        <p:nvSpPr>
          <p:cNvPr id="12" name="TextBox 11"/>
          <p:cNvSpPr txBox="1"/>
          <p:nvPr/>
        </p:nvSpPr>
        <p:spPr>
          <a:xfrm>
            <a:off x="2253996"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601468"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601468"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298323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8323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2747772"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Use relevant groups</a:t>
            </a:r>
          </a:p>
        </p:txBody>
      </p:sp>
      <p:sp>
        <p:nvSpPr>
          <p:cNvPr id="18" name="TextBox 17"/>
          <p:cNvSpPr txBox="1"/>
          <p:nvPr/>
        </p:nvSpPr>
        <p:spPr>
          <a:xfrm>
            <a:off x="407822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4425696"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25696"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807458"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07458"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4572000"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Set minimum cell sizes</a:t>
            </a:r>
          </a:p>
        </p:txBody>
      </p:sp>
      <p:sp>
        <p:nvSpPr>
          <p:cNvPr id="24" name="TextBox 23"/>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6249924"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49924"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63168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3168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6396228"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Compare access and outcomes</a:t>
            </a:r>
          </a:p>
        </p:txBody>
      </p:sp>
      <p:sp>
        <p:nvSpPr>
          <p:cNvPr id="30" name="TextBox 29"/>
          <p:cNvSpPr txBox="1"/>
          <p:nvPr/>
        </p:nvSpPr>
        <p:spPr>
          <a:xfrm>
            <a:off x="772668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8074152"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74152"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45591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5591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8220456"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Avoid stereotyping</a:t>
            </a:r>
          </a:p>
        </p:txBody>
      </p:sp>
      <p:sp>
        <p:nvSpPr>
          <p:cNvPr id="36" name="TextBox 35"/>
          <p:cNvSpPr txBox="1"/>
          <p:nvPr/>
        </p:nvSpPr>
        <p:spPr>
          <a:xfrm>
            <a:off x="9550908"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7" name="Rectangle 36"/>
          <p:cNvSpPr/>
          <p:nvPr/>
        </p:nvSpPr>
        <p:spPr>
          <a:xfrm>
            <a:off x="989838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98380"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280142"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280142"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6</a:t>
            </a:r>
          </a:p>
        </p:txBody>
      </p:sp>
      <p:sp>
        <p:nvSpPr>
          <p:cNvPr id="41" name="TextBox 40"/>
          <p:cNvSpPr txBox="1"/>
          <p:nvPr/>
        </p:nvSpPr>
        <p:spPr>
          <a:xfrm>
            <a:off x="10044684"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Co-design targeted support</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transition spd="med">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K1 · K2 · K3 · A1 · A2</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Workplace wellbeing trends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Whole-person design</a:t>
            </a:r>
          </a:p>
          <a:p>
            <a:pPr algn="l">
              <a:spcAft>
                <a:spcPts val="300"/>
              </a:spcAft>
            </a:pPr>
            <a:r>
              <a:rPr sz="1200" b="0">
                <a:solidFill>
                  <a:srgbClr val="5B6372"/>
                </a:solidFill>
                <a:latin typeface="Arial"/>
              </a:rPr>
              <a:t>Connect physical, mental, social, financial and career support.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Hybrid access</a:t>
            </a:r>
          </a:p>
          <a:p>
            <a:pPr algn="l">
              <a:spcAft>
                <a:spcPts val="300"/>
              </a:spcAft>
            </a:pPr>
            <a:r>
              <a:rPr sz="1200" b="0">
                <a:solidFill>
                  <a:srgbClr val="5B6372"/>
                </a:solidFill>
                <a:latin typeface="Arial"/>
              </a:rPr>
              <a:t>Blend onsite, remote, synchronous and self-directed pathways.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Personalisation</a:t>
            </a:r>
          </a:p>
          <a:p>
            <a:pPr algn="l">
              <a:spcAft>
                <a:spcPts val="300"/>
              </a:spcAft>
            </a:pPr>
            <a:r>
              <a:rPr sz="1200" b="0">
                <a:solidFill>
                  <a:srgbClr val="5B6372"/>
                </a:solidFill>
                <a:latin typeface="Arial"/>
              </a:rPr>
              <a:t>Offer choice while protecting privacy and accessibility.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System accountability</a:t>
            </a:r>
          </a:p>
          <a:p>
            <a:pPr algn="l">
              <a:spcAft>
                <a:spcPts val="300"/>
              </a:spcAft>
            </a:pPr>
            <a:r>
              <a:rPr sz="1200" b="0">
                <a:solidFill>
                  <a:srgbClr val="5B6372"/>
                </a:solidFill>
                <a:latin typeface="Arial"/>
              </a:rPr>
              <a:t>Measure manager and job-design conditions, not only individual habits.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transition spd="med">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K1 · K2 · K3 · A1 · A2</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Technology options and trade-offs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Wearables</a:t>
            </a:r>
          </a:p>
          <a:p>
            <a:pPr algn="l">
              <a:spcAft>
                <a:spcPts val="300"/>
              </a:spcAft>
            </a:pPr>
            <a:r>
              <a:rPr sz="1200" b="0">
                <a:solidFill>
                  <a:srgbClr val="5B6372"/>
                </a:solidFill>
                <a:latin typeface="Arial"/>
              </a:rPr>
              <a:t>Continuous feedback can motivate, but creates surveillance and accuracy risks.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Telehealth</a:t>
            </a:r>
          </a:p>
          <a:p>
            <a:pPr algn="l">
              <a:spcAft>
                <a:spcPts val="300"/>
              </a:spcAft>
            </a:pPr>
            <a:r>
              <a:rPr sz="1200" b="0">
                <a:solidFill>
                  <a:srgbClr val="5B6372"/>
                </a:solidFill>
                <a:latin typeface="Arial"/>
              </a:rPr>
              <a:t>Improves reach, but depends on clinical quality, privacy and digital access.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Apps and gamification</a:t>
            </a:r>
          </a:p>
          <a:p>
            <a:pPr algn="l">
              <a:spcAft>
                <a:spcPts val="300"/>
              </a:spcAft>
            </a:pPr>
            <a:r>
              <a:rPr sz="1200" b="0">
                <a:solidFill>
                  <a:srgbClr val="5B6372"/>
                </a:solidFill>
                <a:latin typeface="Arial"/>
              </a:rPr>
              <a:t>Can support habits; novelty, competition and accessibility may limit benefit.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AI coaching</a:t>
            </a:r>
          </a:p>
          <a:p>
            <a:pPr algn="l">
              <a:spcAft>
                <a:spcPts val="300"/>
              </a:spcAft>
            </a:pPr>
            <a:r>
              <a:rPr sz="1200" b="0">
                <a:solidFill>
                  <a:srgbClr val="5B6372"/>
                </a:solidFill>
                <a:latin typeface="Arial"/>
              </a:rPr>
              <a:t>Scales prompts and navigation; requires safety boundaries, bias checks and human escalation.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transition spd="med">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K1 · K2 · K3 · A1 · A2</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Evidence-to-decision pipeline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59002"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59002"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Frame the problem</a:t>
            </a:r>
          </a:p>
        </p:txBody>
      </p:sp>
      <p:sp>
        <p:nvSpPr>
          <p:cNvPr id="12" name="TextBox 11"/>
          <p:cNvSpPr txBox="1"/>
          <p:nvPr/>
        </p:nvSpPr>
        <p:spPr>
          <a:xfrm>
            <a:off x="2253996"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601468"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601468"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298323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8323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2747772"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Search credible sources</a:t>
            </a:r>
          </a:p>
        </p:txBody>
      </p:sp>
      <p:sp>
        <p:nvSpPr>
          <p:cNvPr id="18" name="TextBox 17"/>
          <p:cNvSpPr txBox="1"/>
          <p:nvPr/>
        </p:nvSpPr>
        <p:spPr>
          <a:xfrm>
            <a:off x="407822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4425696"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25696"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807458"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07458"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4572000"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Appraise relevance and quality</a:t>
            </a:r>
          </a:p>
        </p:txBody>
      </p:sp>
      <p:sp>
        <p:nvSpPr>
          <p:cNvPr id="24" name="TextBox 23"/>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6249924"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49924"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63168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3168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6396228"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Compare with workforce evidence</a:t>
            </a:r>
          </a:p>
        </p:txBody>
      </p:sp>
      <p:sp>
        <p:nvSpPr>
          <p:cNvPr id="30" name="TextBox 29"/>
          <p:cNvSpPr txBox="1"/>
          <p:nvPr/>
        </p:nvSpPr>
        <p:spPr>
          <a:xfrm>
            <a:off x="772668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8074152"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74152"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45591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5591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8220456"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Pilot with safeguards</a:t>
            </a:r>
          </a:p>
        </p:txBody>
      </p:sp>
      <p:sp>
        <p:nvSpPr>
          <p:cNvPr id="36" name="TextBox 35"/>
          <p:cNvSpPr txBox="1"/>
          <p:nvPr/>
        </p:nvSpPr>
        <p:spPr>
          <a:xfrm>
            <a:off x="9550908"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7" name="Rectangle 36"/>
          <p:cNvSpPr/>
          <p:nvPr/>
        </p:nvSpPr>
        <p:spPr>
          <a:xfrm>
            <a:off x="989838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98380"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280142"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280142"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6</a:t>
            </a:r>
          </a:p>
        </p:txBody>
      </p:sp>
      <p:sp>
        <p:nvSpPr>
          <p:cNvPr id="41" name="TextBox 40"/>
          <p:cNvSpPr txBox="1"/>
          <p:nvPr/>
        </p:nvSpPr>
        <p:spPr>
          <a:xfrm>
            <a:off x="10044684"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Decide, monitor and adapt</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transition spd="med">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TOPIC 01 · K1 · K2 · K3 · A1 · A2</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 fashionable tool is not a wellbeing outcome.</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Choose technology only when a defined need, safeguard and measure justify it.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transition spd="med">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REAL-USE-CASE DECISIONS</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400" b="1">
                <a:solidFill>
                  <a:srgbClr val="161B26"/>
                </a:solidFill>
                <a:latin typeface="Arial"/>
              </a:rPr>
              <a:t>Applied Activities — Workplace Health, Wellness and Evidence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Activity 1</a:t>
            </a:r>
          </a:p>
          <a:p>
            <a:pPr algn="l">
              <a:spcAft>
                <a:spcPts val="300"/>
              </a:spcAft>
            </a:pPr>
            <a:r>
              <a:rPr sz="1000" b="0">
                <a:solidFill>
                  <a:srgbClr val="5B6372"/>
                </a:solidFill>
                <a:latin typeface="Arial"/>
              </a:rPr>
              <a:t>Privacy-Safe Wearable Wellness Pilot · K1 · K3 · A1 · A2 · LO1</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Activity 2</a:t>
            </a:r>
          </a:p>
          <a:p>
            <a:pPr algn="l">
              <a:spcAft>
                <a:spcPts val="300"/>
              </a:spcAft>
            </a:pPr>
            <a:r>
              <a:rPr sz="1000" b="0">
                <a:solidFill>
                  <a:srgbClr val="5B6372"/>
                </a:solidFill>
                <a:latin typeface="Arial"/>
              </a:rPr>
              <a:t>Segmented Workforce Wellbeing Needs Assessment · K2 · A3 · LO2</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Activity 3</a:t>
            </a:r>
          </a:p>
          <a:p>
            <a:pPr algn="l">
              <a:spcAft>
                <a:spcPts val="300"/>
              </a:spcAft>
            </a:pPr>
            <a:r>
              <a:rPr sz="1000" b="0">
                <a:solidFill>
                  <a:srgbClr val="5B6372"/>
                </a:solidFill>
                <a:latin typeface="Arial"/>
              </a:rPr>
              <a:t>Evidence and Technology Selection Board · K3 · A1 · A2 · LO1</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Evidence boundary</a:t>
            </a:r>
          </a:p>
          <a:p>
            <a:pPr algn="l">
              <a:spcAft>
                <a:spcPts val="300"/>
              </a:spcAft>
            </a:pPr>
            <a:r>
              <a:rPr sz="1000" b="0">
                <a:solidFill>
                  <a:srgbClr val="5B6372"/>
                </a:solidFill>
                <a:latin typeface="Arial"/>
              </a:rPr>
              <a:t>Published evidence and requirements are separated from fictional workplace inputs.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transition spd="med">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LEARNING UNIT 01 · K1 · K3 · A1 · A2 · LO1</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Privacy-Safe Wearable Wellness Pilot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Assess whether a voluntary wearable pilot can address a defined employee need without creating surveillance, exclusion or unsafe data use.</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Data-flow map, privacy-and-equity risk register and conditional pilot decision</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 evidence:  </a:t>
            </a:r>
            <a:r>
              <a:rPr sz="1300" b="0">
                <a:solidFill>
                  <a:srgbClr val="5B6372"/>
                </a:solidFill>
                <a:latin typeface="Arial"/>
              </a:rPr>
              <a:t>PDPC obligations · wearable vendor fact sheet · employee personas · pilot decision canvas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transition spd="med">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 · REAL EVENT</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Case Scenario — Public Facts and Training Guardrails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Reported / sourced</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Training assumptions / limits</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Singapore's PDPA sets obligations including accountability, notification, consent, purpose limitation, accuracy, protection, retention limitation, transfer limitation and applicable access/correction rights. These obligations shape the design of employer-sponsored wellbeing data flows.</a:t>
            </a:r>
          </a:p>
          <a:p>
            <a:pPr>
              <a:spcAft>
                <a:spcPts val="1000"/>
              </a:spcAft>
            </a:pPr>
            <a:r>
              <a:rPr sz="1600" b="0">
                <a:solidFill>
                  <a:srgbClr val="161B26"/>
                </a:solidFill>
                <a:latin typeface="Arial"/>
              </a:rPr>
              <a:t>•  Full source is recorded in speaker notes and the Learner Guide.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MarinaLink Logistics, all workforce figures and vendor terms are fictional training inputs.</a:t>
            </a:r>
          </a:p>
          <a:p>
            <a:pPr>
              <a:spcAft>
                <a:spcPts val="1000"/>
              </a:spcAft>
            </a:pPr>
            <a:r>
              <a:rPr sz="1600" b="0">
                <a:solidFill>
                  <a:srgbClr val="161B26"/>
                </a:solidFill>
                <a:latin typeface="Arial"/>
              </a:rPr>
              <a:t>•  The proposed device records steps, heart rate, sleep estimates, location during challenges and a user identifier.</a:t>
            </a:r>
          </a:p>
          <a:p>
            <a:pPr>
              <a:spcAft>
                <a:spcPts val="1000"/>
              </a:spcAft>
            </a:pPr>
            <a:r>
              <a:rPr sz="1600" b="0">
                <a:solidFill>
                  <a:srgbClr val="161B26"/>
                </a:solidFill>
                <a:latin typeface="Arial"/>
              </a:rPr>
              <a:t>•  Participation is advertised as voluntary, but line managers will distribute devices and see individual dashboards under the draft plan.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transition spd="med">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ACTIVITY 1 · DISCUSS AND DECIDE</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Activity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What decision purpose is necessary and proportionate, and which proposed fields are excessive?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Where could power imbalance undermine voluntariness or trust?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Which privacy, accessibility and fairness controls are pilot gates?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Should the pilot proceed, proceed conditionally or stop—and what evidence supports the decision?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transition spd="med">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 · ACCEPTANCE TEST</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Privacy-Safe Wearable Wellness Pilot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The submission defines a necessary purpose, minimises fields, removes manager access to individual data, offers a genuine alternative, specifies reporting thresholds and assigns every residual risk to an owner and gate.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transition spd="med">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LEARNING UNIT 01 · K2 · A3 · LO2</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Segmented Workforce Wellbeing Needs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Combine workforce voice and operational signals to prioritise needs without diagnosing employees or exposing small groups.</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Segmented needs matrix, evidence-quality log and priority statement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 evidence:  </a:t>
            </a:r>
            <a:r>
              <a:rPr sz="1300" b="0">
                <a:solidFill>
                  <a:srgbClr val="5B6372"/>
                </a:solidFill>
                <a:latin typeface="Arial"/>
              </a:rPr>
              <a:t>Gallup wellbeing model · fictional pulse data · focus-group extracts · operational indicators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transition spd="med">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2 · REAL EVENT</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Case Scenario — Public Facts and Training Guardrails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Reported / sourced</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Training assumptions / limits</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Gallup frames wellbeing through career, social, financial, physical and community elements and links the employee experience to outcomes such as engagement, absence and retention. The framework is a lens for inquiry, not a diagnostic instrument.</a:t>
            </a:r>
          </a:p>
          <a:p>
            <a:pPr>
              <a:spcAft>
                <a:spcPts val="1000"/>
              </a:spcAft>
            </a:pPr>
            <a:r>
              <a:rPr sz="1600" b="0">
                <a:solidFill>
                  <a:srgbClr val="161B26"/>
                </a:solidFill>
                <a:latin typeface="Arial"/>
              </a:rPr>
              <a:t>•  Full source is recorded in speaker notes and the Learner Guide.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All survey, absence, overtime, turnover and focus-group data in the activity pack are fictional.</a:t>
            </a:r>
          </a:p>
          <a:p>
            <a:pPr>
              <a:spcAft>
                <a:spcPts val="1000"/>
              </a:spcAft>
            </a:pPr>
            <a:r>
              <a:rPr sz="1600" b="0">
                <a:solidFill>
                  <a:srgbClr val="161B26"/>
                </a:solidFill>
                <a:latin typeface="Arial"/>
              </a:rPr>
              <a:t>•  Groups with fewer than ten responses must not be reported separately.</a:t>
            </a:r>
          </a:p>
          <a:p>
            <a:pPr>
              <a:spcAft>
                <a:spcPts val="1000"/>
              </a:spcAft>
            </a:pPr>
            <a:r>
              <a:rPr sz="1600" b="0">
                <a:solidFill>
                  <a:srgbClr val="161B26"/>
                </a:solidFill>
                <a:latin typeface="Arial"/>
              </a:rPr>
              <a:t>•  Operational indicators have multiple possible causes and cannot diagnose health conditions.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transition spd="med">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ACTIVITY 2 · DISCUSS AND DECIDE</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Activity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What can each evidence source support, and what can it not support?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Which needs are shared and which differ by workforce group?</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Where could response bias, small numbers or stereotyping distort the result?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Which two priorities should management address first, and why?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transition spd="med">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2 · ACCEPTANCE TEST</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Segmented Workforce Wellbeing Needs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Every priority uses at least two evidence signals, small groups are suppressed, uncertainty is explicit, no condition is diagnosed, and recommended action addresses a workplace factor plus an access need.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transition spd="med">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60 minutes</a:t>
            </a:r>
          </a:p>
        </p:txBody>
      </p:sp>
    </p:spTree>
  </p:cSld>
  <p:clrMapOvr>
    <a:masterClrMapping/>
  </p:clrMapOvr>
  <p:transition spd="med">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LEARNING UNIT 01 · K3 · A1 · A2 · LO1</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Evidence and Technology Selection Board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Compare wearables, telehealth, wellbeing apps, gamification and AI coaching against evidence, need, safety, inclusion and implementation fit.</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Evidence appraisal table, weighted option matrix and pilot hypothesis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 evidence:  </a:t>
            </a:r>
            <a:r>
              <a:rPr sz="1300" b="0">
                <a:solidFill>
                  <a:srgbClr val="5B6372"/>
                </a:solidFill>
                <a:latin typeface="Arial"/>
              </a:rPr>
              <a:t>NCBI programme evidence · McKinsey research · technology briefs · appraisal rubric</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transition spd="med">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3 · REAL EVENT</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Case Scenario — Public Facts and Training Guardrails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Reported / sourced</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Training assumptions / limits</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The NCBI review describes employee wellness programmes as employer-sponsored efforts to support healthy behaviour and reduce health risk, and stresses leadership, alignment, scope, accessibility, partnerships and communication. It also notes participation barriers such as awareness, time, manager support, perceived benefit, access and privacy.</a:t>
            </a:r>
          </a:p>
          <a:p>
            <a:pPr>
              <a:spcAft>
                <a:spcPts val="1000"/>
              </a:spcAft>
            </a:pPr>
            <a:r>
              <a:rPr sz="1600" b="0">
                <a:solidFill>
                  <a:srgbClr val="161B26"/>
                </a:solidFill>
                <a:latin typeface="Arial"/>
              </a:rPr>
              <a:t>•  Full source is recorded in speaker notes and the Learner Guide.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Vendor claims, prices and implementation times are fictional and have not been independently validated.</a:t>
            </a:r>
          </a:p>
          <a:p>
            <a:pPr>
              <a:spcAft>
                <a:spcPts val="1000"/>
              </a:spcAft>
            </a:pPr>
            <a:r>
              <a:rPr sz="1600" b="0">
                <a:solidFill>
                  <a:srgbClr val="161B26"/>
                </a:solidFill>
                <a:latin typeface="Arial"/>
              </a:rPr>
              <a:t>•  The workforce need is access to timely support and recovery, not increased monitoring.</a:t>
            </a:r>
          </a:p>
          <a:p>
            <a:pPr>
              <a:spcAft>
                <a:spcPts val="1000"/>
              </a:spcAft>
            </a:pPr>
            <a:r>
              <a:rPr sz="1600" b="0">
                <a:solidFill>
                  <a:srgbClr val="161B26"/>
                </a:solidFill>
                <a:latin typeface="Arial"/>
              </a:rPr>
              <a:t>•  Mobile access and English literacy vary across groups.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transition spd="med">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ACTIVITY 3 · DISCUSS AND DECIDE</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Activity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Which source claims are credible, relevant and transferable to this workforce?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What employee need does each option address—and what new risk does it create?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Which criteria and weights should govern the choice?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What pilot result would justify scale, adaptation or termination?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transition spd="med">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3 · ACCEPTANCE TEST</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Evidence and Technology Selection Board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The recommendation distinguishes research from vendor claims, maps each option to a defined need, includes privacy and accessibility gates, tests weight sensitivity and states scale/adapt/stop criteria.</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transition spd="med">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UNIT RECAP</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Recap — Workplace Health, Wellness and Evidence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Privacy-Safe Wearable Wellness Pilot</a:t>
            </a:r>
          </a:p>
          <a:p>
            <a:pPr algn="l">
              <a:spcAft>
                <a:spcPts val="300"/>
              </a:spcAft>
            </a:pPr>
            <a:r>
              <a:rPr sz="1100" b="0">
                <a:solidFill>
                  <a:srgbClr val="5B6372"/>
                </a:solidFill>
                <a:latin typeface="Arial"/>
              </a:rPr>
              <a:t>Apply legislative and ethical requirements to a workplace wellness technology decision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Segmented Workforce Wellbeing Needs Assessment</a:t>
            </a:r>
          </a:p>
          <a:p>
            <a:pPr algn="l">
              <a:spcAft>
                <a:spcPts val="300"/>
              </a:spcAft>
            </a:pPr>
            <a:r>
              <a:rPr sz="1100" b="0">
                <a:solidFill>
                  <a:srgbClr val="5B6372"/>
                </a:solidFill>
                <a:latin typeface="Arial"/>
              </a:rPr>
              <a:t>Identify the current health and wellness state of different employee groups using privacy-safe evidence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Evidence and Technology Selection Board</a:t>
            </a:r>
          </a:p>
          <a:p>
            <a:pPr algn="l">
              <a:spcAft>
                <a:spcPts val="300"/>
              </a:spcAft>
            </a:pPr>
            <a:r>
              <a:rPr sz="1100" b="0">
                <a:solidFill>
                  <a:srgbClr val="5B6372"/>
                </a:solidFill>
                <a:latin typeface="Arial"/>
              </a:rPr>
              <a:t>Identify and appraise wellbeing trends, technologies and research for workplace relevance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Evidence habit</a:t>
            </a:r>
          </a:p>
          <a:p>
            <a:pPr algn="l">
              <a:spcAft>
                <a:spcPts val="300"/>
              </a:spcAft>
            </a:pPr>
            <a:r>
              <a:rPr sz="1100" b="0">
                <a:solidFill>
                  <a:srgbClr val="5B6372"/>
                </a:solidFill>
                <a:latin typeface="Arial"/>
              </a:rPr>
              <a:t>Separate public facts, organisation evidence and training assumptions.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Management habit</a:t>
            </a:r>
          </a:p>
          <a:p>
            <a:pPr algn="l">
              <a:spcAft>
                <a:spcPts val="300"/>
              </a:spcAft>
            </a:pPr>
            <a:r>
              <a:rPr sz="1100" b="0">
                <a:solidFill>
                  <a:srgbClr val="5B6372"/>
                </a:solidFill>
                <a:latin typeface="Arial"/>
              </a:rPr>
              <a:t>Link every priority, risk or finding to an owner and review trigger.</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transition spd="med">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LEARNING UNIT 02 · K4 · K5 · A3 · A4</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Programme Design and Implementation</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programme portfolio · inclusion · policy-to-practice · resilience · participation · governance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transition spd="med">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TSC HRS-HRM-3019-1.1</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Key Concepts — Programme Design and Implementation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Portfolio</a:t>
            </a:r>
          </a:p>
          <a:p>
            <a:pPr algn="l">
              <a:spcAft>
                <a:spcPts val="300"/>
              </a:spcAft>
            </a:pPr>
            <a:r>
              <a:rPr sz="1200" b="0">
                <a:solidFill>
                  <a:srgbClr val="5B6372"/>
                </a:solidFill>
                <a:latin typeface="Arial"/>
              </a:rPr>
              <a:t>Combine prevention, protection, early help, support and recovery rather than relying on one programme.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Fit</a:t>
            </a:r>
          </a:p>
          <a:p>
            <a:pPr algn="l">
              <a:spcAft>
                <a:spcPts val="300"/>
              </a:spcAft>
            </a:pPr>
            <a:r>
              <a:rPr sz="1200" b="0">
                <a:solidFill>
                  <a:srgbClr val="5B6372"/>
                </a:solidFill>
                <a:latin typeface="Arial"/>
              </a:rPr>
              <a:t>Design for employee needs, operating context, access barriers and cultural expectations.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Implementation</a:t>
            </a:r>
          </a:p>
          <a:p>
            <a:pPr algn="l">
              <a:spcAft>
                <a:spcPts val="300"/>
              </a:spcAft>
            </a:pPr>
            <a:r>
              <a:rPr sz="1200" b="0">
                <a:solidFill>
                  <a:srgbClr val="5B6372"/>
                </a:solidFill>
                <a:latin typeface="Arial"/>
              </a:rPr>
              <a:t>Turn policy into roles, routines, resources, escalation and evidence.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Resilience</a:t>
            </a:r>
          </a:p>
          <a:p>
            <a:pPr algn="l">
              <a:spcAft>
                <a:spcPts val="300"/>
              </a:spcAft>
            </a:pPr>
            <a:r>
              <a:rPr sz="1200" b="0">
                <a:solidFill>
                  <a:srgbClr val="5B6372"/>
                </a:solidFill>
                <a:latin typeface="Arial"/>
              </a:rPr>
              <a:t>Build individual, team and organisational capacity while reducing preventable demands.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transition spd="med">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TOPIC 02 · K4 · K5 · A3 · A4</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Start with the work, then add support.</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A resilience workshop cannot compensate for chronic overload, unclear priorities or unsafe management behaviour.</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transition spd="med">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K4 · K5 · A3 · A4</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Programme portfolio</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Prevention</a:t>
            </a:r>
          </a:p>
          <a:p>
            <a:pPr algn="l">
              <a:spcAft>
                <a:spcPts val="300"/>
              </a:spcAft>
            </a:pPr>
            <a:r>
              <a:rPr sz="1200" b="0">
                <a:solidFill>
                  <a:srgbClr val="5B6372"/>
                </a:solidFill>
                <a:latin typeface="Arial"/>
              </a:rPr>
              <a:t>Healthy work design, risk reduction, ergonomics, financial capability and connection.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Promotion</a:t>
            </a:r>
          </a:p>
          <a:p>
            <a:pPr algn="l">
              <a:spcAft>
                <a:spcPts val="300"/>
              </a:spcAft>
            </a:pPr>
            <a:r>
              <a:rPr sz="1200" b="0">
                <a:solidFill>
                  <a:srgbClr val="5B6372"/>
                </a:solidFill>
                <a:latin typeface="Arial"/>
              </a:rPr>
              <a:t>Movement, nutrition, sleep, learning and inclusive social participation.</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Early help</a:t>
            </a:r>
          </a:p>
          <a:p>
            <a:pPr algn="l">
              <a:spcAft>
                <a:spcPts val="300"/>
              </a:spcAft>
            </a:pPr>
            <a:r>
              <a:rPr sz="1200" b="0">
                <a:solidFill>
                  <a:srgbClr val="5B6372"/>
                </a:solidFill>
                <a:latin typeface="Arial"/>
              </a:rPr>
              <a:t>Manager conversations, screening boundaries, navigation and EAP access.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Treatment and recovery</a:t>
            </a:r>
          </a:p>
          <a:p>
            <a:pPr algn="l">
              <a:spcAft>
                <a:spcPts val="300"/>
              </a:spcAft>
            </a:pPr>
            <a:r>
              <a:rPr sz="1200" b="0">
                <a:solidFill>
                  <a:srgbClr val="5B6372"/>
                </a:solidFill>
                <a:latin typeface="Arial"/>
              </a:rPr>
              <a:t>Benefits, clinical pathways, adjustments and return-to-work support.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transition spd="med">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K4 · K5 · A3 · A4</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Common programme types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Physical wellbeing</a:t>
            </a:r>
          </a:p>
          <a:p>
            <a:pPr algn="l">
              <a:spcAft>
                <a:spcPts val="300"/>
              </a:spcAft>
            </a:pPr>
            <a:r>
              <a:rPr sz="1200" b="0">
                <a:solidFill>
                  <a:srgbClr val="5B6372"/>
                </a:solidFill>
                <a:latin typeface="Arial"/>
              </a:rPr>
              <a:t>Activity, ergonomics, preventive checks, nutrition and chronic-condition support.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Mental wellbeing</a:t>
            </a:r>
          </a:p>
          <a:p>
            <a:pPr algn="l">
              <a:spcAft>
                <a:spcPts val="300"/>
              </a:spcAft>
            </a:pPr>
            <a:r>
              <a:rPr sz="1200" b="0">
                <a:solidFill>
                  <a:srgbClr val="5B6372"/>
                </a:solidFill>
                <a:latin typeface="Arial"/>
              </a:rPr>
              <a:t>Psychological safety, EAP, counselling, peer support and manager capability.</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Financial wellbeing</a:t>
            </a:r>
          </a:p>
          <a:p>
            <a:pPr algn="l">
              <a:spcAft>
                <a:spcPts val="300"/>
              </a:spcAft>
            </a:pPr>
            <a:r>
              <a:rPr sz="1200" b="0">
                <a:solidFill>
                  <a:srgbClr val="5B6372"/>
                </a:solidFill>
                <a:latin typeface="Arial"/>
              </a:rPr>
              <a:t>Budgeting, debt support, benefits navigation and retirement planning.</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Social and community</a:t>
            </a:r>
          </a:p>
          <a:p>
            <a:pPr algn="l">
              <a:spcAft>
                <a:spcPts val="300"/>
              </a:spcAft>
            </a:pPr>
            <a:r>
              <a:rPr sz="1200" b="0">
                <a:solidFill>
                  <a:srgbClr val="5B6372"/>
                </a:solidFill>
                <a:latin typeface="Arial"/>
              </a:rPr>
              <a:t>Connection, volunteering, inclusion and team practices.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transition spd="med">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K4 · K5 · A3 · A4</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Disease management and prevention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Perspective A</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Perspective B</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Disease-management support serves employees with an identified condition.</a:t>
            </a:r>
          </a:p>
          <a:p>
            <a:pPr>
              <a:spcAft>
                <a:spcPts val="1000"/>
              </a:spcAft>
            </a:pPr>
            <a:r>
              <a:rPr sz="1600" b="0">
                <a:solidFill>
                  <a:srgbClr val="161B26"/>
                </a:solidFill>
                <a:latin typeface="Arial"/>
              </a:rPr>
              <a:t>•  It may include navigation, medication adherence and work adjustment.</a:t>
            </a:r>
          </a:p>
          <a:p>
            <a:pPr>
              <a:spcAft>
                <a:spcPts val="1000"/>
              </a:spcAft>
            </a:pPr>
            <a:r>
              <a:rPr sz="1600" b="0">
                <a:solidFill>
                  <a:srgbClr val="161B26"/>
                </a:solidFill>
                <a:latin typeface="Arial"/>
              </a:rPr>
              <a:t>•  Clinical decisions belong with qualified professionals.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Prevention reduces risk and strengthens protective conditions before harm.</a:t>
            </a:r>
          </a:p>
          <a:p>
            <a:pPr>
              <a:spcAft>
                <a:spcPts val="1000"/>
              </a:spcAft>
            </a:pPr>
            <a:r>
              <a:rPr sz="1600" b="0">
                <a:solidFill>
                  <a:srgbClr val="161B26"/>
                </a:solidFill>
                <a:latin typeface="Arial"/>
              </a:rPr>
              <a:t>•  It includes job design, safe work, vaccination access and healthy environments.</a:t>
            </a:r>
          </a:p>
          <a:p>
            <a:pPr>
              <a:spcAft>
                <a:spcPts val="1000"/>
              </a:spcAft>
            </a:pPr>
            <a:r>
              <a:rPr sz="1600" b="0">
                <a:solidFill>
                  <a:srgbClr val="161B26"/>
                </a:solidFill>
                <a:latin typeface="Arial"/>
              </a:rPr>
              <a:t>•  Universal support can be combined with targeted pathways.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transition spd="med">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K4 · K5 · A3 · A4</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Programme design cycle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59002"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59002"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Diagnose needs</a:t>
            </a:r>
          </a:p>
        </p:txBody>
      </p:sp>
      <p:sp>
        <p:nvSpPr>
          <p:cNvPr id="12" name="TextBox 11"/>
          <p:cNvSpPr txBox="1"/>
          <p:nvPr/>
        </p:nvSpPr>
        <p:spPr>
          <a:xfrm>
            <a:off x="2253996"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601468"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601468"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298323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8323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2747772"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Prioritise outcomes</a:t>
            </a:r>
          </a:p>
        </p:txBody>
      </p:sp>
      <p:sp>
        <p:nvSpPr>
          <p:cNvPr id="18" name="TextBox 17"/>
          <p:cNvSpPr txBox="1"/>
          <p:nvPr/>
        </p:nvSpPr>
        <p:spPr>
          <a:xfrm>
            <a:off x="407822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4425696"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25696"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807458"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07458"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4572000"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Co-design interventions</a:t>
            </a:r>
          </a:p>
        </p:txBody>
      </p:sp>
      <p:sp>
        <p:nvSpPr>
          <p:cNvPr id="24" name="TextBox 23"/>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6249924"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49924"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63168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3168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6396228"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Plan safeguards and delivery</a:t>
            </a:r>
          </a:p>
        </p:txBody>
      </p:sp>
      <p:sp>
        <p:nvSpPr>
          <p:cNvPr id="30" name="TextBox 29"/>
          <p:cNvSpPr txBox="1"/>
          <p:nvPr/>
        </p:nvSpPr>
        <p:spPr>
          <a:xfrm>
            <a:off x="772668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8074152"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74152"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45591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5591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8220456"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Pilot</a:t>
            </a:r>
          </a:p>
        </p:txBody>
      </p:sp>
      <p:sp>
        <p:nvSpPr>
          <p:cNvPr id="36" name="TextBox 35"/>
          <p:cNvSpPr txBox="1"/>
          <p:nvPr/>
        </p:nvSpPr>
        <p:spPr>
          <a:xfrm>
            <a:off x="9550908"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7" name="Rectangle 36"/>
          <p:cNvSpPr/>
          <p:nvPr/>
        </p:nvSpPr>
        <p:spPr>
          <a:xfrm>
            <a:off x="989838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98380"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280142"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280142"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6</a:t>
            </a:r>
          </a:p>
        </p:txBody>
      </p:sp>
      <p:sp>
        <p:nvSpPr>
          <p:cNvPr id="41" name="TextBox 40"/>
          <p:cNvSpPr txBox="1"/>
          <p:nvPr/>
        </p:nvSpPr>
        <p:spPr>
          <a:xfrm>
            <a:off x="10044684"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Evaluate and improve</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transition spd="med">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K4 · K5 · A3 · A4</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Quality design criteria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Relevant</a:t>
            </a:r>
          </a:p>
          <a:p>
            <a:pPr algn="l">
              <a:spcAft>
                <a:spcPts val="300"/>
              </a:spcAft>
            </a:pPr>
            <a:r>
              <a:rPr sz="1200" b="0">
                <a:solidFill>
                  <a:srgbClr val="5B6372"/>
                </a:solidFill>
                <a:latin typeface="Arial"/>
              </a:rPr>
              <a:t>Addresses a material, evidenced need and defined employee group.</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Accessible</a:t>
            </a:r>
          </a:p>
          <a:p>
            <a:pPr algn="l">
              <a:spcAft>
                <a:spcPts val="300"/>
              </a:spcAft>
            </a:pPr>
            <a:r>
              <a:rPr sz="1200" b="0">
                <a:solidFill>
                  <a:srgbClr val="5B6372"/>
                </a:solidFill>
                <a:latin typeface="Arial"/>
              </a:rPr>
              <a:t>Works across shift, location, language, disability, caregiving and device constraints.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Safe</a:t>
            </a:r>
          </a:p>
          <a:p>
            <a:pPr algn="l">
              <a:spcAft>
                <a:spcPts val="300"/>
              </a:spcAft>
            </a:pPr>
            <a:r>
              <a:rPr sz="1200" b="0">
                <a:solidFill>
                  <a:srgbClr val="5B6372"/>
                </a:solidFill>
                <a:latin typeface="Arial"/>
              </a:rPr>
              <a:t>Protects privacy, clinical boundaries, voluntariness and escalation.</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Evaluable</a:t>
            </a:r>
          </a:p>
          <a:p>
            <a:pPr algn="l">
              <a:spcAft>
                <a:spcPts val="300"/>
              </a:spcAft>
            </a:pPr>
            <a:r>
              <a:rPr sz="1200" b="0">
                <a:solidFill>
                  <a:srgbClr val="5B6372"/>
                </a:solidFill>
                <a:latin typeface="Arial"/>
              </a:rPr>
              <a:t>Has baseline, logic, owner, measures and review timing.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transition spd="med">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K4 · K5 · A3 · A4</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Policy-to-practice chain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59002"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59002"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Policy intent</a:t>
            </a:r>
          </a:p>
        </p:txBody>
      </p:sp>
      <p:sp>
        <p:nvSpPr>
          <p:cNvPr id="12" name="TextBox 11"/>
          <p:cNvSpPr txBox="1"/>
          <p:nvPr/>
        </p:nvSpPr>
        <p:spPr>
          <a:xfrm>
            <a:off x="2253996"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601468"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601468"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298323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8323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2747772"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Role and decision right</a:t>
            </a:r>
          </a:p>
        </p:txBody>
      </p:sp>
      <p:sp>
        <p:nvSpPr>
          <p:cNvPr id="18" name="TextBox 17"/>
          <p:cNvSpPr txBox="1"/>
          <p:nvPr/>
        </p:nvSpPr>
        <p:spPr>
          <a:xfrm>
            <a:off x="407822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4425696"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25696"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807458"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07458"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4572000"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Daily routine</a:t>
            </a:r>
          </a:p>
        </p:txBody>
      </p:sp>
      <p:sp>
        <p:nvSpPr>
          <p:cNvPr id="24" name="TextBox 23"/>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6249924"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49924"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63168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3168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6396228"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Tool or resource</a:t>
            </a:r>
          </a:p>
        </p:txBody>
      </p:sp>
      <p:sp>
        <p:nvSpPr>
          <p:cNvPr id="30" name="TextBox 29"/>
          <p:cNvSpPr txBox="1"/>
          <p:nvPr/>
        </p:nvSpPr>
        <p:spPr>
          <a:xfrm>
            <a:off x="772668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8074152"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74152"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45591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5591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8220456"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Evidence of use</a:t>
            </a:r>
          </a:p>
        </p:txBody>
      </p:sp>
      <p:sp>
        <p:nvSpPr>
          <p:cNvPr id="36" name="TextBox 35"/>
          <p:cNvSpPr txBox="1"/>
          <p:nvPr/>
        </p:nvSpPr>
        <p:spPr>
          <a:xfrm>
            <a:off x="9550908"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7" name="Rectangle 36"/>
          <p:cNvSpPr/>
          <p:nvPr/>
        </p:nvSpPr>
        <p:spPr>
          <a:xfrm>
            <a:off x="989838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98380"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280142"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280142"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6</a:t>
            </a:r>
          </a:p>
        </p:txBody>
      </p:sp>
      <p:sp>
        <p:nvSpPr>
          <p:cNvPr id="41" name="TextBox 40"/>
          <p:cNvSpPr txBox="1"/>
          <p:nvPr/>
        </p:nvSpPr>
        <p:spPr>
          <a:xfrm>
            <a:off x="10044684"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Review and improvement</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transition spd="med">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K4 · K5 · A3 · A4</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Manager playbook essentials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Notice</a:t>
            </a:r>
          </a:p>
          <a:p>
            <a:pPr algn="l">
              <a:spcAft>
                <a:spcPts val="300"/>
              </a:spcAft>
            </a:pPr>
            <a:r>
              <a:rPr sz="1200" b="0">
                <a:solidFill>
                  <a:srgbClr val="5B6372"/>
                </a:solidFill>
                <a:latin typeface="Arial"/>
              </a:rPr>
              <a:t>Recognise work-related changes without diagnosing.</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Ask</a:t>
            </a:r>
          </a:p>
          <a:p>
            <a:pPr algn="l">
              <a:spcAft>
                <a:spcPts val="300"/>
              </a:spcAft>
            </a:pPr>
            <a:r>
              <a:rPr sz="1200" b="0">
                <a:solidFill>
                  <a:srgbClr val="5B6372"/>
                </a:solidFill>
                <a:latin typeface="Arial"/>
              </a:rPr>
              <a:t>Choose a private moment and use open, respectful questions.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Act</a:t>
            </a:r>
          </a:p>
          <a:p>
            <a:pPr algn="l">
              <a:spcAft>
                <a:spcPts val="300"/>
              </a:spcAft>
            </a:pPr>
            <a:r>
              <a:rPr sz="1200" b="0">
                <a:solidFill>
                  <a:srgbClr val="5B6372"/>
                </a:solidFill>
                <a:latin typeface="Arial"/>
              </a:rPr>
              <a:t>Adjust work within authority and connect the employee to support.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Escalate</a:t>
            </a:r>
          </a:p>
          <a:p>
            <a:pPr algn="l">
              <a:spcAft>
                <a:spcPts val="300"/>
              </a:spcAft>
            </a:pPr>
            <a:r>
              <a:rPr sz="1200" b="0">
                <a:solidFill>
                  <a:srgbClr val="5B6372"/>
                </a:solidFill>
                <a:latin typeface="Arial"/>
              </a:rPr>
              <a:t>Follow safety, HR and emergency routes for risk or complexity.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transition spd="med">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K4 · K5 · A3 · A4</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Individual resilience and organisational resilience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Perspective A</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Perspective B</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Self-efficacy, optimism, recovery skills and social support can be protective.</a:t>
            </a:r>
          </a:p>
          <a:p>
            <a:pPr>
              <a:spcAft>
                <a:spcPts val="1000"/>
              </a:spcAft>
            </a:pPr>
            <a:r>
              <a:rPr sz="1600" b="0">
                <a:solidFill>
                  <a:srgbClr val="161B26"/>
                </a:solidFill>
                <a:latin typeface="Arial"/>
              </a:rPr>
              <a:t>•  Practice, coaching and reflection can build usable coping resources.</a:t>
            </a:r>
          </a:p>
          <a:p>
            <a:pPr>
              <a:spcAft>
                <a:spcPts val="1000"/>
              </a:spcAft>
            </a:pPr>
            <a:r>
              <a:rPr sz="1600" b="0">
                <a:solidFill>
                  <a:srgbClr val="161B26"/>
                </a:solidFill>
                <a:latin typeface="Arial"/>
              </a:rPr>
              <a:t>•  Participation should not imply blame for harmful work conditions.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Leaders shape workload, autonomy, trust, purpose and access to help.</a:t>
            </a:r>
          </a:p>
          <a:p>
            <a:pPr>
              <a:spcAft>
                <a:spcPts val="1000"/>
              </a:spcAft>
            </a:pPr>
            <a:r>
              <a:rPr sz="1600" b="0">
                <a:solidFill>
                  <a:srgbClr val="161B26"/>
                </a:solidFill>
                <a:latin typeface="Arial"/>
              </a:rPr>
              <a:t>•  Teams create norms for speaking up, support and recovery.</a:t>
            </a:r>
          </a:p>
          <a:p>
            <a:pPr>
              <a:spcAft>
                <a:spcPts val="1000"/>
              </a:spcAft>
            </a:pPr>
            <a:r>
              <a:rPr sz="1600" b="0">
                <a:solidFill>
                  <a:srgbClr val="161B26"/>
                </a:solidFill>
                <a:latin typeface="Arial"/>
              </a:rPr>
              <a:t>•  Organisations remove systemic demands and learn from workforce evidence.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transition spd="med">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K4 · K5 · A3 · A4</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Resilience ecosystem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Leadership</a:t>
            </a:r>
          </a:p>
          <a:p>
            <a:pPr algn="l">
              <a:spcAft>
                <a:spcPts val="300"/>
              </a:spcAft>
            </a:pPr>
            <a:r>
              <a:rPr sz="1200" b="0">
                <a:solidFill>
                  <a:srgbClr val="5B6372"/>
                </a:solidFill>
                <a:latin typeface="Arial"/>
              </a:rPr>
              <a:t>Visible priorities, psychologically safe behaviour and accountability.</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Job design</a:t>
            </a:r>
          </a:p>
          <a:p>
            <a:pPr algn="l">
              <a:spcAft>
                <a:spcPts val="300"/>
              </a:spcAft>
            </a:pPr>
            <a:r>
              <a:rPr sz="1200" b="0">
                <a:solidFill>
                  <a:srgbClr val="5B6372"/>
                </a:solidFill>
                <a:latin typeface="Arial"/>
              </a:rPr>
              <a:t>Manage demand, control, staffing, role clarity and recovery time.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Social resources</a:t>
            </a:r>
          </a:p>
          <a:p>
            <a:pPr algn="l">
              <a:spcAft>
                <a:spcPts val="300"/>
              </a:spcAft>
            </a:pPr>
            <a:r>
              <a:rPr sz="1200" b="0">
                <a:solidFill>
                  <a:srgbClr val="5B6372"/>
                </a:solidFill>
                <a:latin typeface="Arial"/>
              </a:rPr>
              <a:t>Peer connection, manager support and trusted communities.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Professional support</a:t>
            </a:r>
          </a:p>
          <a:p>
            <a:pPr algn="l">
              <a:spcAft>
                <a:spcPts val="300"/>
              </a:spcAft>
            </a:pPr>
            <a:r>
              <a:rPr sz="1200" b="0">
                <a:solidFill>
                  <a:srgbClr val="5B6372"/>
                </a:solidFill>
                <a:latin typeface="Arial"/>
              </a:rPr>
              <a:t>Clear, confidential and timely access to qualified help.</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transition spd="med">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K4 · K5 · A3 · A4</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Implementation workstreams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59002"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59002"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Sponsor and governance</a:t>
            </a:r>
          </a:p>
        </p:txBody>
      </p:sp>
      <p:sp>
        <p:nvSpPr>
          <p:cNvPr id="12" name="TextBox 11"/>
          <p:cNvSpPr txBox="1"/>
          <p:nvPr/>
        </p:nvSpPr>
        <p:spPr>
          <a:xfrm>
            <a:off x="2253996"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601468"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601468"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298323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8323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2747772"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Service and vendor readiness</a:t>
            </a:r>
          </a:p>
        </p:txBody>
      </p:sp>
      <p:sp>
        <p:nvSpPr>
          <p:cNvPr id="18" name="TextBox 17"/>
          <p:cNvSpPr txBox="1"/>
          <p:nvPr/>
        </p:nvSpPr>
        <p:spPr>
          <a:xfrm>
            <a:off x="407822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4425696"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25696"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807458"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07458"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4572000"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Manager enablement</a:t>
            </a:r>
          </a:p>
        </p:txBody>
      </p:sp>
      <p:sp>
        <p:nvSpPr>
          <p:cNvPr id="24" name="TextBox 23"/>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6249924"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49924"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63168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3168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6396228"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Communication and access</a:t>
            </a:r>
          </a:p>
        </p:txBody>
      </p:sp>
      <p:sp>
        <p:nvSpPr>
          <p:cNvPr id="30" name="TextBox 29"/>
          <p:cNvSpPr txBox="1"/>
          <p:nvPr/>
        </p:nvSpPr>
        <p:spPr>
          <a:xfrm>
            <a:off x="772668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8074152"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74152"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45591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5591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8220456"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Data safeguards</a:t>
            </a:r>
          </a:p>
        </p:txBody>
      </p:sp>
      <p:sp>
        <p:nvSpPr>
          <p:cNvPr id="36" name="TextBox 35"/>
          <p:cNvSpPr txBox="1"/>
          <p:nvPr/>
        </p:nvSpPr>
        <p:spPr>
          <a:xfrm>
            <a:off x="9550908"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7" name="Rectangle 36"/>
          <p:cNvSpPr/>
          <p:nvPr/>
        </p:nvSpPr>
        <p:spPr>
          <a:xfrm>
            <a:off x="989838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98380"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280142"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280142"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6</a:t>
            </a:r>
          </a:p>
        </p:txBody>
      </p:sp>
      <p:sp>
        <p:nvSpPr>
          <p:cNvPr id="41" name="TextBox 40"/>
          <p:cNvSpPr txBox="1"/>
          <p:nvPr/>
        </p:nvSpPr>
        <p:spPr>
          <a:xfrm>
            <a:off x="10044684"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Monitoring and issue resolution</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transition spd="med">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K4 · K5 · A3 · A4</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Roles and ownership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Sponsor</a:t>
            </a:r>
          </a:p>
          <a:p>
            <a:pPr algn="l">
              <a:spcAft>
                <a:spcPts val="300"/>
              </a:spcAft>
            </a:pPr>
            <a:r>
              <a:rPr sz="1200" b="0">
                <a:solidFill>
                  <a:srgbClr val="5B6372"/>
                </a:solidFill>
                <a:latin typeface="Arial"/>
              </a:rPr>
              <a:t>Sets priority, resources and accountability for outcomes.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Programme owner</a:t>
            </a:r>
          </a:p>
          <a:p>
            <a:pPr algn="l">
              <a:spcAft>
                <a:spcPts val="300"/>
              </a:spcAft>
            </a:pPr>
            <a:r>
              <a:rPr sz="1200" b="0">
                <a:solidFill>
                  <a:srgbClr val="5B6372"/>
                </a:solidFill>
                <a:latin typeface="Arial"/>
              </a:rPr>
              <a:t>Coordinates plan, risks, vendors, data and review.</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Managers</a:t>
            </a:r>
          </a:p>
          <a:p>
            <a:pPr algn="l">
              <a:spcAft>
                <a:spcPts val="300"/>
              </a:spcAft>
            </a:pPr>
            <a:r>
              <a:rPr sz="1200" b="0">
                <a:solidFill>
                  <a:srgbClr val="5B6372"/>
                </a:solidFill>
                <a:latin typeface="Arial"/>
              </a:rPr>
              <a:t>Apply work practices, enable access and respond safely.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Employees and representatives</a:t>
            </a:r>
          </a:p>
          <a:p>
            <a:pPr algn="l">
              <a:spcAft>
                <a:spcPts val="300"/>
              </a:spcAft>
            </a:pPr>
            <a:r>
              <a:rPr sz="1200" b="0">
                <a:solidFill>
                  <a:srgbClr val="5B6372"/>
                </a:solidFill>
                <a:latin typeface="Arial"/>
              </a:rPr>
              <a:t>Co-design, participate voluntarily and provide feedback.</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transition spd="med">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K4 · K5 · A3 · A4</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Participation barriers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Awareness</a:t>
            </a:r>
          </a:p>
          <a:p>
            <a:pPr algn="l">
              <a:spcAft>
                <a:spcPts val="300"/>
              </a:spcAft>
            </a:pPr>
            <a:r>
              <a:rPr sz="1200" b="0">
                <a:solidFill>
                  <a:srgbClr val="5B6372"/>
                </a:solidFill>
                <a:latin typeface="Arial"/>
              </a:rPr>
              <a:t>Employees do not know what exists or why it is relevant.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Time and access</a:t>
            </a:r>
          </a:p>
          <a:p>
            <a:pPr algn="l">
              <a:spcAft>
                <a:spcPts val="300"/>
              </a:spcAft>
            </a:pPr>
            <a:r>
              <a:rPr sz="1200" b="0">
                <a:solidFill>
                  <a:srgbClr val="5B6372"/>
                </a:solidFill>
                <a:latin typeface="Arial"/>
              </a:rPr>
              <a:t>Shifts, workload, caregiving, location or technology block use.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Trust</a:t>
            </a:r>
          </a:p>
          <a:p>
            <a:pPr algn="l">
              <a:spcAft>
                <a:spcPts val="300"/>
              </a:spcAft>
            </a:pPr>
            <a:r>
              <a:rPr sz="1200" b="0">
                <a:solidFill>
                  <a:srgbClr val="5B6372"/>
                </a:solidFill>
                <a:latin typeface="Arial"/>
              </a:rPr>
              <a:t>Privacy, stigma or employment consequences feel uncertain.</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Perceived value</a:t>
            </a:r>
          </a:p>
          <a:p>
            <a:pPr algn="l">
              <a:spcAft>
                <a:spcPts val="300"/>
              </a:spcAft>
            </a:pPr>
            <a:r>
              <a:rPr sz="1200" b="0">
                <a:solidFill>
                  <a:srgbClr val="5B6372"/>
                </a:solidFill>
                <a:latin typeface="Arial"/>
              </a:rPr>
              <a:t>The offer does not match needs, culture or employee experience.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transition spd="med">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K4 · K5 · A3 · A4</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Ethical engagement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59002"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59002"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Explain the need</a:t>
            </a:r>
          </a:p>
        </p:txBody>
      </p:sp>
      <p:sp>
        <p:nvSpPr>
          <p:cNvPr id="12" name="TextBox 11"/>
          <p:cNvSpPr txBox="1"/>
          <p:nvPr/>
        </p:nvSpPr>
        <p:spPr>
          <a:xfrm>
            <a:off x="2253996"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601468"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601468"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298323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8323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2747772"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Offer meaningful choices</a:t>
            </a:r>
          </a:p>
        </p:txBody>
      </p:sp>
      <p:sp>
        <p:nvSpPr>
          <p:cNvPr id="18" name="TextBox 17"/>
          <p:cNvSpPr txBox="1"/>
          <p:nvPr/>
        </p:nvSpPr>
        <p:spPr>
          <a:xfrm>
            <a:off x="407822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4425696"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25696"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807458"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07458"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4572000"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Protect non-participants</a:t>
            </a:r>
          </a:p>
        </p:txBody>
      </p:sp>
      <p:sp>
        <p:nvSpPr>
          <p:cNvPr id="24" name="TextBox 23"/>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6249924"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49924"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63168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3168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6396228"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Remove access barriers</a:t>
            </a:r>
          </a:p>
        </p:txBody>
      </p:sp>
      <p:sp>
        <p:nvSpPr>
          <p:cNvPr id="30" name="TextBox 29"/>
          <p:cNvSpPr txBox="1"/>
          <p:nvPr/>
        </p:nvSpPr>
        <p:spPr>
          <a:xfrm>
            <a:off x="772668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8074152"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74152"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45591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5591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8220456"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Use supportive incentives</a:t>
            </a:r>
          </a:p>
        </p:txBody>
      </p:sp>
      <p:sp>
        <p:nvSpPr>
          <p:cNvPr id="36" name="TextBox 35"/>
          <p:cNvSpPr txBox="1"/>
          <p:nvPr/>
        </p:nvSpPr>
        <p:spPr>
          <a:xfrm>
            <a:off x="9550908"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7" name="Rectangle 36"/>
          <p:cNvSpPr/>
          <p:nvPr/>
        </p:nvSpPr>
        <p:spPr>
          <a:xfrm>
            <a:off x="989838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98380"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280142"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280142"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6</a:t>
            </a:r>
          </a:p>
        </p:txBody>
      </p:sp>
      <p:sp>
        <p:nvSpPr>
          <p:cNvPr id="41" name="TextBox 40"/>
          <p:cNvSpPr txBox="1"/>
          <p:nvPr/>
        </p:nvSpPr>
        <p:spPr>
          <a:xfrm>
            <a:off x="10044684"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Monitor equity and unintended effects</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transition spd="med">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K4 · K5 · A3 · A4</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Partner and vendor governance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Capability</a:t>
            </a:r>
          </a:p>
          <a:p>
            <a:pPr algn="l">
              <a:spcAft>
                <a:spcPts val="300"/>
              </a:spcAft>
            </a:pPr>
            <a:r>
              <a:rPr sz="1200" b="0">
                <a:solidFill>
                  <a:srgbClr val="5B6372"/>
                </a:solidFill>
                <a:latin typeface="Arial"/>
              </a:rPr>
              <a:t>Qualified staff, service standards, escalation and clinical governance.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Privacy</a:t>
            </a:r>
          </a:p>
          <a:p>
            <a:pPr algn="l">
              <a:spcAft>
                <a:spcPts val="300"/>
              </a:spcAft>
            </a:pPr>
            <a:r>
              <a:rPr sz="1200" b="0">
                <a:solidFill>
                  <a:srgbClr val="5B6372"/>
                </a:solidFill>
                <a:latin typeface="Arial"/>
              </a:rPr>
              <a:t>Purpose, data flows, security, retention, transfer and breach duties.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Access</a:t>
            </a:r>
          </a:p>
          <a:p>
            <a:pPr algn="l">
              <a:spcAft>
                <a:spcPts val="300"/>
              </a:spcAft>
            </a:pPr>
            <a:r>
              <a:rPr sz="1200" b="0">
                <a:solidFill>
                  <a:srgbClr val="5B6372"/>
                </a:solidFill>
                <a:latin typeface="Arial"/>
              </a:rPr>
              <a:t>Hours, languages, channels, accessibility and capacity.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Evidence</a:t>
            </a:r>
          </a:p>
          <a:p>
            <a:pPr algn="l">
              <a:spcAft>
                <a:spcPts val="300"/>
              </a:spcAft>
            </a:pPr>
            <a:r>
              <a:rPr sz="1200" b="0">
                <a:solidFill>
                  <a:srgbClr val="5B6372"/>
                </a:solidFill>
                <a:latin typeface="Arial"/>
              </a:rPr>
              <a:t>Safe aggregates, service quality, outcomes and corrective action.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transition spd="med">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K4 · K5 · A3 · A4</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Budget and value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Perspective A</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Perspective B</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Budget for design, communication, manager time, access support and evaluation—not just vendor fees.</a:t>
            </a:r>
          </a:p>
          <a:p>
            <a:pPr>
              <a:spcAft>
                <a:spcPts val="1000"/>
              </a:spcAft>
            </a:pPr>
            <a:r>
              <a:rPr sz="1600" b="0">
                <a:solidFill>
                  <a:srgbClr val="161B26"/>
                </a:solidFill>
                <a:latin typeface="Arial"/>
              </a:rPr>
              <a:t>•  Use a benefits logic and realistic time horizon.</a:t>
            </a:r>
          </a:p>
          <a:p>
            <a:pPr>
              <a:spcAft>
                <a:spcPts val="1000"/>
              </a:spcAft>
            </a:pPr>
            <a:r>
              <a:rPr sz="1600" b="0">
                <a:solidFill>
                  <a:srgbClr val="161B26"/>
                </a:solidFill>
                <a:latin typeface="Arial"/>
              </a:rPr>
              <a:t>•  State uncertainty and avoid promising guaranteed ROI.</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Prioritise statutory and safety requirements first.</a:t>
            </a:r>
          </a:p>
          <a:p>
            <a:pPr>
              <a:spcAft>
                <a:spcPts val="1000"/>
              </a:spcAft>
            </a:pPr>
            <a:r>
              <a:rPr sz="1600" b="0">
                <a:solidFill>
                  <a:srgbClr val="161B26"/>
                </a:solidFill>
                <a:latin typeface="Arial"/>
              </a:rPr>
              <a:t>•  Compare reach, equity, quality and outcome with cost.</a:t>
            </a:r>
          </a:p>
          <a:p>
            <a:pPr>
              <a:spcAft>
                <a:spcPts val="1000"/>
              </a:spcAft>
            </a:pPr>
            <a:r>
              <a:rPr sz="1600" b="0">
                <a:solidFill>
                  <a:srgbClr val="161B26"/>
                </a:solidFill>
                <a:latin typeface="Arial"/>
              </a:rPr>
              <a:t>•  Scale only after a pilot demonstrates safe, relevant value.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transition spd="med">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K4 · K5 · A3 · A4</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Pilot-to-scale gates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59002"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59002"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Readiness</a:t>
            </a:r>
          </a:p>
        </p:txBody>
      </p:sp>
      <p:sp>
        <p:nvSpPr>
          <p:cNvPr id="12" name="TextBox 11"/>
          <p:cNvSpPr txBox="1"/>
          <p:nvPr/>
        </p:nvSpPr>
        <p:spPr>
          <a:xfrm>
            <a:off x="2253996"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601468"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601468"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298323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8323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2747772"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Safe launch</a:t>
            </a:r>
          </a:p>
        </p:txBody>
      </p:sp>
      <p:sp>
        <p:nvSpPr>
          <p:cNvPr id="18" name="TextBox 17"/>
          <p:cNvSpPr txBox="1"/>
          <p:nvPr/>
        </p:nvSpPr>
        <p:spPr>
          <a:xfrm>
            <a:off x="407822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4425696"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25696"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807458"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07458"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4572000"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Access and reach</a:t>
            </a:r>
          </a:p>
        </p:txBody>
      </p:sp>
      <p:sp>
        <p:nvSpPr>
          <p:cNvPr id="24" name="TextBox 23"/>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6249924"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49924"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63168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3168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6396228"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Experience and quality</a:t>
            </a:r>
          </a:p>
        </p:txBody>
      </p:sp>
      <p:sp>
        <p:nvSpPr>
          <p:cNvPr id="30" name="TextBox 29"/>
          <p:cNvSpPr txBox="1"/>
          <p:nvPr/>
        </p:nvSpPr>
        <p:spPr>
          <a:xfrm>
            <a:off x="772668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8074152"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74152"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45591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5591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8220456"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Early outcome signal</a:t>
            </a:r>
          </a:p>
        </p:txBody>
      </p:sp>
      <p:sp>
        <p:nvSpPr>
          <p:cNvPr id="36" name="TextBox 35"/>
          <p:cNvSpPr txBox="1"/>
          <p:nvPr/>
        </p:nvSpPr>
        <p:spPr>
          <a:xfrm>
            <a:off x="9550908"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7" name="Rectangle 36"/>
          <p:cNvSpPr/>
          <p:nvPr/>
        </p:nvSpPr>
        <p:spPr>
          <a:xfrm>
            <a:off x="989838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98380"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280142"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280142"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6</a:t>
            </a:r>
          </a:p>
        </p:txBody>
      </p:sp>
      <p:sp>
        <p:nvSpPr>
          <p:cNvPr id="41" name="TextBox 40"/>
          <p:cNvSpPr txBox="1"/>
          <p:nvPr/>
        </p:nvSpPr>
        <p:spPr>
          <a:xfrm>
            <a:off x="10044684"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Decision to adapt, scale or stop</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transition spd="med">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TOPIC 02 · K4 · K5 · A3 · A4</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Implementation is the programme.</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Policy, vendor and launch event matter only when daily work, access and follow-through change.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transition spd="med">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REAL-USE-CASE DECISIONS</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400" b="1">
                <a:solidFill>
                  <a:srgbClr val="161B26"/>
                </a:solidFill>
                <a:latin typeface="Arial"/>
              </a:rPr>
              <a:t>Applied Activities — Programme Design and Implementation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Activity 4</a:t>
            </a:r>
          </a:p>
          <a:p>
            <a:pPr algn="l">
              <a:spcAft>
                <a:spcPts val="300"/>
              </a:spcAft>
            </a:pPr>
            <a:r>
              <a:rPr sz="1000" b="0">
                <a:solidFill>
                  <a:srgbClr val="5B6372"/>
                </a:solidFill>
                <a:latin typeface="Arial"/>
              </a:rPr>
              <a:t>Resilience Ecosystem After a Service Surge · K2 · K5 · A3 · A4 · LO2</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Activity 5</a:t>
            </a:r>
          </a:p>
          <a:p>
            <a:pPr algn="l">
              <a:spcAft>
                <a:spcPts val="300"/>
              </a:spcAft>
            </a:pPr>
            <a:r>
              <a:rPr sz="1000" b="0">
                <a:solidFill>
                  <a:srgbClr val="5B6372"/>
                </a:solidFill>
                <a:latin typeface="Arial"/>
              </a:rPr>
              <a:t>Whole-Person Wellness Programme Portfolio · K4 · A3 · A4 · LO2</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Activity 6</a:t>
            </a:r>
          </a:p>
          <a:p>
            <a:pPr algn="l">
              <a:spcAft>
                <a:spcPts val="300"/>
              </a:spcAft>
            </a:pPr>
            <a:r>
              <a:rPr sz="1000" b="0">
                <a:solidFill>
                  <a:srgbClr val="5B6372"/>
                </a:solidFill>
                <a:latin typeface="Arial"/>
              </a:rPr>
              <a:t>Mental-Wellbeing Policy-to-Practice Playbook · K5 · A4 · LO2</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Activity 7</a:t>
            </a:r>
          </a:p>
          <a:p>
            <a:pPr algn="l">
              <a:spcAft>
                <a:spcPts val="300"/>
              </a:spcAft>
            </a:pPr>
            <a:r>
              <a:rPr sz="1000" b="0">
                <a:solidFill>
                  <a:srgbClr val="5B6372"/>
                </a:solidFill>
                <a:latin typeface="Arial"/>
              </a:rPr>
              <a:t>Participation and Partnership Recovery Plan · K4 · K5 · A4 · LO2</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Evidence boundary</a:t>
            </a:r>
          </a:p>
          <a:p>
            <a:pPr algn="l">
              <a:spcAft>
                <a:spcPts val="300"/>
              </a:spcAft>
            </a:pPr>
            <a:r>
              <a:rPr sz="1000" b="0">
                <a:solidFill>
                  <a:srgbClr val="5B6372"/>
                </a:solidFill>
                <a:latin typeface="Arial"/>
              </a:rPr>
              <a:t>Published evidence and requirements are separated from fictional workplace inputs.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transition spd="med">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LEARNING UNIT 02 · K2 · K5 · A3 · A4 · LO2</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Resilience Ecosystem After a Service Surge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Respond to fatigue and strain in a high-demand team without shifting responsibility onto employees to become tougher.</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Job Demands–Resources map, three-level intervention portfolio and 90-day implementation plan</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 evidence:  </a:t>
            </a:r>
            <a:r>
              <a:rPr sz="1300" b="0">
                <a:solidFill>
                  <a:srgbClr val="5B6372"/>
                </a:solidFill>
                <a:latin typeface="Arial"/>
              </a:rPr>
              <a:t>CIPD evidence review · Workplace Mental Health framework · employee journey evidence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transition spd="med">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4 · REAL EVENT</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Case Scenario — Public Facts and Training Guardrails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Reported / sourced</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Training assumptions / limits</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CIPD's evidence review treats resilience as influenced by individual and contextual factors and cautions against placing the onus on employees to withstand harmful conditions. Protective factors include self-efficacy, positive affect, social support and leader relationships; effective development tends to be structured and experiential rather than a one-off lecture.</a:t>
            </a:r>
          </a:p>
          <a:p>
            <a:pPr>
              <a:spcAft>
                <a:spcPts val="1000"/>
              </a:spcAft>
            </a:pPr>
            <a:r>
              <a:rPr sz="1600" b="0">
                <a:solidFill>
                  <a:srgbClr val="161B26"/>
                </a:solidFill>
                <a:latin typeface="Arial"/>
              </a:rPr>
              <a:t>•  Full source is recorded in speaker notes and the Learner Guide.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CivicConnect and all employee evidence are fictional training inputs.</a:t>
            </a:r>
          </a:p>
          <a:p>
            <a:pPr>
              <a:spcAft>
                <a:spcPts val="1000"/>
              </a:spcAft>
            </a:pPr>
            <a:r>
              <a:rPr sz="1600" b="0">
                <a:solidFill>
                  <a:srgbClr val="161B26"/>
                </a:solidFill>
                <a:latin typeface="Arial"/>
              </a:rPr>
              <a:t>•  There is no evidence that a one-hour webinar alone will address the primary work demands.</a:t>
            </a:r>
          </a:p>
          <a:p>
            <a:pPr>
              <a:spcAft>
                <a:spcPts val="1000"/>
              </a:spcAft>
            </a:pPr>
            <a:r>
              <a:rPr sz="1600" b="0">
                <a:solidFill>
                  <a:srgbClr val="161B26"/>
                </a:solidFill>
                <a:latin typeface="Arial"/>
              </a:rPr>
              <a:t>•  The operating budget allows changes to rosters, escalation, peer support and a targeted development programme.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transition spd="med">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ACTIVITY 4 · DISCUSS AND DECIDE</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Activity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Which demands are preventable, reducible or unavoidable?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Which resources are missing at individual, team and organisational levels?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What sequence balances immediate relief with sustainable redesign?</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How will leaders know whether the change improves recovery and service?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transition spd="med">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4 · ACCEPTANCE TEST</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Resilience Ecosystem After a Service Surge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The plan removes or reduces at least two preventable demands, adds team and organisational resources, treats individual training as complementary, includes safe escalation and has balanced employee/service measures.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transition spd="med">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LEARNING UNIT 02 · K4 · A3 · A4 · LO2</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Whole-Person Wellness Programme Portfolio</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Convert a broad wellness ambition into a coherent prevention-to-recovery portfolio with access, ownership and evidence.</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Programme architecture, logic models and portfolio prioritisation map</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 evidence:  </a:t>
            </a:r>
            <a:r>
              <a:rPr sz="1300" b="0">
                <a:solidFill>
                  <a:srgbClr val="5B6372"/>
                </a:solidFill>
                <a:latin typeface="Arial"/>
              </a:rPr>
              <a:t>VHA Whole Health evidence · HPB workplace resources · employee personas · portfolio canvas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transition spd="med">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5 · REAL EVENT</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Case Scenario — Public Facts and Training Guardrails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Reported / sourced</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Training assumptions / limits</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The published VHA Whole Health model emphasises whole-person goals and values, health coaching, wellbeing programmes and clinical care within a wider system. It illustrates how an ecosystem can orient support around what matters to the person rather than a fragmented menu of services.</a:t>
            </a:r>
          </a:p>
          <a:p>
            <a:pPr>
              <a:spcAft>
                <a:spcPts val="1000"/>
              </a:spcAft>
            </a:pPr>
            <a:r>
              <a:rPr sz="1600" b="0">
                <a:solidFill>
                  <a:srgbClr val="161B26"/>
                </a:solidFill>
                <a:latin typeface="Arial"/>
              </a:rPr>
              <a:t>•  Full source is recorded in speaker notes and the Learner Guide.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HarbourView, workforce data and current service performance are fictional.</a:t>
            </a:r>
          </a:p>
          <a:p>
            <a:pPr>
              <a:spcAft>
                <a:spcPts val="1000"/>
              </a:spcAft>
            </a:pPr>
            <a:r>
              <a:rPr sz="1600" b="0">
                <a:solidFill>
                  <a:srgbClr val="161B26"/>
                </a:solidFill>
                <a:latin typeface="Arial"/>
              </a:rPr>
              <a:t>•  The organisation can use HPB resources where eligible but must validate current programme terms before commitment.</a:t>
            </a:r>
          </a:p>
          <a:p>
            <a:pPr>
              <a:spcAft>
                <a:spcPts val="1000"/>
              </a:spcAft>
            </a:pPr>
            <a:r>
              <a:rPr sz="1600" b="0">
                <a:solidFill>
                  <a:srgbClr val="161B26"/>
                </a:solidFill>
                <a:latin typeface="Arial"/>
              </a:rPr>
              <a:t>•  Employee groups differ in schedule, physical demand, language, financial concerns and digital access.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transition spd="med">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ACTIVITY 5 · DISCUSS AND DECIDE</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Activity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Which shared and targeted needs should the portfolio address?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How will prevention, early help, support and recovery connect?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What makes each pathway accessible and trustworthy for shift employees?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Which components should be piloted, scaled, partnered or stopped?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transition spd="med">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5 · ACCEPTANCE TEST</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Whole-Person Wellness Programme Portfolio</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Every component links to an evidenced need, the portfolio covers work conditions plus support, access is designed for distinct groups, clinical/privacy boundaries are explicit and each component has an owner and review measure.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transition spd="med">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End of Day 1</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1F6FEB"/>
                </a:solidFill>
                <a:latin typeface="Arial"/>
              </a:rPr>
              <a:t>Return ready to implement, communicate and improve</a:t>
            </a:r>
          </a:p>
        </p:txBody>
      </p:sp>
    </p:spTree>
  </p:cSld>
  <p:clrMapOvr>
    <a:masterClrMapping/>
  </p:clrMapOvr>
  <p:transition spd="med">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LEARNING UNIT 02 · K5 · A4 · LO2</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Mental-Wellbeing Policy-to-Practice Playbook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6</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Turn a generic mental-wellbeing policy into observable routines, decision rights, scripts and escalation paths.</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Manager playbook, process map and role-based implementation checklist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 evidence:  </a:t>
            </a:r>
            <a:r>
              <a:rPr sz="1300" b="0">
                <a:solidFill>
                  <a:srgbClr val="5B6372"/>
                </a:solidFill>
                <a:latin typeface="Arial"/>
              </a:rPr>
              <a:t>TAFEP guidance · manager scenarios · escalation map · implementation tracker</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transition spd="med">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6 · REAL EVENT</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Case Scenario — Public Facts and Training Guardrails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Reported / sourced</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Training assumptions / limits</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Singapore's tripartite guidance encourages employers to strengthen mental wellbeing through organisation-, team- and individual-level practices, including leadership, supportive managers, work-life harmony, access to help and appropriate confidentiality.</a:t>
            </a:r>
          </a:p>
          <a:p>
            <a:pPr>
              <a:spcAft>
                <a:spcPts val="1000"/>
              </a:spcAft>
            </a:pPr>
            <a:r>
              <a:rPr sz="1600" b="0">
                <a:solidFill>
                  <a:srgbClr val="161B26"/>
                </a:solidFill>
                <a:latin typeface="Arial"/>
              </a:rPr>
              <a:t>•  Full source is recorded in speaker notes and the Learner Guide.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All characters and events are fictional learning scenarios.</a:t>
            </a:r>
          </a:p>
          <a:p>
            <a:pPr>
              <a:spcAft>
                <a:spcPts val="1000"/>
              </a:spcAft>
            </a:pPr>
            <a:r>
              <a:rPr sz="1600" b="0">
                <a:solidFill>
                  <a:srgbClr val="161B26"/>
                </a:solidFill>
                <a:latin typeface="Arial"/>
              </a:rPr>
              <a:t>•  Managers are not clinicians and must not diagnose or provide therapy.</a:t>
            </a:r>
          </a:p>
          <a:p>
            <a:pPr>
              <a:spcAft>
                <a:spcPts val="1000"/>
              </a:spcAft>
            </a:pPr>
            <a:r>
              <a:rPr sz="1600" b="0">
                <a:solidFill>
                  <a:srgbClr val="161B26"/>
                </a:solidFill>
                <a:latin typeface="Arial"/>
              </a:rPr>
              <a:t>•  The organisation has HR, an EAP and a documented emergency escalation route.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transition spd="med">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ACTIVITY 6 · DISCUSS AND DECIDE</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Activity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Which policy statements need a concrete routine, tool or decision right?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What can managers ask, record, decide and escalate?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How should the playbook handle immediate safety concerns and ordinary work support differently?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What evidence demonstrates implementation beyond attendance at training?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transition spd="med">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6 · ACCEPTANCE TEST</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Mental-Wellbeing Policy-to-Practice Playbook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The playbook covers routine through emergency situations, limits collection and diagnosis, names decision rights and handoffs, provides usable scripts and defines evidence of practice quality rather than training completion alone.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transition spd="med">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LEARNING UNIT 02 · K4 · K5 · A4 · LO2</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Participation and Partnership Recovery Plan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7</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Diagnose low engagement in an existing programme and redesign access, communication, incentives and vendor governance.</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Barrier map, vendor scorecard, budget reallocation and recovery experiment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 evidence:  </a:t>
            </a:r>
            <a:r>
              <a:rPr sz="1300" b="0">
                <a:solidFill>
                  <a:srgbClr val="5B6372"/>
                </a:solidFill>
                <a:latin typeface="Arial"/>
              </a:rPr>
              <a:t>NCBI programme principles · fictional utilisation funnel · vendor SLA · employee comments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transition spd="med">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7 · REAL EVENT</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Case Scenario — Public Facts and Training Guardrails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Reported / sourced</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Training assumptions / limits</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The NCBI review highlights multilevel leadership, organisational alignment, programme scope and quality, accessibility, partnerships and communications as core elements, while identifying awareness, time, manager support, access, privacy and perceived benefit as participation barriers.</a:t>
            </a:r>
          </a:p>
          <a:p>
            <a:pPr>
              <a:spcAft>
                <a:spcPts val="1000"/>
              </a:spcAft>
            </a:pPr>
            <a:r>
              <a:rPr sz="1600" b="0">
                <a:solidFill>
                  <a:srgbClr val="161B26"/>
                </a:solidFill>
                <a:latin typeface="Arial"/>
              </a:rPr>
              <a:t>•  Full source is recorded in speaker notes and the Learner Guide.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All funnel, budget, vendor and employee-comment data are fictional.</a:t>
            </a:r>
          </a:p>
          <a:p>
            <a:pPr>
              <a:spcAft>
                <a:spcPts val="1000"/>
              </a:spcAft>
            </a:pPr>
            <a:r>
              <a:rPr sz="1600" b="0">
                <a:solidFill>
                  <a:srgbClr val="161B26"/>
                </a:solidFill>
                <a:latin typeface="Arial"/>
              </a:rPr>
              <a:t>•  Registration is not evidence of benefit and may be a vanity metric.</a:t>
            </a:r>
          </a:p>
          <a:p>
            <a:pPr>
              <a:spcAft>
                <a:spcPts val="1000"/>
              </a:spcAft>
            </a:pPr>
            <a:r>
              <a:rPr sz="1600" b="0">
                <a:solidFill>
                  <a:srgbClr val="161B26"/>
                </a:solidFill>
                <a:latin typeface="Arial"/>
              </a:rPr>
              <a:t>•  The vendor can provide privacy-safe aggregates but the current contract lacks response-time and accessibility standards.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transition spd="med">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ACTIVITY 7 · DISCUSS AND DECIDE</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Activity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Where does the participation funnel fail for each workforce group?</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Which barriers are awareness, access, trust, relevance, manager or service-quality problems?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Would the proposed incentive support or distort the intended behaviour?</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What partner standards and experiment would restore sustainable participation?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transition spd="med">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ACCEPTANCE TEST</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Participation and Partnership Recovery Plan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The plan diagnoses funnel loss by group, addresses at least three root-cause categories, avoids coercive incentives, sets vendor quality/privacy standards and defines a measurable experiment with owner and stop rule.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transition spd="med">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60 minutes</a:t>
            </a:r>
          </a:p>
        </p:txBody>
      </p:sp>
    </p:spTree>
  </p:cSld>
  <p:clrMapOvr>
    <a:masterClrMapping/>
  </p:clrMapOvr>
  <p:transition spd="med">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UNIT RECAP</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Recap — Programme Design and Implementation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Resilience Ecosystem After a Service Surge</a:t>
            </a:r>
          </a:p>
          <a:p>
            <a:pPr algn="l">
              <a:spcAft>
                <a:spcPts val="300"/>
              </a:spcAft>
            </a:pPr>
            <a:r>
              <a:rPr sz="1100" b="0">
                <a:solidFill>
                  <a:srgbClr val="5B6372"/>
                </a:solidFill>
                <a:latin typeface="Arial"/>
              </a:rPr>
              <a:t>Redesign job demands and resources while adding proportionate resilience support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Whole-Person Wellness Programme Portfolio</a:t>
            </a:r>
          </a:p>
          <a:p>
            <a:pPr algn="l">
              <a:spcAft>
                <a:spcPts val="300"/>
              </a:spcAft>
            </a:pPr>
            <a:r>
              <a:rPr sz="1100" b="0">
                <a:solidFill>
                  <a:srgbClr val="5B6372"/>
                </a:solidFill>
                <a:latin typeface="Arial"/>
              </a:rPr>
              <a:t>Design an inclusive portfolio for distinct employee needs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Mental-Wellbeing Policy-to-Practice Playbook</a:t>
            </a:r>
          </a:p>
          <a:p>
            <a:pPr algn="l">
              <a:spcAft>
                <a:spcPts val="300"/>
              </a:spcAft>
            </a:pPr>
            <a:r>
              <a:rPr sz="1100" b="0">
                <a:solidFill>
                  <a:srgbClr val="5B6372"/>
                </a:solidFill>
                <a:latin typeface="Arial"/>
              </a:rPr>
              <a:t>Translate policy into safe day-to-day manager and team practices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Participation and Partnership Recovery Plan</a:t>
            </a:r>
          </a:p>
          <a:p>
            <a:pPr algn="l">
              <a:spcAft>
                <a:spcPts val="300"/>
              </a:spcAft>
            </a:pPr>
            <a:r>
              <a:rPr sz="1100" b="0">
                <a:solidFill>
                  <a:srgbClr val="5B6372"/>
                </a:solidFill>
                <a:latin typeface="Arial"/>
              </a:rPr>
              <a:t>Remove participation barriers and govern delivery partners for a sustainable programme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Evidence habit</a:t>
            </a:r>
          </a:p>
          <a:p>
            <a:pPr algn="l">
              <a:spcAft>
                <a:spcPts val="300"/>
              </a:spcAft>
            </a:pPr>
            <a:r>
              <a:rPr sz="1100" b="0">
                <a:solidFill>
                  <a:srgbClr val="5B6372"/>
                </a:solidFill>
                <a:latin typeface="Arial"/>
              </a:rPr>
              <a:t>Separate public facts, organisation evidence and training assumptions.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Management habit</a:t>
            </a:r>
          </a:p>
          <a:p>
            <a:pPr algn="l">
              <a:spcAft>
                <a:spcPts val="300"/>
              </a:spcAft>
            </a:pPr>
            <a:r>
              <a:rPr sz="1100" b="0">
                <a:solidFill>
                  <a:srgbClr val="5B6372"/>
                </a:solidFill>
                <a:latin typeface="Arial"/>
              </a:rPr>
              <a:t>Link every priority, risk or finding to an owner and review trigger.</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transition spd="med">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LEARNING UNIT 03 · K6 · K7 · A5 · A6</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Communication, Feedback and Improvement</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benefits · audience · channels · trust · feedback · metrics · management review</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transition spd="med">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TSC HRS-HRM-3019-1.1</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400" b="1">
                <a:solidFill>
                  <a:srgbClr val="161B26"/>
                </a:solidFill>
                <a:latin typeface="Arial"/>
              </a:rPr>
              <a:t>Key Concepts — Communication, Feedback and Improvement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Benefit</a:t>
            </a:r>
          </a:p>
          <a:p>
            <a:pPr algn="l">
              <a:spcAft>
                <a:spcPts val="300"/>
              </a:spcAft>
            </a:pPr>
            <a:r>
              <a:rPr sz="1200" b="0">
                <a:solidFill>
                  <a:srgbClr val="5B6372"/>
                </a:solidFill>
                <a:latin typeface="Arial"/>
              </a:rPr>
              <a:t>Describe a credible employee and organisational value proposition without overpromising.</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Communication</a:t>
            </a:r>
          </a:p>
          <a:p>
            <a:pPr algn="l">
              <a:spcAft>
                <a:spcPts val="300"/>
              </a:spcAft>
            </a:pPr>
            <a:r>
              <a:rPr sz="1200" b="0">
                <a:solidFill>
                  <a:srgbClr val="5B6372"/>
                </a:solidFill>
                <a:latin typeface="Arial"/>
              </a:rPr>
              <a:t>Match message, messenger, channel, timing and call to action to each audience.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Feedback</a:t>
            </a:r>
          </a:p>
          <a:p>
            <a:pPr algn="l">
              <a:spcAft>
                <a:spcPts val="300"/>
              </a:spcAft>
            </a:pPr>
            <a:r>
              <a:rPr sz="1200" b="0">
                <a:solidFill>
                  <a:srgbClr val="5B6372"/>
                </a:solidFill>
                <a:latin typeface="Arial"/>
              </a:rPr>
              <a:t>Combine safe quantitative and qualitative evidence; make it easy to speak and see a response.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Improvement</a:t>
            </a:r>
          </a:p>
          <a:p>
            <a:pPr algn="l">
              <a:spcAft>
                <a:spcPts val="300"/>
              </a:spcAft>
            </a:pPr>
            <a:r>
              <a:rPr sz="1200" b="0">
                <a:solidFill>
                  <a:srgbClr val="5B6372"/>
                </a:solidFill>
                <a:latin typeface="Arial"/>
              </a:rPr>
              <a:t>Use a logic model, equity checks and management decisions to adapt or stop programmes.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transition spd="med">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TOPIC 03 · K6 · K7 · A5 · A6</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Trust is part of programme access.</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People will not use support they believe could expose, label or disadvantage them.</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transition spd="med">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03 · K6 · K7 · A5 · A6</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Benefits for employees and the organisation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Perspective A</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Perspective B</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Easier access to relevant support and healthier work conditions.</a:t>
            </a:r>
          </a:p>
          <a:p>
            <a:pPr>
              <a:spcAft>
                <a:spcPts val="1000"/>
              </a:spcAft>
            </a:pPr>
            <a:r>
              <a:rPr sz="1600" b="0">
                <a:solidFill>
                  <a:srgbClr val="161B26"/>
                </a:solidFill>
                <a:latin typeface="Arial"/>
              </a:rPr>
              <a:t>•  Greater capability, energy, connection and confidence to seek help.</a:t>
            </a:r>
          </a:p>
          <a:p>
            <a:pPr>
              <a:spcAft>
                <a:spcPts val="1000"/>
              </a:spcAft>
            </a:pPr>
            <a:r>
              <a:rPr sz="1600" b="0">
                <a:solidFill>
                  <a:srgbClr val="161B26"/>
                </a:solidFill>
                <a:latin typeface="Arial"/>
              </a:rPr>
              <a:t>•  Fairer access across locations, shifts and life circumstances.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Potential improvements in absence, retention, engagement and sustainable performance.</a:t>
            </a:r>
          </a:p>
          <a:p>
            <a:pPr>
              <a:spcAft>
                <a:spcPts val="1000"/>
              </a:spcAft>
            </a:pPr>
            <a:r>
              <a:rPr sz="1600" b="0">
                <a:solidFill>
                  <a:srgbClr val="161B26"/>
                </a:solidFill>
                <a:latin typeface="Arial"/>
              </a:rPr>
              <a:t>•  Better risk visibility and manager capability.</a:t>
            </a:r>
          </a:p>
          <a:p>
            <a:pPr>
              <a:spcAft>
                <a:spcPts val="1000"/>
              </a:spcAft>
            </a:pPr>
            <a:r>
              <a:rPr sz="1600" b="0">
                <a:solidFill>
                  <a:srgbClr val="161B26"/>
                </a:solidFill>
                <a:latin typeface="Arial"/>
              </a:rPr>
              <a:t>•  Benefits depend on context and implementation; association is not proof of causation.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transition spd="med">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03 · K6 · K7 · A5 · A6</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Communication design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59002"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59002"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Define behaviour or decision</a:t>
            </a:r>
          </a:p>
        </p:txBody>
      </p:sp>
      <p:sp>
        <p:nvSpPr>
          <p:cNvPr id="12" name="TextBox 11"/>
          <p:cNvSpPr txBox="1"/>
          <p:nvPr/>
        </p:nvSpPr>
        <p:spPr>
          <a:xfrm>
            <a:off x="2253996"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601468"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601468"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298323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8323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2747772"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Segment audience</a:t>
            </a:r>
          </a:p>
        </p:txBody>
      </p:sp>
      <p:sp>
        <p:nvSpPr>
          <p:cNvPr id="18" name="TextBox 17"/>
          <p:cNvSpPr txBox="1"/>
          <p:nvPr/>
        </p:nvSpPr>
        <p:spPr>
          <a:xfrm>
            <a:off x="407822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4425696"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25696"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807458"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07458"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4572000"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Find barrier and motivation</a:t>
            </a:r>
          </a:p>
        </p:txBody>
      </p:sp>
      <p:sp>
        <p:nvSpPr>
          <p:cNvPr id="24" name="TextBox 23"/>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6249924"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49924"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63168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3168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6396228"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Craft message and proof</a:t>
            </a:r>
          </a:p>
        </p:txBody>
      </p:sp>
      <p:sp>
        <p:nvSpPr>
          <p:cNvPr id="30" name="TextBox 29"/>
          <p:cNvSpPr txBox="1"/>
          <p:nvPr/>
        </p:nvSpPr>
        <p:spPr>
          <a:xfrm>
            <a:off x="772668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8074152"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74152"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45591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5591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8220456"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Choose channel and messenger</a:t>
            </a:r>
          </a:p>
        </p:txBody>
      </p:sp>
      <p:sp>
        <p:nvSpPr>
          <p:cNvPr id="36" name="TextBox 35"/>
          <p:cNvSpPr txBox="1"/>
          <p:nvPr/>
        </p:nvSpPr>
        <p:spPr>
          <a:xfrm>
            <a:off x="9550908"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7" name="Rectangle 36"/>
          <p:cNvSpPr/>
          <p:nvPr/>
        </p:nvSpPr>
        <p:spPr>
          <a:xfrm>
            <a:off x="989838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98380"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280142"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280142"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6</a:t>
            </a:r>
          </a:p>
        </p:txBody>
      </p:sp>
      <p:sp>
        <p:nvSpPr>
          <p:cNvPr id="41" name="TextBox 40"/>
          <p:cNvSpPr txBox="1"/>
          <p:nvPr/>
        </p:nvSpPr>
        <p:spPr>
          <a:xfrm>
            <a:off x="10044684"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Measure response and adapt</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transition spd="med">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03 · K6 · K7 · A5 · A6</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Audience differences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Desk-based and hybrid</a:t>
            </a:r>
          </a:p>
          <a:p>
            <a:pPr algn="l">
              <a:spcAft>
                <a:spcPts val="300"/>
              </a:spcAft>
            </a:pPr>
            <a:r>
              <a:rPr sz="1200" b="0">
                <a:solidFill>
                  <a:srgbClr val="5B6372"/>
                </a:solidFill>
                <a:latin typeface="Arial"/>
              </a:rPr>
              <a:t>Digital reach is high, but attention and isolation may be barriers.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Frontline and shift</a:t>
            </a:r>
          </a:p>
          <a:p>
            <a:pPr algn="l">
              <a:spcAft>
                <a:spcPts val="300"/>
              </a:spcAft>
            </a:pPr>
            <a:r>
              <a:rPr sz="1200" b="0">
                <a:solidFill>
                  <a:srgbClr val="5B6372"/>
                </a:solidFill>
                <a:latin typeface="Arial"/>
              </a:rPr>
              <a:t>Supervisor briefings, roster timing and paid access may matter more than email.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Managers</a:t>
            </a:r>
          </a:p>
          <a:p>
            <a:pPr algn="l">
              <a:spcAft>
                <a:spcPts val="300"/>
              </a:spcAft>
            </a:pPr>
            <a:r>
              <a:rPr sz="1200" b="0">
                <a:solidFill>
                  <a:srgbClr val="5B6372"/>
                </a:solidFill>
                <a:latin typeface="Arial"/>
              </a:rPr>
              <a:t>Need role clarity, scripts, boundaries and escalation—not only awareness.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Vulnerable or underserved groups</a:t>
            </a:r>
          </a:p>
          <a:p>
            <a:pPr algn="l">
              <a:spcAft>
                <a:spcPts val="300"/>
              </a:spcAft>
            </a:pPr>
            <a:r>
              <a:rPr sz="1200" b="0">
                <a:solidFill>
                  <a:srgbClr val="5B6372"/>
                </a:solidFill>
                <a:latin typeface="Arial"/>
              </a:rPr>
              <a:t>Require trusted messengers, accessible formats and stronger privacy assurance.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transition spd="med">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03 · K6 · K7 · A5 · A6</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Message architecture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Why</a:t>
            </a:r>
          </a:p>
          <a:p>
            <a:pPr algn="l">
              <a:spcAft>
                <a:spcPts val="300"/>
              </a:spcAft>
            </a:pPr>
            <a:r>
              <a:rPr sz="1200" b="0">
                <a:solidFill>
                  <a:srgbClr val="5B6372"/>
                </a:solidFill>
                <a:latin typeface="Arial"/>
              </a:rPr>
              <a:t>Name the employee need and intended benefit in plain language.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What</a:t>
            </a:r>
          </a:p>
          <a:p>
            <a:pPr algn="l">
              <a:spcAft>
                <a:spcPts val="300"/>
              </a:spcAft>
            </a:pPr>
            <a:r>
              <a:rPr sz="1200" b="0">
                <a:solidFill>
                  <a:srgbClr val="5B6372"/>
                </a:solidFill>
                <a:latin typeface="Arial"/>
              </a:rPr>
              <a:t>Explain the offer, boundaries and what it does not do.</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How</a:t>
            </a:r>
          </a:p>
          <a:p>
            <a:pPr algn="l">
              <a:spcAft>
                <a:spcPts val="300"/>
              </a:spcAft>
            </a:pPr>
            <a:r>
              <a:rPr sz="1200" b="0">
                <a:solidFill>
                  <a:srgbClr val="5B6372"/>
                </a:solidFill>
                <a:latin typeface="Arial"/>
              </a:rPr>
              <a:t>Give a simple, accessible action and alternative path.</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Trust</a:t>
            </a:r>
          </a:p>
          <a:p>
            <a:pPr algn="l">
              <a:spcAft>
                <a:spcPts val="300"/>
              </a:spcAft>
            </a:pPr>
            <a:r>
              <a:rPr sz="1200" b="0">
                <a:solidFill>
                  <a:srgbClr val="5B6372"/>
                </a:solidFill>
                <a:latin typeface="Arial"/>
              </a:rPr>
              <a:t>State privacy, voluntariness, provider and help or complaint route.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transition spd="med">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03 · K6 · K7 · A5 · A6</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Communication channels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Digital</a:t>
            </a:r>
          </a:p>
          <a:p>
            <a:pPr algn="l">
              <a:spcAft>
                <a:spcPts val="300"/>
              </a:spcAft>
            </a:pPr>
            <a:r>
              <a:rPr sz="1200" b="0">
                <a:solidFill>
                  <a:srgbClr val="5B6372"/>
                </a:solidFill>
                <a:latin typeface="Arial"/>
              </a:rPr>
              <a:t>Email, intranet, app, Teams, SMS and digital signage.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Human</a:t>
            </a:r>
          </a:p>
          <a:p>
            <a:pPr algn="l">
              <a:spcAft>
                <a:spcPts val="300"/>
              </a:spcAft>
            </a:pPr>
            <a:r>
              <a:rPr sz="1200" b="0">
                <a:solidFill>
                  <a:srgbClr val="5B6372"/>
                </a:solidFill>
                <a:latin typeface="Arial"/>
              </a:rPr>
              <a:t>Managers, champions, HR, union or employee representatives and peers.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Physical</a:t>
            </a:r>
          </a:p>
          <a:p>
            <a:pPr algn="l">
              <a:spcAft>
                <a:spcPts val="300"/>
              </a:spcAft>
            </a:pPr>
            <a:r>
              <a:rPr sz="1200" b="0">
                <a:solidFill>
                  <a:srgbClr val="5B6372"/>
                </a:solidFill>
                <a:latin typeface="Arial"/>
              </a:rPr>
              <a:t>Toolbox talks, posters, payslip inserts and onsite events.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Service moment</a:t>
            </a:r>
          </a:p>
          <a:p>
            <a:pPr algn="l">
              <a:spcAft>
                <a:spcPts val="300"/>
              </a:spcAft>
            </a:pPr>
            <a:r>
              <a:rPr sz="1200" b="0">
                <a:solidFill>
                  <a:srgbClr val="5B6372"/>
                </a:solidFill>
                <a:latin typeface="Arial"/>
              </a:rPr>
              <a:t>Onboarding, return-to-work, benefits enrolment and manager check-ins.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transition spd="med">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03 · K6 · K7 · A5 · A6</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Consistency and localisation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Perspective A</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Perspective B</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Keep eligibility, privacy and access promises consistent.</a:t>
            </a:r>
          </a:p>
          <a:p>
            <a:pPr>
              <a:spcAft>
                <a:spcPts val="1000"/>
              </a:spcAft>
            </a:pPr>
            <a:r>
              <a:rPr sz="1600" b="0">
                <a:solidFill>
                  <a:srgbClr val="161B26"/>
                </a:solidFill>
                <a:latin typeface="Arial"/>
              </a:rPr>
              <a:t>•  Use a single approved source for dates, contacts and service boundaries.</a:t>
            </a:r>
          </a:p>
          <a:p>
            <a:pPr>
              <a:spcAft>
                <a:spcPts val="1000"/>
              </a:spcAft>
            </a:pPr>
            <a:r>
              <a:rPr sz="1600" b="0">
                <a:solidFill>
                  <a:srgbClr val="161B26"/>
                </a:solidFill>
                <a:latin typeface="Arial"/>
              </a:rPr>
              <a:t>•  Train messengers before launch.</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Adapt examples, language, timing and channel to the audience.</a:t>
            </a:r>
          </a:p>
          <a:p>
            <a:pPr>
              <a:spcAft>
                <a:spcPts val="1000"/>
              </a:spcAft>
            </a:pPr>
            <a:r>
              <a:rPr sz="1600" b="0">
                <a:solidFill>
                  <a:srgbClr val="161B26"/>
                </a:solidFill>
                <a:latin typeface="Arial"/>
              </a:rPr>
              <a:t>•  Use culturally relevant and accessible formats.</a:t>
            </a:r>
          </a:p>
          <a:p>
            <a:pPr>
              <a:spcAft>
                <a:spcPts val="1000"/>
              </a:spcAft>
            </a:pPr>
            <a:r>
              <a:rPr sz="1600" b="0">
                <a:solidFill>
                  <a:srgbClr val="161B26"/>
                </a:solidFill>
                <a:latin typeface="Arial"/>
              </a:rPr>
              <a:t>•  Test comprehension, not merely message delivery.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transition spd="med">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03 · K6 · K7 · A5 · A6</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Employee feedback system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59002"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59002"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Ask a focused question</a:t>
            </a:r>
          </a:p>
        </p:txBody>
      </p:sp>
      <p:sp>
        <p:nvSpPr>
          <p:cNvPr id="12" name="TextBox 11"/>
          <p:cNvSpPr txBox="1"/>
          <p:nvPr/>
        </p:nvSpPr>
        <p:spPr>
          <a:xfrm>
            <a:off x="2253996"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601468"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601468"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298323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8323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2747772"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Offer safe channels</a:t>
            </a:r>
          </a:p>
        </p:txBody>
      </p:sp>
      <p:sp>
        <p:nvSpPr>
          <p:cNvPr id="18" name="TextBox 17"/>
          <p:cNvSpPr txBox="1"/>
          <p:nvPr/>
        </p:nvSpPr>
        <p:spPr>
          <a:xfrm>
            <a:off x="407822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4425696"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25696"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807458"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07458"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4572000"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Protect identity</a:t>
            </a:r>
          </a:p>
        </p:txBody>
      </p:sp>
      <p:sp>
        <p:nvSpPr>
          <p:cNvPr id="24" name="TextBox 23"/>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6249924"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49924"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63168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3168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6396228"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Analyse themes and gaps</a:t>
            </a:r>
          </a:p>
        </p:txBody>
      </p:sp>
      <p:sp>
        <p:nvSpPr>
          <p:cNvPr id="30" name="TextBox 29"/>
          <p:cNvSpPr txBox="1"/>
          <p:nvPr/>
        </p:nvSpPr>
        <p:spPr>
          <a:xfrm>
            <a:off x="772668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8074152"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74152"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45591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5591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8220456"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Decide and assign</a:t>
            </a:r>
          </a:p>
        </p:txBody>
      </p:sp>
      <p:sp>
        <p:nvSpPr>
          <p:cNvPr id="36" name="TextBox 35"/>
          <p:cNvSpPr txBox="1"/>
          <p:nvPr/>
        </p:nvSpPr>
        <p:spPr>
          <a:xfrm>
            <a:off x="9550908"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7" name="Rectangle 36"/>
          <p:cNvSpPr/>
          <p:nvPr/>
        </p:nvSpPr>
        <p:spPr>
          <a:xfrm>
            <a:off x="989838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98380"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280142"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280142"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6</a:t>
            </a:r>
          </a:p>
        </p:txBody>
      </p:sp>
      <p:sp>
        <p:nvSpPr>
          <p:cNvPr id="41" name="TextBox 40"/>
          <p:cNvSpPr txBox="1"/>
          <p:nvPr/>
        </p:nvSpPr>
        <p:spPr>
          <a:xfrm>
            <a:off x="10044684"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Close the loop</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transition spd="med">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03 · K6 · K7 · A5 · A6</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Feedback methods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Survey</a:t>
            </a:r>
          </a:p>
          <a:p>
            <a:pPr algn="l">
              <a:spcAft>
                <a:spcPts val="300"/>
              </a:spcAft>
            </a:pPr>
            <a:r>
              <a:rPr sz="1200" b="0">
                <a:solidFill>
                  <a:srgbClr val="5B6372"/>
                </a:solidFill>
                <a:latin typeface="Arial"/>
              </a:rPr>
              <a:t>Scalable trends and segments; vulnerable to low response and design bias.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Focus group</a:t>
            </a:r>
          </a:p>
          <a:p>
            <a:pPr algn="l">
              <a:spcAft>
                <a:spcPts val="300"/>
              </a:spcAft>
            </a:pPr>
            <a:r>
              <a:rPr sz="1200" b="0">
                <a:solidFill>
                  <a:srgbClr val="5B6372"/>
                </a:solidFill>
                <a:latin typeface="Arial"/>
              </a:rPr>
              <a:t>Rich shared experience; power dynamics and confidentiality need facilitation.</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Interview</a:t>
            </a:r>
          </a:p>
          <a:p>
            <a:pPr algn="l">
              <a:spcAft>
                <a:spcPts val="300"/>
              </a:spcAft>
            </a:pPr>
            <a:r>
              <a:rPr sz="1200" b="0">
                <a:solidFill>
                  <a:srgbClr val="5B6372"/>
                </a:solidFill>
                <a:latin typeface="Arial"/>
              </a:rPr>
              <a:t>Deep individual context; slower and harder to anonymise.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Programme and service data</a:t>
            </a:r>
          </a:p>
          <a:p>
            <a:pPr algn="l">
              <a:spcAft>
                <a:spcPts val="300"/>
              </a:spcAft>
            </a:pPr>
            <a:r>
              <a:rPr sz="1200" b="0">
                <a:solidFill>
                  <a:srgbClr val="5B6372"/>
                </a:solidFill>
                <a:latin typeface="Arial"/>
              </a:rPr>
              <a:t>Behavioural evidence; may not explain why people did or did not engage.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transition spd="med">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03 · K6 · K7 · A5 · A6</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Additional listening channels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Social listening</a:t>
            </a:r>
          </a:p>
          <a:p>
            <a:pPr algn="l">
              <a:spcAft>
                <a:spcPts val="300"/>
              </a:spcAft>
            </a:pPr>
            <a:r>
              <a:rPr sz="1200" b="0">
                <a:solidFill>
                  <a:srgbClr val="5B6372"/>
                </a:solidFill>
                <a:latin typeface="Arial"/>
              </a:rPr>
              <a:t>Use public or authorised data, clear purpose and ethical boundaries.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Exit and stay interviews</a:t>
            </a:r>
          </a:p>
          <a:p>
            <a:pPr algn="l">
              <a:spcAft>
                <a:spcPts val="300"/>
              </a:spcAft>
            </a:pPr>
            <a:r>
              <a:rPr sz="1200" b="0">
                <a:solidFill>
                  <a:srgbClr val="5B6372"/>
                </a:solidFill>
                <a:latin typeface="Arial"/>
              </a:rPr>
              <a:t>Reveal experience and retention factors; avoid treating departure as the only safe time to speak.</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Suggestion and speak-up routes</a:t>
            </a:r>
          </a:p>
          <a:p>
            <a:pPr algn="l">
              <a:spcAft>
                <a:spcPts val="300"/>
              </a:spcAft>
            </a:pPr>
            <a:r>
              <a:rPr sz="1200" b="0">
                <a:solidFill>
                  <a:srgbClr val="5B6372"/>
                </a:solidFill>
                <a:latin typeface="Arial"/>
              </a:rPr>
              <a:t>Enable ongoing issues with acknowledgement and escalation.</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Manager observations</a:t>
            </a:r>
          </a:p>
          <a:p>
            <a:pPr algn="l">
              <a:spcAft>
                <a:spcPts val="300"/>
              </a:spcAft>
            </a:pPr>
            <a:r>
              <a:rPr sz="1200" b="0">
                <a:solidFill>
                  <a:srgbClr val="5B6372"/>
                </a:solidFill>
                <a:latin typeface="Arial"/>
              </a:rPr>
              <a:t>Useful operational signal, but not a proxy for confidential employee voice.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transition spd="med">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03 · K6 · K7 · A5 · A6</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Anonymous and confidential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Perspective A</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Perspective B</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Anonymous means identity is not collected or reasonably recoverable.</a:t>
            </a:r>
          </a:p>
          <a:p>
            <a:pPr>
              <a:spcAft>
                <a:spcPts val="1000"/>
              </a:spcAft>
            </a:pPr>
            <a:r>
              <a:rPr sz="1600" b="0">
                <a:solidFill>
                  <a:srgbClr val="161B26"/>
                </a:solidFill>
                <a:latin typeface="Arial"/>
              </a:rPr>
              <a:t>•  Small teams, free text and metadata can defeat anonymity.</a:t>
            </a:r>
          </a:p>
          <a:p>
            <a:pPr>
              <a:spcAft>
                <a:spcPts val="1000"/>
              </a:spcAft>
            </a:pPr>
            <a:r>
              <a:rPr sz="1600" b="0">
                <a:solidFill>
                  <a:srgbClr val="161B26"/>
                </a:solidFill>
                <a:latin typeface="Arial"/>
              </a:rPr>
              <a:t>•  Set minimum reporting cells and redact identifiers.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Confidential means authorised people can know identity under defined limits.</a:t>
            </a:r>
          </a:p>
          <a:p>
            <a:pPr>
              <a:spcAft>
                <a:spcPts val="1000"/>
              </a:spcAft>
            </a:pPr>
            <a:r>
              <a:rPr sz="1600" b="0">
                <a:solidFill>
                  <a:srgbClr val="161B26"/>
                </a:solidFill>
                <a:latin typeface="Arial"/>
              </a:rPr>
              <a:t>•  Explain who sees what and when escalation may occur.</a:t>
            </a:r>
          </a:p>
          <a:p>
            <a:pPr>
              <a:spcAft>
                <a:spcPts val="1000"/>
              </a:spcAft>
            </a:pPr>
            <a:r>
              <a:rPr sz="1600" b="0">
                <a:solidFill>
                  <a:srgbClr val="161B26"/>
                </a:solidFill>
                <a:latin typeface="Arial"/>
              </a:rPr>
              <a:t>•  Do not promise anonymity when the channel is only confidential.</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transition spd="med">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EVIDENCE CHAIN</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Programme logic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4663440"/>
            <a:ext cx="1600200"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 y="4828032"/>
            <a:ext cx="1371600" cy="731520"/>
          </a:xfrm>
          <a:prstGeom prst="rect">
            <a:avLst/>
          </a:prstGeom>
          <a:noFill/>
        </p:spPr>
        <p:txBody>
          <a:bodyPr wrap="square" anchor="ctr">
            <a:spAutoFit/>
          </a:bodyPr>
          <a:lstStyle/>
          <a:p>
            <a:pPr algn="ctr">
              <a:spcAft>
                <a:spcPts val="400"/>
              </a:spcAft>
            </a:pPr>
            <a:r>
              <a:rPr sz="1100" b="1">
                <a:solidFill>
                  <a:srgbClr val="FFFFFF"/>
                </a:solidFill>
                <a:latin typeface="Arial"/>
              </a:rPr>
              <a:t>INPUTS</a:t>
            </a:r>
          </a:p>
          <a:p>
            <a:pPr algn="ctr">
              <a:spcAft>
                <a:spcPts val="400"/>
              </a:spcAft>
            </a:pPr>
            <a:r>
              <a:rPr sz="900" b="0">
                <a:solidFill>
                  <a:srgbClr val="FFFFFF"/>
                </a:solidFill>
                <a:latin typeface="Arial"/>
              </a:rPr>
              <a:t>people · budget</a:t>
            </a:r>
          </a:p>
        </p:txBody>
      </p:sp>
      <p:sp>
        <p:nvSpPr>
          <p:cNvPr id="9" name="Rectangle 8"/>
          <p:cNvSpPr/>
          <p:nvPr/>
        </p:nvSpPr>
        <p:spPr>
          <a:xfrm>
            <a:off x="2560320" y="4279393"/>
            <a:ext cx="1600200" cy="1435607"/>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70048" y="4443985"/>
            <a:ext cx="1371600" cy="731520"/>
          </a:xfrm>
          <a:prstGeom prst="rect">
            <a:avLst/>
          </a:prstGeom>
          <a:noFill/>
        </p:spPr>
        <p:txBody>
          <a:bodyPr wrap="square" anchor="ctr">
            <a:spAutoFit/>
          </a:bodyPr>
          <a:lstStyle/>
          <a:p>
            <a:pPr algn="ctr">
              <a:spcAft>
                <a:spcPts val="400"/>
              </a:spcAft>
            </a:pPr>
            <a:r>
              <a:rPr sz="1100" b="1">
                <a:solidFill>
                  <a:srgbClr val="FFFFFF"/>
                </a:solidFill>
                <a:latin typeface="Arial"/>
              </a:rPr>
              <a:t>ACTIVITIES</a:t>
            </a:r>
          </a:p>
          <a:p>
            <a:pPr algn="ctr">
              <a:spcAft>
                <a:spcPts val="400"/>
              </a:spcAft>
            </a:pPr>
            <a:r>
              <a:rPr sz="900" b="0">
                <a:solidFill>
                  <a:srgbClr val="FFFFFF"/>
                </a:solidFill>
                <a:latin typeface="Arial"/>
              </a:rPr>
              <a:t>work + support</a:t>
            </a:r>
          </a:p>
        </p:txBody>
      </p:sp>
      <p:sp>
        <p:nvSpPr>
          <p:cNvPr id="11" name="Rectangle 10"/>
          <p:cNvSpPr/>
          <p:nvPr/>
        </p:nvSpPr>
        <p:spPr>
          <a:xfrm>
            <a:off x="4434840" y="3895345"/>
            <a:ext cx="1600200" cy="181965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44568" y="4059937"/>
            <a:ext cx="1371600" cy="731520"/>
          </a:xfrm>
          <a:prstGeom prst="rect">
            <a:avLst/>
          </a:prstGeom>
          <a:noFill/>
        </p:spPr>
        <p:txBody>
          <a:bodyPr wrap="square" anchor="ctr">
            <a:spAutoFit/>
          </a:bodyPr>
          <a:lstStyle/>
          <a:p>
            <a:pPr algn="ctr">
              <a:spcAft>
                <a:spcPts val="400"/>
              </a:spcAft>
            </a:pPr>
            <a:r>
              <a:rPr sz="1100" b="1">
                <a:solidFill>
                  <a:srgbClr val="FFFFFF"/>
                </a:solidFill>
                <a:latin typeface="Arial"/>
              </a:rPr>
              <a:t>REACH</a:t>
            </a:r>
          </a:p>
          <a:p>
            <a:pPr algn="ctr">
              <a:spcAft>
                <a:spcPts val="400"/>
              </a:spcAft>
            </a:pPr>
            <a:r>
              <a:rPr sz="900" b="0">
                <a:solidFill>
                  <a:srgbClr val="FFFFFF"/>
                </a:solidFill>
                <a:latin typeface="Arial"/>
              </a:rPr>
              <a:t>who can access</a:t>
            </a:r>
          </a:p>
        </p:txBody>
      </p:sp>
      <p:sp>
        <p:nvSpPr>
          <p:cNvPr id="13" name="Rectangle 12"/>
          <p:cNvSpPr/>
          <p:nvPr/>
        </p:nvSpPr>
        <p:spPr>
          <a:xfrm>
            <a:off x="6309359" y="3511296"/>
            <a:ext cx="1600200" cy="2203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19087" y="3675888"/>
            <a:ext cx="1371600" cy="731520"/>
          </a:xfrm>
          <a:prstGeom prst="rect">
            <a:avLst/>
          </a:prstGeom>
          <a:noFill/>
        </p:spPr>
        <p:txBody>
          <a:bodyPr wrap="square" anchor="ctr">
            <a:spAutoFit/>
          </a:bodyPr>
          <a:lstStyle/>
          <a:p>
            <a:pPr algn="ctr">
              <a:spcAft>
                <a:spcPts val="400"/>
              </a:spcAft>
            </a:pPr>
            <a:r>
              <a:rPr sz="1100" b="1">
                <a:solidFill>
                  <a:srgbClr val="FFFFFF"/>
                </a:solidFill>
                <a:latin typeface="Arial"/>
              </a:rPr>
              <a:t>EXPERIENCE</a:t>
            </a:r>
          </a:p>
          <a:p>
            <a:pPr algn="ctr">
              <a:spcAft>
                <a:spcPts val="400"/>
              </a:spcAft>
            </a:pPr>
            <a:r>
              <a:rPr sz="900" b="0">
                <a:solidFill>
                  <a:srgbClr val="FFFFFF"/>
                </a:solidFill>
                <a:latin typeface="Arial"/>
              </a:rPr>
              <a:t>trust · quality</a:t>
            </a:r>
          </a:p>
        </p:txBody>
      </p:sp>
      <p:sp>
        <p:nvSpPr>
          <p:cNvPr id="15" name="Rectangle 14"/>
          <p:cNvSpPr/>
          <p:nvPr/>
        </p:nvSpPr>
        <p:spPr>
          <a:xfrm>
            <a:off x="8183879" y="3127248"/>
            <a:ext cx="1600200" cy="25877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3607" y="3291840"/>
            <a:ext cx="1371600" cy="731520"/>
          </a:xfrm>
          <a:prstGeom prst="rect">
            <a:avLst/>
          </a:prstGeom>
          <a:noFill/>
        </p:spPr>
        <p:txBody>
          <a:bodyPr wrap="square" anchor="ctr">
            <a:spAutoFit/>
          </a:bodyPr>
          <a:lstStyle/>
          <a:p>
            <a:pPr algn="ctr">
              <a:spcAft>
                <a:spcPts val="400"/>
              </a:spcAft>
            </a:pPr>
            <a:r>
              <a:rPr sz="1100" b="1">
                <a:solidFill>
                  <a:srgbClr val="FFFFFF"/>
                </a:solidFill>
                <a:latin typeface="Arial"/>
              </a:rPr>
              <a:t>CHANGE</a:t>
            </a:r>
          </a:p>
          <a:p>
            <a:pPr algn="ctr">
              <a:spcAft>
                <a:spcPts val="400"/>
              </a:spcAft>
            </a:pPr>
            <a:r>
              <a:rPr sz="900" b="0">
                <a:solidFill>
                  <a:srgbClr val="FFFFFF"/>
                </a:solidFill>
                <a:latin typeface="Arial"/>
              </a:rPr>
              <a:t>condition · capability</a:t>
            </a:r>
          </a:p>
        </p:txBody>
      </p:sp>
      <p:sp>
        <p:nvSpPr>
          <p:cNvPr id="17" name="Rectangle 16"/>
          <p:cNvSpPr/>
          <p:nvPr/>
        </p:nvSpPr>
        <p:spPr>
          <a:xfrm>
            <a:off x="10058400" y="2743200"/>
            <a:ext cx="1600200" cy="29718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68128" y="2907792"/>
            <a:ext cx="1371600" cy="731520"/>
          </a:xfrm>
          <a:prstGeom prst="rect">
            <a:avLst/>
          </a:prstGeom>
          <a:noFill/>
        </p:spPr>
        <p:txBody>
          <a:bodyPr wrap="square" anchor="ctr">
            <a:spAutoFit/>
          </a:bodyPr>
          <a:lstStyle/>
          <a:p>
            <a:pPr algn="ctr">
              <a:spcAft>
                <a:spcPts val="400"/>
              </a:spcAft>
            </a:pPr>
            <a:r>
              <a:rPr sz="1100" b="1">
                <a:solidFill>
                  <a:srgbClr val="FFFFFF"/>
                </a:solidFill>
                <a:latin typeface="Arial"/>
              </a:rPr>
              <a:t>OUTCOMES</a:t>
            </a:r>
          </a:p>
          <a:p>
            <a:pPr algn="ctr">
              <a:spcAft>
                <a:spcPts val="400"/>
              </a:spcAft>
            </a:pPr>
            <a:r>
              <a:rPr sz="900" b="0">
                <a:solidFill>
                  <a:srgbClr val="FFFFFF"/>
                </a:solidFill>
                <a:latin typeface="Arial"/>
              </a:rPr>
              <a:t>wellbeing · work</a:t>
            </a:r>
          </a:p>
        </p:txBody>
      </p:sp>
      <p:sp>
        <p:nvSpPr>
          <p:cNvPr id="19" name="TextBox 18"/>
          <p:cNvSpPr txBox="1"/>
          <p:nvPr/>
        </p:nvSpPr>
        <p:spPr>
          <a:xfrm>
            <a:off x="777240" y="5925312"/>
            <a:ext cx="10698480" cy="320040"/>
          </a:xfrm>
          <a:prstGeom prst="rect">
            <a:avLst/>
          </a:prstGeom>
          <a:noFill/>
        </p:spPr>
        <p:txBody>
          <a:bodyPr wrap="square" anchor="t">
            <a:spAutoFit/>
          </a:bodyPr>
          <a:lstStyle/>
          <a:p>
            <a:pPr algn="ctr">
              <a:spcAft>
                <a:spcPts val="400"/>
              </a:spcAft>
            </a:pPr>
            <a:r>
              <a:rPr sz="1100" b="1">
                <a:solidFill>
                  <a:srgbClr val="5B6372"/>
                </a:solidFill>
                <a:latin typeface="Arial"/>
              </a:rPr>
              <a:t>Implementation evidence strengthens first  →  causal confidence requires design, comparison and time</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transition spd="med">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03 · K6 · K7 · A5 · A6</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Balanced measures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Reach</a:t>
            </a:r>
          </a:p>
          <a:p>
            <a:pPr algn="l">
              <a:spcAft>
                <a:spcPts val="300"/>
              </a:spcAft>
            </a:pPr>
            <a:r>
              <a:rPr sz="1200" b="0">
                <a:solidFill>
                  <a:srgbClr val="5B6372"/>
                </a:solidFill>
                <a:latin typeface="Arial"/>
              </a:rPr>
              <a:t>Eligible employees, awareness and access by relevant group.</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Participation</a:t>
            </a:r>
          </a:p>
          <a:p>
            <a:pPr algn="l">
              <a:spcAft>
                <a:spcPts val="300"/>
              </a:spcAft>
            </a:pPr>
            <a:r>
              <a:rPr sz="1200" b="0">
                <a:solidFill>
                  <a:srgbClr val="5B6372"/>
                </a:solidFill>
                <a:latin typeface="Arial"/>
              </a:rPr>
              <a:t>Uptake, repeat use, completion and drop-off.</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Experience</a:t>
            </a:r>
          </a:p>
          <a:p>
            <a:pPr algn="l">
              <a:spcAft>
                <a:spcPts val="300"/>
              </a:spcAft>
            </a:pPr>
            <a:r>
              <a:rPr sz="1200" b="0">
                <a:solidFill>
                  <a:srgbClr val="5B6372"/>
                </a:solidFill>
                <a:latin typeface="Arial"/>
              </a:rPr>
              <a:t>Trust, relevance, accessibility, quality and psychological safety.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Outcome</a:t>
            </a:r>
          </a:p>
          <a:p>
            <a:pPr algn="l">
              <a:spcAft>
                <a:spcPts val="300"/>
              </a:spcAft>
            </a:pPr>
            <a:r>
              <a:rPr sz="1200" b="0">
                <a:solidFill>
                  <a:srgbClr val="5B6372"/>
                </a:solidFill>
                <a:latin typeface="Arial"/>
              </a:rPr>
              <a:t>Work conditions, wellbeing indicators and operational outcomes over time.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transition spd="med">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03 · K6 · K7 · A5 · A6</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Leading and lagging indicators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Perspective A</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Perspective B</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Leading: manager capability, access, response time, workload controls and participation equity.</a:t>
            </a:r>
          </a:p>
          <a:p>
            <a:pPr>
              <a:spcAft>
                <a:spcPts val="1000"/>
              </a:spcAft>
            </a:pPr>
            <a:r>
              <a:rPr sz="1600" b="0">
                <a:solidFill>
                  <a:srgbClr val="161B26"/>
                </a:solidFill>
                <a:latin typeface="Arial"/>
              </a:rPr>
              <a:t>•  They show conditions that can influence later outcomes.</a:t>
            </a:r>
          </a:p>
          <a:p>
            <a:pPr>
              <a:spcAft>
                <a:spcPts val="1000"/>
              </a:spcAft>
            </a:pPr>
            <a:r>
              <a:rPr sz="1600" b="0">
                <a:solidFill>
                  <a:srgbClr val="161B26"/>
                </a:solidFill>
                <a:latin typeface="Arial"/>
              </a:rPr>
              <a:t>•  Use them for early correction.</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Lagging: absence, turnover, claims, incidents and sustained wellbeing outcomes.</a:t>
            </a:r>
          </a:p>
          <a:p>
            <a:pPr>
              <a:spcAft>
                <a:spcPts val="1000"/>
              </a:spcAft>
            </a:pPr>
            <a:r>
              <a:rPr sz="1600" b="0">
                <a:solidFill>
                  <a:srgbClr val="161B26"/>
                </a:solidFill>
                <a:latin typeface="Arial"/>
              </a:rPr>
              <a:t>•  They are influenced by many factors and often change slowly.</a:t>
            </a:r>
          </a:p>
          <a:p>
            <a:pPr>
              <a:spcAft>
                <a:spcPts val="1000"/>
              </a:spcAft>
            </a:pPr>
            <a:r>
              <a:rPr sz="1600" b="0">
                <a:solidFill>
                  <a:srgbClr val="161B26"/>
                </a:solidFill>
                <a:latin typeface="Arial"/>
              </a:rPr>
              <a:t>•  Avoid attributing change to one programme without suitable evidence.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p:transition spd="med">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03 · K6 · K7 · A5 · A6</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Evaluation threats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Selection bias</a:t>
            </a:r>
          </a:p>
          <a:p>
            <a:pPr algn="l">
              <a:spcAft>
                <a:spcPts val="300"/>
              </a:spcAft>
            </a:pPr>
            <a:r>
              <a:rPr sz="1200" b="0">
                <a:solidFill>
                  <a:srgbClr val="5B6372"/>
                </a:solidFill>
                <a:latin typeface="Arial"/>
              </a:rPr>
              <a:t>Participants may differ from non-participants before the programme.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Confounding</a:t>
            </a:r>
          </a:p>
          <a:p>
            <a:pPr algn="l">
              <a:spcAft>
                <a:spcPts val="300"/>
              </a:spcAft>
            </a:pPr>
            <a:r>
              <a:rPr sz="1200" b="0">
                <a:solidFill>
                  <a:srgbClr val="5B6372"/>
                </a:solidFill>
                <a:latin typeface="Arial"/>
              </a:rPr>
              <a:t>Workload, leadership, seasonality or policy changes influence outcomes.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Small numbers</a:t>
            </a:r>
          </a:p>
          <a:p>
            <a:pPr algn="l">
              <a:spcAft>
                <a:spcPts val="300"/>
              </a:spcAft>
            </a:pPr>
            <a:r>
              <a:rPr sz="1200" b="0">
                <a:solidFill>
                  <a:srgbClr val="5B6372"/>
                </a:solidFill>
                <a:latin typeface="Arial"/>
              </a:rPr>
              <a:t>Percentages may fluctuate and create privacy risk.</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Vanity metrics</a:t>
            </a:r>
          </a:p>
          <a:p>
            <a:pPr algn="l">
              <a:spcAft>
                <a:spcPts val="300"/>
              </a:spcAft>
            </a:pPr>
            <a:r>
              <a:rPr sz="1200" b="0">
                <a:solidFill>
                  <a:srgbClr val="5B6372"/>
                </a:solidFill>
                <a:latin typeface="Arial"/>
              </a:rPr>
              <a:t>Registrations and clicks do not prove benefit or safe implementation.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p:transition spd="med">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03 · K6 · K7 · A5 · A6</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Management review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59002"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59002"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Review purpose and safeguards</a:t>
            </a:r>
          </a:p>
        </p:txBody>
      </p:sp>
      <p:sp>
        <p:nvSpPr>
          <p:cNvPr id="12" name="TextBox 11"/>
          <p:cNvSpPr txBox="1"/>
          <p:nvPr/>
        </p:nvSpPr>
        <p:spPr>
          <a:xfrm>
            <a:off x="2253996"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601468"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601468"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298323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8323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2747772"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Compare target with evidence</a:t>
            </a:r>
          </a:p>
        </p:txBody>
      </p:sp>
      <p:sp>
        <p:nvSpPr>
          <p:cNvPr id="18" name="TextBox 17"/>
          <p:cNvSpPr txBox="1"/>
          <p:nvPr/>
        </p:nvSpPr>
        <p:spPr>
          <a:xfrm>
            <a:off x="407822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4425696"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25696"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807458"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07458"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4572000"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Check equity and unintended effects</a:t>
            </a:r>
          </a:p>
        </p:txBody>
      </p:sp>
      <p:sp>
        <p:nvSpPr>
          <p:cNvPr id="24" name="TextBox 23"/>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6249924"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49924"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63168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3168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6396228"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Identify causes</a:t>
            </a:r>
          </a:p>
        </p:txBody>
      </p:sp>
      <p:sp>
        <p:nvSpPr>
          <p:cNvPr id="30" name="TextBox 29"/>
          <p:cNvSpPr txBox="1"/>
          <p:nvPr/>
        </p:nvSpPr>
        <p:spPr>
          <a:xfrm>
            <a:off x="772668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8074152"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74152"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45591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5591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8220456"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Choose scale, adapt or stop</a:t>
            </a:r>
          </a:p>
        </p:txBody>
      </p:sp>
      <p:sp>
        <p:nvSpPr>
          <p:cNvPr id="36" name="TextBox 35"/>
          <p:cNvSpPr txBox="1"/>
          <p:nvPr/>
        </p:nvSpPr>
        <p:spPr>
          <a:xfrm>
            <a:off x="9550908"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7" name="Rectangle 36"/>
          <p:cNvSpPr/>
          <p:nvPr/>
        </p:nvSpPr>
        <p:spPr>
          <a:xfrm>
            <a:off x="989838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98380" y="2331720"/>
            <a:ext cx="15133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280142"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280142"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6</a:t>
            </a:r>
          </a:p>
        </p:txBody>
      </p:sp>
      <p:sp>
        <p:nvSpPr>
          <p:cNvPr id="41" name="TextBox 40"/>
          <p:cNvSpPr txBox="1"/>
          <p:nvPr/>
        </p:nvSpPr>
        <p:spPr>
          <a:xfrm>
            <a:off x="10044684" y="3749040"/>
            <a:ext cx="1220724" cy="1325880"/>
          </a:xfrm>
          <a:prstGeom prst="rect">
            <a:avLst/>
          </a:prstGeom>
          <a:noFill/>
        </p:spPr>
        <p:txBody>
          <a:bodyPr wrap="square" anchor="t">
            <a:spAutoFit/>
          </a:bodyPr>
          <a:lstStyle/>
          <a:p>
            <a:pPr algn="ctr">
              <a:spcAft>
                <a:spcPts val="400"/>
              </a:spcAft>
            </a:pPr>
            <a:r>
              <a:rPr sz="1200" b="0">
                <a:solidFill>
                  <a:srgbClr val="161B26"/>
                </a:solidFill>
                <a:latin typeface="Arial"/>
              </a:rPr>
              <a:t>Assign and close actions</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p:transition spd="med">
    <p:fade/>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03 · K6 · K7 · A5 · A6</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Decision-ready report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Decision</a:t>
            </a:r>
          </a:p>
          <a:p>
            <a:pPr algn="l">
              <a:spcAft>
                <a:spcPts val="300"/>
              </a:spcAft>
            </a:pPr>
            <a:r>
              <a:rPr sz="1200" b="0">
                <a:solidFill>
                  <a:srgbClr val="5B6372"/>
                </a:solidFill>
                <a:latin typeface="Arial"/>
              </a:rPr>
              <a:t>What approval, resource, risk acceptance or change is required?</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Evidence</a:t>
            </a:r>
          </a:p>
          <a:p>
            <a:pPr algn="l">
              <a:spcAft>
                <a:spcPts val="300"/>
              </a:spcAft>
            </a:pPr>
            <a:r>
              <a:rPr sz="1200" b="0">
                <a:solidFill>
                  <a:srgbClr val="5B6372"/>
                </a:solidFill>
                <a:latin typeface="Arial"/>
              </a:rPr>
              <a:t>What is known, how reliable is it and what remains uncertain?</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Equity and risk</a:t>
            </a:r>
          </a:p>
          <a:p>
            <a:pPr algn="l">
              <a:spcAft>
                <a:spcPts val="300"/>
              </a:spcAft>
            </a:pPr>
            <a:r>
              <a:rPr sz="1200" b="0">
                <a:solidFill>
                  <a:srgbClr val="5B6372"/>
                </a:solidFill>
                <a:latin typeface="Arial"/>
              </a:rPr>
              <a:t>Who benefits, who is missing and what harm may occur?</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Action</a:t>
            </a:r>
          </a:p>
          <a:p>
            <a:pPr algn="l">
              <a:spcAft>
                <a:spcPts val="300"/>
              </a:spcAft>
            </a:pPr>
            <a:r>
              <a:rPr sz="1200" b="0">
                <a:solidFill>
                  <a:srgbClr val="5B6372"/>
                </a:solidFill>
                <a:latin typeface="Arial"/>
              </a:rPr>
              <a:t>Owner, due date, measure, communication and next review trigger.</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p:transition spd="med">
    <p:fade/>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TOPIC 03 · K6 · K7 · A5 · A6</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Feedback earns trust only when people can see what changed.</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Close the loop, explain constraints and keep measuring the employee experience.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p:transition spd="med">
    <p:fade/>
  </p:transition>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REAL-USE-CASE DECISIONS</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400" b="1">
                <a:solidFill>
                  <a:srgbClr val="161B26"/>
                </a:solidFill>
                <a:latin typeface="Arial"/>
              </a:rPr>
              <a:t>Applied Activities — Communication, Feedback and Improvement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Activity 8</a:t>
            </a:r>
          </a:p>
          <a:p>
            <a:pPr algn="l">
              <a:spcAft>
                <a:spcPts val="300"/>
              </a:spcAft>
            </a:pPr>
            <a:r>
              <a:rPr sz="1000" b="0">
                <a:solidFill>
                  <a:srgbClr val="5B6372"/>
                </a:solidFill>
                <a:latin typeface="Arial"/>
              </a:rPr>
              <a:t>Inclusive Multi-Channel Wellbeing Campaign · K6 · K7 · A5 · LO3</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Activity 9</a:t>
            </a:r>
          </a:p>
          <a:p>
            <a:pPr algn="l">
              <a:spcAft>
                <a:spcPts val="300"/>
              </a:spcAft>
            </a:pPr>
            <a:r>
              <a:rPr sz="1000" b="0">
                <a:solidFill>
                  <a:srgbClr val="5B6372"/>
                </a:solidFill>
                <a:latin typeface="Arial"/>
              </a:rPr>
              <a:t>Employee Feedback and Listening System · K7 · A6 · LO3</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Activity 10</a:t>
            </a:r>
          </a:p>
          <a:p>
            <a:pPr algn="l">
              <a:spcAft>
                <a:spcPts val="300"/>
              </a:spcAft>
            </a:pPr>
            <a:r>
              <a:rPr sz="1000" b="0">
                <a:solidFill>
                  <a:srgbClr val="5B6372"/>
                </a:solidFill>
                <a:latin typeface="Arial"/>
              </a:rPr>
              <a:t>Wellbeing Programme Management Review · K6 · K7 · A5 · A6 · LO3</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Evidence boundary</a:t>
            </a:r>
          </a:p>
          <a:p>
            <a:pPr algn="l">
              <a:spcAft>
                <a:spcPts val="300"/>
              </a:spcAft>
            </a:pPr>
            <a:r>
              <a:rPr sz="1000" b="0">
                <a:solidFill>
                  <a:srgbClr val="5B6372"/>
                </a:solidFill>
                <a:latin typeface="Arial"/>
              </a:rPr>
              <a:t>Published evidence and requirements are separated from fictional workplace inputs.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Tree>
  </p:cSld>
  <p:clrMapOvr>
    <a:masterClrMapping/>
  </p:clrMapOvr>
  <p:transition spd="med">
    <p:fade/>
  </p:transition>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LEARNING UNIT 03 · K6 · K7 · A5 · LO3</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Inclusive Multi-Channel Wellbeing Campaign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8</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Design a trust-centred campaign that reaches office, frontline and mobile employees without overclaiming outcomes.</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Audience-message-channel matrix, campaign assets plan and measurement framework</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 evidence:  </a:t>
            </a:r>
            <a:r>
              <a:rPr sz="1300" b="0">
                <a:solidFill>
                  <a:srgbClr val="5B6372"/>
                </a:solidFill>
                <a:latin typeface="Arial"/>
              </a:rPr>
              <a:t>Gallup wellbeing framing · employee personas · channel data · message testing sheet</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117</a:t>
            </a:r>
          </a:p>
        </p:txBody>
      </p:sp>
    </p:spTree>
  </p:cSld>
  <p:clrMapOvr>
    <a:masterClrMapping/>
  </p:clrMapOvr>
  <p:transition spd="med">
    <p:fade/>
  </p:transition>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8 · REAL EVENT</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Case Scenario — Public Facts and Training Guardrails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Reported / sourced</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Training assumptions / limits</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Gallup's research treats career wellbeing as foundational and describes employee wellbeing as connected with engagement, absence, performance and retention. These relationships can guide a value proposition but do not prove that a single campaign or programme causes each outcome.</a:t>
            </a:r>
          </a:p>
          <a:p>
            <a:pPr>
              <a:spcAft>
                <a:spcPts val="1000"/>
              </a:spcAft>
            </a:pPr>
            <a:r>
              <a:rPr sz="1600" b="0">
                <a:solidFill>
                  <a:srgbClr val="161B26"/>
                </a:solidFill>
                <a:latin typeface="Arial"/>
              </a:rPr>
              <a:t>•  Full source is recorded in speaker notes and the Learner Guide.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Personas, channel reach, trust scores and message-test results are fictional.</a:t>
            </a:r>
          </a:p>
          <a:p>
            <a:pPr>
              <a:spcAft>
                <a:spcPts val="1000"/>
              </a:spcAft>
            </a:pPr>
            <a:r>
              <a:rPr sz="1600" b="0">
                <a:solidFill>
                  <a:srgbClr val="161B26"/>
                </a:solidFill>
                <a:latin typeface="Arial"/>
              </a:rPr>
              <a:t>•  EAP individual use is confidential to the provider, subject to stated safety and legal boundaries.</a:t>
            </a:r>
          </a:p>
          <a:p>
            <a:pPr>
              <a:spcAft>
                <a:spcPts val="1000"/>
              </a:spcAft>
            </a:pPr>
            <a:r>
              <a:rPr sz="1600" b="0">
                <a:solidFill>
                  <a:srgbClr val="161B26"/>
                </a:solidFill>
                <a:latin typeface="Arial"/>
              </a:rPr>
              <a:t>•  The campaign has six weeks and a S$18,000 budget.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118</a:t>
            </a:r>
          </a:p>
        </p:txBody>
      </p:sp>
    </p:spTree>
  </p:cSld>
  <p:clrMapOvr>
    <a:masterClrMapping/>
  </p:clrMapOvr>
  <p:transition spd="med">
    <p:fade/>
  </p:transition>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ACTIVITY 8 · DISCUSS AND DECIDE</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Activity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What behaviour or decision should each audience take?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Which benefit, barrier, messenger and channel combination fits each group?</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How will the campaign explain privacy and voluntariness accurately?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Which measures distinguish delivery, comprehension, trust and action?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119</a:t>
            </a:r>
          </a:p>
        </p:txBody>
      </p:sp>
    </p:spTree>
  </p:cSld>
  <p:clrMapOvr>
    <a:masterClrMapping/>
  </p:clrMapOvr>
  <p:transition spd="med">
    <p:fade/>
  </p:transition>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8 · ACCEPTANCE TEST</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Inclusive Multi-Channel Wellbeing Campaign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Every priority audience has a defined action, credible benefit, trusted messenger and accessible channel; privacy is accurate; overclaiming is absent; and measures cover reach, comprehension, trust, action and equity.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120</a:t>
            </a:r>
          </a:p>
        </p:txBody>
      </p:sp>
    </p:spTree>
  </p:cSld>
  <p:clrMapOvr>
    <a:masterClrMapping/>
  </p:clrMapOvr>
  <p:transition spd="med">
    <p:fade/>
  </p:transition>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LEARNING UNIT 03 · K7 · A6 · LO3</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Employee Feedback and Listening System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9</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Design a feedback system that combines surveys, focus groups, interviews and programme data while protecting identity and closing the loop.</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Feedback architecture, survey/facilitation instruments and response protocol</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 evidence:  </a:t>
            </a:r>
            <a:r>
              <a:rPr sz="1300" b="0">
                <a:solidFill>
                  <a:srgbClr val="5B6372"/>
                </a:solidFill>
                <a:latin typeface="Arial"/>
              </a:rPr>
              <a:t>Workplace Mental Health resilience framework · sample dataset · channel risk cards · reporting template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121</a:t>
            </a:r>
          </a:p>
        </p:txBody>
      </p:sp>
    </p:spTree>
  </p:cSld>
  <p:clrMapOvr>
    <a:masterClrMapping/>
  </p:clrMapOvr>
  <p:transition spd="med">
    <p:fade/>
  </p:transition>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9 · REAL EVENT</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Case Scenario — Public Facts and Training Guardrails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Reported / sourced</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Training assumptions / limits</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The Center for Workplace Mental Health describes organisational resilience through leadership, training, a culture of empowerment, purpose, trust and accountability, supportive work environments, flexibility and access to support. Employee voice is needed to understand whether those conditions are experienced in practice.</a:t>
            </a:r>
          </a:p>
          <a:p>
            <a:pPr>
              <a:spcAft>
                <a:spcPts val="1000"/>
              </a:spcAft>
            </a:pPr>
            <a:r>
              <a:rPr sz="1600" b="0">
                <a:solidFill>
                  <a:srgbClr val="161B26"/>
                </a:solidFill>
                <a:latin typeface="Arial"/>
              </a:rPr>
              <a:t>•  Full source is recorded in speaker notes and the Learner Guide.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All sample responses and organisational details are fictional.</a:t>
            </a:r>
          </a:p>
          <a:p>
            <a:pPr>
              <a:spcAft>
                <a:spcPts val="1000"/>
              </a:spcAft>
            </a:pPr>
            <a:r>
              <a:rPr sz="1600" b="0">
                <a:solidFill>
                  <a:srgbClr val="161B26"/>
                </a:solidFill>
                <a:latin typeface="Arial"/>
              </a:rPr>
              <a:t>•  Reporting groups must meet a minimum threshold and free text needs disclosure review.</a:t>
            </a:r>
          </a:p>
          <a:p>
            <a:pPr>
              <a:spcAft>
                <a:spcPts val="1000"/>
              </a:spcAft>
            </a:pPr>
            <a:r>
              <a:rPr sz="1600" b="0">
                <a:solidFill>
                  <a:srgbClr val="161B26"/>
                </a:solidFill>
                <a:latin typeface="Arial"/>
              </a:rPr>
              <a:t>•  An independent research administrator is available for confidential interviews.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122</a:t>
            </a:r>
          </a:p>
        </p:txBody>
      </p:sp>
    </p:spTree>
  </p:cSld>
  <p:clrMapOvr>
    <a:masterClrMapping/>
  </p:clrMapOvr>
  <p:transition spd="med">
    <p:fade/>
  </p:transition>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ACTIVITY 9 · DISCUSS AND DECIDE</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Activity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Which question requires survey, focus group, interview or service data?</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What data should not be collected, and what reporting threshold is safe?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How will employees understand anonymity, confidentiality and escalation?</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How will management acknowledge, decide and close the feedback loop?</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123</a:t>
            </a:r>
          </a:p>
        </p:txBody>
      </p:sp>
    </p:spTree>
  </p:cSld>
  <p:clrMapOvr>
    <a:masterClrMapping/>
  </p:clrMapOvr>
  <p:transition spd="med">
    <p:fade/>
  </p:transition>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9 · ACCEPTANCE TEST</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Employee Feedback and Listening System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The system collects only decision-relevant data, uses complementary methods, protects small groups and free text, accurately distinguishes anonymity/confidentiality, includes safety escalation and commits to visible response timelines.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124</a:t>
            </a:r>
          </a:p>
        </p:txBody>
      </p:sp>
    </p:spTree>
  </p:cSld>
  <p:clrMapOvr>
    <a:masterClrMapping/>
  </p:clrMapOvr>
  <p:transition spd="med">
    <p:fade/>
  </p:transition>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LEARNING UNIT 03 · K6 · K7 · A5 · A6 · LO3</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Wellbeing Programme Management Review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10</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Turn reach, experience, work-condition, outcome and cost evidence into a decision-ready management review.</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Programme dashboard, evidence confidence assessment and management decision paper</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 evidence:  </a:t>
            </a:r>
            <a:r>
              <a:rPr sz="1300" b="0">
                <a:solidFill>
                  <a:srgbClr val="5B6372"/>
                </a:solidFill>
                <a:latin typeface="Arial"/>
              </a:rPr>
              <a:t>McKinsey thriving-at-work research · fictional 12-month dataset · logic model · decision template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125</a:t>
            </a:r>
          </a:p>
        </p:txBody>
      </p:sp>
    </p:spTree>
  </p:cSld>
  <p:clrMapOvr>
    <a:masterClrMapping/>
  </p:clrMapOvr>
  <p:transition spd="med">
    <p:fade/>
  </p:transition>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10 · REAL EVENT</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Case Scenario — Public Facts and Training Guardrails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Reported / sourced</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Training assumptions / limits</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McKinsey's workplace research presents wellbeing as a leadership priority and highlights organisational enablers such as psychological safety, purpose and adaptable support. The source supports a systems perspective; the fictional programme dataset must be evaluated on its own quality and cannot inherit causal conclusions.</a:t>
            </a:r>
          </a:p>
          <a:p>
            <a:pPr>
              <a:spcAft>
                <a:spcPts val="1000"/>
              </a:spcAft>
            </a:pPr>
            <a:r>
              <a:rPr sz="1600" b="0">
                <a:solidFill>
                  <a:srgbClr val="161B26"/>
                </a:solidFill>
                <a:latin typeface="Arial"/>
              </a:rPr>
              <a:t>•  Full source is recorded in speaker notes and the Learner Guide.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All programme, outcome, cost, baseline and comparison data are fictional.</a:t>
            </a:r>
          </a:p>
          <a:p>
            <a:pPr>
              <a:spcAft>
                <a:spcPts val="1000"/>
              </a:spcAft>
            </a:pPr>
            <a:r>
              <a:rPr sz="1600" b="0">
                <a:solidFill>
                  <a:srgbClr val="161B26"/>
                </a:solidFill>
                <a:latin typeface="Arial"/>
              </a:rPr>
              <a:t>•  Business units were not randomly assigned; workload and leadership changes occurred during the pilot.</a:t>
            </a:r>
          </a:p>
          <a:p>
            <a:pPr>
              <a:spcAft>
                <a:spcPts val="1000"/>
              </a:spcAft>
            </a:pPr>
            <a:r>
              <a:rPr sz="1600" b="0">
                <a:solidFill>
                  <a:srgbClr val="161B26"/>
                </a:solidFill>
                <a:latin typeface="Arial"/>
              </a:rPr>
              <a:t>•  Small groups and sensitive service data must be aggregated before management reporting.</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126</a:t>
            </a:r>
          </a:p>
        </p:txBody>
      </p:sp>
    </p:spTree>
  </p:cSld>
  <p:clrMapOvr>
    <a:masterClrMapping/>
  </p:clrMapOvr>
  <p:transition spd="med">
    <p:fade/>
  </p:transition>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ACTIVITY 10 · DISCUSS AND DECIDE</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Activity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Did delivery reach the intended groups safely and equitably?</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What evidence supports changes in experience, work conditions and outcomes?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Which alternative explanations and data-quality weaknesses limit confidence?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What should management scale, adapt, pause or stop, and what is the next review trigger?</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127</a:t>
            </a:r>
          </a:p>
        </p:txBody>
      </p:sp>
    </p:spTree>
  </p:cSld>
  <p:clrMapOvr>
    <a:masterClrMapping/>
  </p:clrMapOvr>
  <p:transition spd="med">
    <p:fade/>
  </p:transition>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10 · ACCEPTANCE TEST</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Wellbeing Programme Management Review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The review validates data, follows the logic model, separates implementation from outcome, analyses equity, names confounders, avoids causal overclaiming and gives component-level decisions with owners and review triggers.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128</a:t>
            </a:r>
          </a:p>
        </p:txBody>
      </p:sp>
    </p:spTree>
  </p:cSld>
  <p:clrMapOvr>
    <a:masterClrMapping/>
  </p:clrMapOvr>
  <p:transition spd="med">
    <p:fade/>
  </p:transition>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UNIT RECAP</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Recap — Communication, Feedback and Improvement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Inclusive Multi-Channel Wellbeing Campaign</a:t>
            </a:r>
          </a:p>
          <a:p>
            <a:pPr algn="l">
              <a:spcAft>
                <a:spcPts val="300"/>
              </a:spcAft>
            </a:pPr>
            <a:r>
              <a:rPr sz="1100" b="0">
                <a:solidFill>
                  <a:srgbClr val="5B6372"/>
                </a:solidFill>
                <a:latin typeface="Arial"/>
              </a:rPr>
              <a:t>Communicate credible programme benefits through appropriate techniques and channels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Employee Feedback and Listening System</a:t>
            </a:r>
          </a:p>
          <a:p>
            <a:pPr algn="l">
              <a:spcAft>
                <a:spcPts val="300"/>
              </a:spcAft>
            </a:pPr>
            <a:r>
              <a:rPr sz="1100" b="0">
                <a:solidFill>
                  <a:srgbClr val="5B6372"/>
                </a:solidFill>
                <a:latin typeface="Arial"/>
              </a:rPr>
              <a:t>Gather safe, representative employee feedback using complementary methods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Wellbeing Programme Management Review</a:t>
            </a:r>
          </a:p>
          <a:p>
            <a:pPr algn="l">
              <a:spcAft>
                <a:spcPts val="300"/>
              </a:spcAft>
            </a:pPr>
            <a:r>
              <a:rPr sz="1100" b="0">
                <a:solidFill>
                  <a:srgbClr val="5B6372"/>
                </a:solidFill>
                <a:latin typeface="Arial"/>
              </a:rPr>
              <a:t>Assess programme effectiveness and recommend scale, adaptation or stop</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Evidence habit</a:t>
            </a:r>
          </a:p>
          <a:p>
            <a:pPr algn="l">
              <a:spcAft>
                <a:spcPts val="300"/>
              </a:spcAft>
            </a:pPr>
            <a:r>
              <a:rPr sz="1100" b="0">
                <a:solidFill>
                  <a:srgbClr val="5B6372"/>
                </a:solidFill>
                <a:latin typeface="Arial"/>
              </a:rPr>
              <a:t>Separate public facts, organisation evidence and training assumptions.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Management habit</a:t>
            </a:r>
          </a:p>
          <a:p>
            <a:pPr algn="l">
              <a:spcAft>
                <a:spcPts val="300"/>
              </a:spcAft>
            </a:pPr>
            <a:r>
              <a:rPr sz="1100" b="0">
                <a:solidFill>
                  <a:srgbClr val="5B6372"/>
                </a:solidFill>
                <a:latin typeface="Arial"/>
              </a:rPr>
              <a:t>Link every priority, risk or finding to an owner and review trigger.</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129</a:t>
            </a:r>
          </a:p>
        </p:txBody>
      </p:sp>
    </p:spTree>
  </p:cSld>
  <p:clrMapOvr>
    <a:masterClrMapping/>
  </p:clrMapOvr>
  <p:transition spd="med">
    <p:fade/>
  </p:transition>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Wellbeing Is Designed, Enabled and Improved</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W</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130</a:t>
            </a:r>
          </a:p>
        </p:txBody>
      </p:sp>
    </p:spTree>
  </p:cSld>
  <p:clrMapOvr>
    <a:masterClrMapping/>
  </p:clrMapOvr>
  <p:transition spd="med">
    <p:fade/>
  </p:transition>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SUMMARY</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LO1</a:t>
            </a:r>
          </a:p>
          <a:p>
            <a:pPr algn="l">
              <a:spcAft>
                <a:spcPts val="300"/>
              </a:spcAft>
            </a:pPr>
            <a:r>
              <a:rPr sz="1000" b="0">
                <a:solidFill>
                  <a:srgbClr val="5B6372"/>
                </a:solidFill>
                <a:latin typeface="Arial"/>
              </a:rPr>
              <a:t>Identify workplace health and wellness trends, technologies and research implications for employees and the organisation.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LO2</a:t>
            </a:r>
          </a:p>
          <a:p>
            <a:pPr algn="l">
              <a:spcAft>
                <a:spcPts val="300"/>
              </a:spcAft>
            </a:pPr>
            <a:r>
              <a:rPr sz="1000" b="0">
                <a:solidFill>
                  <a:srgbClr val="5B6372"/>
                </a:solidFill>
                <a:latin typeface="Arial"/>
              </a:rPr>
              <a:t>Implement inclusive health and wellness programmes for different employee groups and translate policies into day-to-day practices.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LO3</a:t>
            </a:r>
          </a:p>
          <a:p>
            <a:pPr algn="l">
              <a:spcAft>
                <a:spcPts val="300"/>
              </a:spcAft>
            </a:pPr>
            <a:r>
              <a:rPr sz="1000" b="0">
                <a:solidFill>
                  <a:srgbClr val="5B6372"/>
                </a:solidFill>
                <a:latin typeface="Arial"/>
              </a:rPr>
              <a:t>Communicate programme benefits through appropriate channels and assess effectiveness using employee feedback and programme evidence.</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131</a:t>
            </a:r>
          </a:p>
        </p:txBody>
      </p:sp>
    </p:spTree>
  </p:cSld>
  <p:clrMapOvr>
    <a:masterClrMapping/>
  </p:clrMapOvr>
  <p:transition spd="med">
    <p:fade/>
  </p:transition>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TAKEAWAY</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The complete programme discipline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Understand needs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Protect trust</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Design the system</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Enable access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Evaluate and improve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132</a:t>
            </a:r>
          </a:p>
        </p:txBody>
      </p:sp>
    </p:spTree>
  </p:cSld>
  <p:clrMapOvr>
    <a:masterClrMapping/>
  </p:clrMapOvr>
  <p:transition spd="med">
    <p:fade/>
  </p:transition>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SOURCE MAP · FULL URLS IN NOTES AND LEARNER GUIDE</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Research Foundations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NCBI</a:t>
            </a:r>
          </a:p>
          <a:p>
            <a:pPr algn="l">
              <a:spcAft>
                <a:spcPts val="300"/>
              </a:spcAft>
            </a:pPr>
            <a:r>
              <a:rPr sz="1100" b="0">
                <a:solidFill>
                  <a:srgbClr val="5B6372"/>
                </a:solidFill>
                <a:latin typeface="Arial"/>
              </a:rPr>
              <a:t>Programme design, accessibility, partnerships and participation barriers.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Gallup</a:t>
            </a:r>
          </a:p>
          <a:p>
            <a:pPr algn="l">
              <a:spcAft>
                <a:spcPts val="300"/>
              </a:spcAft>
            </a:pPr>
            <a:r>
              <a:rPr sz="1100" b="0">
                <a:solidFill>
                  <a:srgbClr val="5B6372"/>
                </a:solidFill>
                <a:latin typeface="Arial"/>
              </a:rPr>
              <a:t>Whole-person wellbeing elements and employee-experience relationships.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CIPD</a:t>
            </a:r>
          </a:p>
          <a:p>
            <a:pPr algn="l">
              <a:spcAft>
                <a:spcPts val="300"/>
              </a:spcAft>
            </a:pPr>
            <a:r>
              <a:rPr sz="1100" b="0">
                <a:solidFill>
                  <a:srgbClr val="5B6372"/>
                </a:solidFill>
                <a:latin typeface="Arial"/>
              </a:rPr>
              <a:t>Resilience evidence, protective factors and system responsibility.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Workplace Mental Health</a:t>
            </a:r>
          </a:p>
          <a:p>
            <a:pPr algn="l">
              <a:spcAft>
                <a:spcPts val="300"/>
              </a:spcAft>
            </a:pPr>
            <a:r>
              <a:rPr sz="1100" b="0">
                <a:solidFill>
                  <a:srgbClr val="5B6372"/>
                </a:solidFill>
                <a:latin typeface="Arial"/>
              </a:rPr>
              <a:t>Leadership, culture, flexibility and access to support.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McKinsey</a:t>
            </a:r>
          </a:p>
          <a:p>
            <a:pPr algn="l">
              <a:spcAft>
                <a:spcPts val="300"/>
              </a:spcAft>
            </a:pPr>
            <a:r>
              <a:rPr sz="1100" b="0">
                <a:solidFill>
                  <a:srgbClr val="5B6372"/>
                </a:solidFill>
                <a:latin typeface="Arial"/>
              </a:rPr>
              <a:t>Thriving-at-work research and organisational enablers.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Peer-reviewed studies</a:t>
            </a:r>
          </a:p>
          <a:p>
            <a:pPr algn="l">
              <a:spcAft>
                <a:spcPts val="300"/>
              </a:spcAft>
            </a:pPr>
            <a:r>
              <a:rPr sz="1100" b="0">
                <a:solidFill>
                  <a:srgbClr val="5B6372"/>
                </a:solidFill>
                <a:latin typeface="Arial"/>
              </a:rPr>
              <a:t>Resilience ecosystems and whole-person care implementation.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133</a:t>
            </a:r>
          </a:p>
        </p:txBody>
      </p:sp>
    </p:spTree>
  </p:cSld>
  <p:clrMapOvr>
    <a:masterClrMapping/>
  </p:clrMapOvr>
  <p:transition spd="med">
    <p:fade/>
  </p:transition>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SOURCE MAP · VALIDATED 16 AUGUST 2026</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Singapore Requirements and Support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PDPC</a:t>
            </a:r>
          </a:p>
          <a:p>
            <a:pPr algn="l">
              <a:spcAft>
                <a:spcPts val="300"/>
              </a:spcAft>
            </a:pPr>
            <a:r>
              <a:rPr sz="1100" b="0">
                <a:solidFill>
                  <a:srgbClr val="5B6372"/>
                </a:solidFill>
                <a:latin typeface="Arial"/>
              </a:rPr>
              <a:t>Personal-data obligations and privacy-by-design baseline.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TAFEP</a:t>
            </a:r>
          </a:p>
          <a:p>
            <a:pPr algn="l">
              <a:spcAft>
                <a:spcPts val="300"/>
              </a:spcAft>
            </a:pPr>
            <a:r>
              <a:rPr sz="1100" b="0">
                <a:solidFill>
                  <a:srgbClr val="5B6372"/>
                </a:solidFill>
                <a:latin typeface="Arial"/>
              </a:rPr>
              <a:t>Mental-wellbeing and fair, supportive employment practices.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HPB</a:t>
            </a:r>
          </a:p>
          <a:p>
            <a:pPr algn="l">
              <a:spcAft>
                <a:spcPts val="300"/>
              </a:spcAft>
            </a:pPr>
            <a:r>
              <a:rPr sz="1100" b="0">
                <a:solidFill>
                  <a:srgbClr val="5B6372"/>
                </a:solidFill>
                <a:latin typeface="Arial"/>
              </a:rPr>
              <a:t>Current workplace-health resources and programme guidance.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MOM</a:t>
            </a:r>
          </a:p>
          <a:p>
            <a:pPr algn="l">
              <a:spcAft>
                <a:spcPts val="300"/>
              </a:spcAft>
            </a:pPr>
            <a:r>
              <a:rPr sz="1100" b="0">
                <a:solidFill>
                  <a:srgbClr val="5B6372"/>
                </a:solidFill>
                <a:latin typeface="Arial"/>
              </a:rPr>
              <a:t>Employment Act sick-leave eligibility and administration.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Healthier SG</a:t>
            </a:r>
          </a:p>
          <a:p>
            <a:pPr algn="l">
              <a:spcAft>
                <a:spcPts val="300"/>
              </a:spcAft>
            </a:pPr>
            <a:r>
              <a:rPr sz="1100" b="0">
                <a:solidFill>
                  <a:srgbClr val="5B6372"/>
                </a:solidFill>
                <a:latin typeface="Arial"/>
              </a:rPr>
              <a:t>National preventive-health and community-support pathway.</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Course page</a:t>
            </a:r>
          </a:p>
          <a:p>
            <a:pPr algn="l">
              <a:spcAft>
                <a:spcPts val="300"/>
              </a:spcAft>
            </a:pPr>
            <a:r>
              <a:rPr sz="1100" b="0">
                <a:solidFill>
                  <a:srgbClr val="5B6372"/>
                </a:solidFill>
                <a:latin typeface="Arial"/>
              </a:rPr>
              <a:t>Approved learning outcomes, topics, duration and assessment format.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134</a:t>
            </a:r>
          </a:p>
        </p:txBody>
      </p:sp>
    </p:spTree>
  </p:cSld>
  <p:clrMapOvr>
    <a:masterClrMapping/>
  </p:clrMapOvr>
  <p:transition spd="med">
    <p:fade/>
  </p:transition>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SOURCE MAP · APPRAISE BEFORE APPLYING</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Practice Perspectives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W Talent Solutions</a:t>
            </a:r>
          </a:p>
          <a:p>
            <a:pPr algn="l">
              <a:spcAft>
                <a:spcPts val="300"/>
              </a:spcAft>
            </a:pPr>
            <a:r>
              <a:rPr sz="1100" b="0">
                <a:solidFill>
                  <a:srgbClr val="5B6372"/>
                </a:solidFill>
                <a:latin typeface="Arial"/>
              </a:rPr>
              <a:t>Whole-person wellness and workplace resilience examples.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Outback Team Building</a:t>
            </a:r>
          </a:p>
          <a:p>
            <a:pPr algn="l">
              <a:spcAft>
                <a:spcPts val="300"/>
              </a:spcAft>
            </a:pPr>
            <a:r>
              <a:rPr sz="1100" b="0">
                <a:solidFill>
                  <a:srgbClr val="5B6372"/>
                </a:solidFill>
                <a:latin typeface="Arial"/>
              </a:rPr>
              <a:t>Activity examples treated as practice inspiration, not causal evidence.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Evidence hierarchy</a:t>
            </a:r>
          </a:p>
          <a:p>
            <a:pPr algn="l">
              <a:spcAft>
                <a:spcPts val="300"/>
              </a:spcAft>
            </a:pPr>
            <a:r>
              <a:rPr sz="1100" b="0">
                <a:solidFill>
                  <a:srgbClr val="5B6372"/>
                </a:solidFill>
                <a:latin typeface="Arial"/>
              </a:rPr>
              <a:t>Regulation and research carry more weight than vendor or promotional claims.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Decision rule</a:t>
            </a:r>
          </a:p>
          <a:p>
            <a:pPr algn="l">
              <a:spcAft>
                <a:spcPts val="300"/>
              </a:spcAft>
            </a:pPr>
            <a:r>
              <a:rPr sz="1100" b="0">
                <a:solidFill>
                  <a:srgbClr val="5B6372"/>
                </a:solidFill>
                <a:latin typeface="Arial"/>
              </a:rPr>
              <a:t>Use source quality, relevance, workforce evidence and safe piloting together.</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135</a:t>
            </a:r>
          </a:p>
        </p:txBody>
      </p:sp>
    </p:spTree>
  </p:cSld>
  <p:clrMapOvr>
    <a:masterClrMapping/>
  </p:clrMapOvr>
  <p:transition spd="med">
    <p:fade/>
  </p:transition>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LMS</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Courseware and Assessment on the LMS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52760" cy="658368"/>
          </a:xfrm>
          <a:prstGeom prst="rect">
            <a:avLst/>
          </a:prstGeom>
          <a:solidFill>
            <a:srgbClr val="EE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38528"/>
            <a:ext cx="10195560" cy="411480"/>
          </a:xfrm>
          <a:prstGeom prst="rect">
            <a:avLst/>
          </a:prstGeom>
          <a:noFill/>
        </p:spPr>
        <p:txBody>
          <a:bodyPr wrap="square" anchor="t">
            <a:spAutoFit/>
          </a:bodyPr>
          <a:lstStyle/>
          <a:p>
            <a:pPr algn="ctr">
              <a:spcAft>
                <a:spcPts val="400"/>
              </a:spcAft>
            </a:pPr>
            <a:r>
              <a:rPr sz="1500" b="1">
                <a:solidFill>
                  <a:srgbClr val="7C3AED"/>
                </a:solidFill>
                <a:latin typeface="Arial"/>
                <a:hlinkClick r:id="rId2"/>
              </a:rPr>
              <a:t>Open resource · lms-tms.tertiaryinfotech.com</a:t>
            </a:r>
          </a:p>
        </p:txBody>
      </p:sp>
      <p:sp>
        <p:nvSpPr>
          <p:cNvPr id="9" name="Rectangle 8"/>
          <p:cNvSpPr/>
          <p:nvPr/>
        </p:nvSpPr>
        <p:spPr>
          <a:xfrm>
            <a:off x="777240" y="2880360"/>
            <a:ext cx="3337560" cy="2514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2880360"/>
            <a:ext cx="3337560"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154680"/>
            <a:ext cx="2926080" cy="502920"/>
          </a:xfrm>
          <a:prstGeom prst="rect">
            <a:avLst/>
          </a:prstGeom>
          <a:noFill/>
        </p:spPr>
        <p:txBody>
          <a:bodyPr wrap="square" anchor="t">
            <a:spAutoFit/>
          </a:bodyPr>
          <a:lstStyle/>
          <a:p>
            <a:pPr algn="l">
              <a:spcAft>
                <a:spcPts val="400"/>
              </a:spcAft>
            </a:pPr>
            <a:r>
              <a:rPr sz="1800" b="1">
                <a:solidFill>
                  <a:srgbClr val="1F6FEB"/>
                </a:solidFill>
                <a:latin typeface="Arial"/>
              </a:rPr>
              <a:t>Courseware</a:t>
            </a:r>
          </a:p>
        </p:txBody>
      </p:sp>
      <p:sp>
        <p:nvSpPr>
          <p:cNvPr id="12" name="TextBox 11"/>
          <p:cNvSpPr txBox="1"/>
          <p:nvPr/>
        </p:nvSpPr>
        <p:spPr>
          <a:xfrm>
            <a:off x="978408" y="3794760"/>
            <a:ext cx="2926080" cy="1325880"/>
          </a:xfrm>
          <a:prstGeom prst="rect">
            <a:avLst/>
          </a:prstGeom>
          <a:noFill/>
        </p:spPr>
        <p:txBody>
          <a:bodyPr wrap="square" anchor="t">
            <a:spAutoFit/>
          </a:bodyPr>
          <a:lstStyle/>
          <a:p>
            <a:pPr algn="l">
              <a:spcAft>
                <a:spcPts val="400"/>
              </a:spcAft>
            </a:pPr>
            <a:r>
              <a:rPr sz="1500" b="0">
                <a:solidFill>
                  <a:srgbClr val="161B26"/>
                </a:solidFill>
                <a:latin typeface="Arial"/>
              </a:rPr>
              <a:t>Download the current slides and Learner Guide.</a:t>
            </a:r>
          </a:p>
        </p:txBody>
      </p:sp>
      <p:sp>
        <p:nvSpPr>
          <p:cNvPr id="13" name="Rectangle 12"/>
          <p:cNvSpPr/>
          <p:nvPr/>
        </p:nvSpPr>
        <p:spPr>
          <a:xfrm>
            <a:off x="4434840" y="2880360"/>
            <a:ext cx="3337560" cy="2514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2880360"/>
            <a:ext cx="3337560"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36008" y="3154680"/>
            <a:ext cx="2926080" cy="502920"/>
          </a:xfrm>
          <a:prstGeom prst="rect">
            <a:avLst/>
          </a:prstGeom>
          <a:noFill/>
        </p:spPr>
        <p:txBody>
          <a:bodyPr wrap="square" anchor="t">
            <a:spAutoFit/>
          </a:bodyPr>
          <a:lstStyle/>
          <a:p>
            <a:pPr algn="l">
              <a:spcAft>
                <a:spcPts val="400"/>
              </a:spcAft>
            </a:pPr>
            <a:r>
              <a:rPr sz="1800" b="1">
                <a:solidFill>
                  <a:srgbClr val="10B981"/>
                </a:solidFill>
                <a:latin typeface="Arial"/>
              </a:rPr>
              <a:t>Assessment</a:t>
            </a:r>
          </a:p>
        </p:txBody>
      </p:sp>
      <p:sp>
        <p:nvSpPr>
          <p:cNvPr id="16" name="TextBox 15"/>
          <p:cNvSpPr txBox="1"/>
          <p:nvPr/>
        </p:nvSpPr>
        <p:spPr>
          <a:xfrm>
            <a:off x="4636008" y="3794760"/>
            <a:ext cx="2926080" cy="1325880"/>
          </a:xfrm>
          <a:prstGeom prst="rect">
            <a:avLst/>
          </a:prstGeom>
          <a:noFill/>
        </p:spPr>
        <p:txBody>
          <a:bodyPr wrap="square" anchor="t">
            <a:spAutoFit/>
          </a:bodyPr>
          <a:lstStyle/>
          <a:p>
            <a:pPr algn="l">
              <a:spcAft>
                <a:spcPts val="400"/>
              </a:spcAft>
            </a:pPr>
            <a:r>
              <a:rPr sz="1500" b="0">
                <a:solidFill>
                  <a:srgbClr val="161B26"/>
                </a:solidFill>
                <a:latin typeface="Arial"/>
              </a:rPr>
              <a:t>Open and complete the WA then Case Study.</a:t>
            </a:r>
          </a:p>
        </p:txBody>
      </p:sp>
      <p:sp>
        <p:nvSpPr>
          <p:cNvPr id="17" name="Rectangle 16"/>
          <p:cNvSpPr/>
          <p:nvPr/>
        </p:nvSpPr>
        <p:spPr>
          <a:xfrm>
            <a:off x="8092440" y="2880360"/>
            <a:ext cx="3337560" cy="2514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2440" y="2880360"/>
            <a:ext cx="3337560"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3608" y="3154680"/>
            <a:ext cx="2926080" cy="502920"/>
          </a:xfrm>
          <a:prstGeom prst="rect">
            <a:avLst/>
          </a:prstGeom>
          <a:noFill/>
        </p:spPr>
        <p:txBody>
          <a:bodyPr wrap="square" anchor="t">
            <a:spAutoFit/>
          </a:bodyPr>
          <a:lstStyle/>
          <a:p>
            <a:pPr algn="l">
              <a:spcAft>
                <a:spcPts val="400"/>
              </a:spcAft>
            </a:pPr>
            <a:r>
              <a:rPr sz="1800" b="1">
                <a:solidFill>
                  <a:srgbClr val="7C3AED"/>
                </a:solidFill>
                <a:latin typeface="Arial"/>
              </a:rPr>
              <a:t>Submission</a:t>
            </a:r>
          </a:p>
        </p:txBody>
      </p:sp>
      <p:sp>
        <p:nvSpPr>
          <p:cNvPr id="20" name="TextBox 19"/>
          <p:cNvSpPr txBox="1"/>
          <p:nvPr/>
        </p:nvSpPr>
        <p:spPr>
          <a:xfrm>
            <a:off x="8293608" y="3794760"/>
            <a:ext cx="2926080" cy="1325880"/>
          </a:xfrm>
          <a:prstGeom prst="rect">
            <a:avLst/>
          </a:prstGeom>
          <a:noFill/>
        </p:spPr>
        <p:txBody>
          <a:bodyPr wrap="square" anchor="t">
            <a:spAutoFit/>
          </a:bodyPr>
          <a:lstStyle/>
          <a:p>
            <a:pPr algn="l">
              <a:spcAft>
                <a:spcPts val="400"/>
              </a:spcAft>
            </a:pPr>
            <a:r>
              <a:rPr sz="1500" b="0">
                <a:solidFill>
                  <a:srgbClr val="161B26"/>
                </a:solidFill>
                <a:latin typeface="Arial"/>
              </a:rPr>
              <a:t>Upload completed answers and complete the sign-off process.</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136</a:t>
            </a:r>
          </a:p>
        </p:txBody>
      </p:sp>
    </p:spTree>
  </p:cSld>
  <p:clrMapOvr>
    <a:masterClrMapping/>
  </p:clrMapOvr>
  <p:transition spd="med">
    <p:fade/>
  </p:transition>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Assessment Reminder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WA-SAQ · 4:00–5:00pm</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7 open-ended questions</a:t>
            </a:r>
          </a:p>
          <a:p>
            <a:pPr>
              <a:spcAft>
                <a:spcPts val="900"/>
              </a:spcAft>
            </a:pPr>
            <a:r>
              <a:rPr sz="1400" b="0">
                <a:solidFill>
                  <a:srgbClr val="161B26"/>
                </a:solidFill>
                <a:latin typeface="Arial"/>
              </a:rPr>
              <a:t>•  K1–K7</a:t>
            </a:r>
          </a:p>
          <a:p>
            <a:pPr>
              <a:spcAft>
                <a:spcPts val="900"/>
              </a:spcAft>
            </a:pPr>
            <a:r>
              <a:rPr sz="1400" b="0">
                <a:solidFill>
                  <a:srgbClr val="161B26"/>
                </a:solidFill>
                <a:latin typeface="Arial"/>
              </a:rPr>
              <a:t>•  Open book</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Case Study · 5:00–6:00pm</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3 integrated questions</a:t>
            </a:r>
          </a:p>
          <a:p>
            <a:pPr>
              <a:spcAft>
                <a:spcPts val="900"/>
              </a:spcAft>
            </a:pPr>
            <a:r>
              <a:rPr sz="1400" b="0">
                <a:solidFill>
                  <a:srgbClr val="161B26"/>
                </a:solidFill>
                <a:latin typeface="Arial"/>
              </a:rPr>
              <a:t>•  A1–A6</a:t>
            </a:r>
          </a:p>
          <a:p>
            <a:pPr>
              <a:spcAft>
                <a:spcPts val="900"/>
              </a:spcAft>
            </a:pPr>
            <a:r>
              <a:rPr sz="1400" b="0">
                <a:solidFill>
                  <a:srgbClr val="161B26"/>
                </a:solidFill>
                <a:latin typeface="Arial"/>
              </a:rPr>
              <a:t>•  Open book</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Finish</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Submit on LMS</a:t>
            </a:r>
          </a:p>
          <a:p>
            <a:pPr>
              <a:spcAft>
                <a:spcPts val="900"/>
              </a:spcAft>
            </a:pPr>
            <a:r>
              <a:rPr sz="1400" b="0">
                <a:solidFill>
                  <a:srgbClr val="161B26"/>
                </a:solidFill>
                <a:latin typeface="Arial"/>
              </a:rPr>
              <a:t>•  Digital attendance</a:t>
            </a:r>
          </a:p>
          <a:p>
            <a:pPr>
              <a:spcAft>
                <a:spcPts val="900"/>
              </a:spcAft>
            </a:pPr>
            <a:r>
              <a:rPr sz="1400" b="0">
                <a:solidFill>
                  <a:srgbClr val="161B26"/>
                </a:solidFill>
                <a:latin typeface="Arial"/>
              </a:rPr>
              <a:t>•  Sign summary record</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137</a:t>
            </a:r>
          </a:p>
        </p:txBody>
      </p:sp>
    </p:spTree>
  </p:cSld>
  <p:clrMapOvr>
    <a:masterClrMapping/>
  </p:clrMapOvr>
  <p:transition spd="med">
    <p:fade/>
  </p:transition>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ON ASSESSMENT DAY</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TRAQOM / SSG attendance</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Assessment digital attendance</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Sit WA then Case Study</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Submit answers on the LMS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Sign the Assessment Summary Record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138</a:t>
            </a:r>
          </a:p>
        </p:txBody>
      </p:sp>
    </p:spTree>
  </p:cSld>
  <p:clrMapOvr>
    <a:masterClrMapping/>
  </p:clrMapOvr>
  <p:transition spd="med">
    <p:fade/>
  </p:transition>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Scan</a:t>
            </a:r>
          </a:p>
          <a:p>
            <a:pPr algn="l">
              <a:spcAft>
                <a:spcPts val="300"/>
              </a:spcAft>
            </a:pPr>
            <a:r>
              <a:rPr sz="1200" b="0">
                <a:solidFill>
                  <a:srgbClr val="5B6372"/>
                </a:solidFill>
                <a:latin typeface="Arial"/>
              </a:rPr>
              <a:t>Use the QR code shown by the trainer.</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Submit</a:t>
            </a:r>
          </a:p>
          <a:p>
            <a:pPr algn="l">
              <a:spcAft>
                <a:spcPts val="300"/>
              </a:spcAft>
            </a:pPr>
            <a:r>
              <a:rPr sz="1200" b="0">
                <a:solidFill>
                  <a:srgbClr val="5B6372"/>
                </a:solidFill>
                <a:latin typeface="Arial"/>
              </a:rPr>
              <a:t>Complete the assessment attendance event.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Confirm</a:t>
            </a:r>
          </a:p>
          <a:p>
            <a:pPr algn="l">
              <a:spcAft>
                <a:spcPts val="300"/>
              </a:spcAft>
            </a:pPr>
            <a:r>
              <a:rPr sz="1200" b="0">
                <a:solidFill>
                  <a:srgbClr val="5B6372"/>
                </a:solidFill>
                <a:latin typeface="Arial"/>
              </a:rPr>
              <a:t>Verify the submission confirmation.</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Resolve</a:t>
            </a:r>
          </a:p>
          <a:p>
            <a:pPr algn="l">
              <a:spcAft>
                <a:spcPts val="300"/>
              </a:spcAft>
            </a:pPr>
            <a:r>
              <a:rPr sz="1200" b="0">
                <a:solidFill>
                  <a:srgbClr val="5B6372"/>
                </a:solidFill>
                <a:latin typeface="Arial"/>
              </a:rPr>
              <a:t>Tell the trainer immediately if it fails.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139</a:t>
            </a:r>
          </a:p>
        </p:txBody>
      </p:sp>
    </p:spTree>
  </p:cSld>
  <p:clrMapOvr>
    <a:masterClrMapping/>
  </p:clrMapOvr>
  <p:transition spd="med">
    <p:fade/>
  </p:transition>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WORKPLACE WELLBEING</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Design healthy work, earn trust and close the learning loop with evidence.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Empowering Employee Health and Wellness at the Workplace  ·  TGS-2024045222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140</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