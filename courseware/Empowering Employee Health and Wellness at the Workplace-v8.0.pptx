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https://www.tertiarycourses.com.sg/wsq-empowering-employee-health-and-wellness-at-the-workplace.html</a:t>
            </a:r>
          </a:p>
          <a:p>
            <a:r>
              <a:t>https://www.ncbi.nlm.nih.gov/books/NBK201567/</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https://www.tertiarycourses.com.sg/wsq-empowering-employee-health-and-wellness-at-the-workplace.html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https://www.tertiarycourses.com.sg/wsq-empowering-employee-health-and-wellness-at-the-workplace.html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https://www.tertiarycourses.com.sg/wsq-empowering-employee-health-and-wellness-at-the-workplace.html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https://www.tertiarycourses.com.sg/wsq-empowering-employee-health-and-wellness-at-the-workplace.html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https://www.gallup.com/workplace/404105/importance-of-employee-wellbeing.aspx</a:t>
            </a:r>
          </a:p>
          <a:p>
            <a:r>
              <a:t>https://www.tertiarycourses.com.sg/wsq-empowering-employee-health-and-wellness-at-the-workplace.html</a:t>
            </a:r>
          </a:p>
          <a:p>
            <a:r>
              <a:t>https://www.pdpc.gov.sg/overview-of-pdpa/the-legislation/personal-data-protection-act/data-protection-obligations</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https://www.gallup.com/workplace/404105/importance-of-employee-wellbeing.aspx</a:t>
            </a:r>
          </a:p>
          <a:p>
            <a:r>
              <a:t>https://www.tertiarycourses.com.sg/wsq-empowering-employee-health-and-wellness-at-the-workplace.html</a:t>
            </a:r>
          </a:p>
          <a:p>
            <a:r>
              <a:t>https://www.pdpc.gov.sg/overview-of-pdpa/the-legislation/personal-data-protection-act/data-protection-obligations</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https://www.gallup.com/workplace/404105/importance-of-employee-wellbeing.aspx</a:t>
            </a:r>
          </a:p>
          <a:p>
            <a:r>
              <a:t>https://www.tertiarycourses.com.sg/wsq-empowering-employee-health-and-wellness-at-the-workplace.html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https://www.gallup.com/workplace/404105/importance-of-employee-wellbeing.aspx</a:t>
            </a:r>
          </a:p>
          <a:p>
            <a:r>
              <a:t>https://www.tertiarycourses.com.sg/wsq-empowering-employee-health-and-wellness-at-the-workplace.html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https://www.tertiarycourses.com.sg/wsq-empowering-employee-health-and-wellness-at-the-workplace.html</a:t>
            </a:r>
          </a:p>
          <a:p>
            <a:r>
              <a:t>https://www.pdpc.gov.sg/overview-of-pdpa/the-legislation/personal-data-protection-act/data-protection-obligations</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https://www.tertiarycourses.com.sg/wsq-empowering-employee-health-and-wellness-at-the-workplace.html</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https://www.tertiarycourses.com.sg/wsq-empowering-employee-health-and-wellness-at-the-workplace.html</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https://www.tertiarycourses.com.sg/wsq-empowering-employee-health-and-wellness-at-the-workplace.html</a:t>
            </a:r>
          </a:p>
          <a:p>
            <a:r>
              <a:t>https://www.pdpc.gov.sg/overview-of-pdpa/the-legislation/personal-data-protection-act/data-protection-obligations</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https://www.tertiarycourses.com.sg/wsq-empowering-employee-health-and-wellness-at-the-workplace.html</a:t>
            </a:r>
          </a:p>
          <a:p>
            <a:r>
              <a:t>https://www.ncbi.nlm.nih.gov/books/NBK201567/</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https://www.cipd.org/globalassets/media/knowledge/knowledge-hub/evidence-reviews/employee-resilience-discussion-report_tcm18-91717.pdf</a:t>
            </a:r>
          </a:p>
          <a:p>
            <a:r>
              <a:t>https://www.tertiarycourses.com.sg/wsq-empowering-employee-health-and-wellness-at-the-workplace.html</a:t>
            </a:r>
          </a:p>
          <a:p>
            <a:r>
              <a:t>https://workplacementalhealth.org/mental-health-topics/resilience</a:t>
            </a:r>
          </a:p>
          <a:p>
            <a:r>
              <a:t>https://www.tal.sg/tafep/employment-practices/mental-health</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https://www.cipd.org/globalassets/media/knowledge/knowledge-hub/evidence-reviews/employee-resilience-discussion-report_tcm18-91717.pdf</a:t>
            </a:r>
          </a:p>
          <a:p>
            <a:r>
              <a:t>https://www.tertiarycourses.com.sg/wsq-empowering-employee-health-and-wellness-at-the-workplace.html</a:t>
            </a:r>
          </a:p>
          <a:p>
            <a:r>
              <a:t>https://workplacementalhealth.org/mental-health-topics/resilience</a:t>
            </a:r>
          </a:p>
          <a:p>
            <a:r>
              <a:t>https://www.tal.sg/tafep/employment-practices/mental-health</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https://www.cipd.org/globalassets/media/knowledge/knowledge-hub/evidence-reviews/employee-resilience-discussion-report_tcm18-91717.pdf</a:t>
            </a:r>
          </a:p>
          <a:p>
            <a:r>
              <a:t>https://www.tertiarycourses.com.sg/wsq-empowering-employee-health-and-wellness-at-the-workplace.html</a:t>
            </a:r>
          </a:p>
          <a:p>
            <a:r>
              <a:t>https://workplacementalhealth.org/mental-health-topics/resilience</a:t>
            </a:r>
          </a:p>
          <a:p>
            <a:r>
              <a:t>https://www.tal.sg/tafep/employment-practices/mental-health</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https://www.cipd.org/globalassets/media/knowledge/knowledge-hub/evidence-reviews/employee-resilience-discussion-report_tcm18-91717.pdf</a:t>
            </a:r>
          </a:p>
          <a:p>
            <a:r>
              <a:t>https://www.tertiarycourses.com.sg/wsq-empowering-employee-health-and-wellness-at-the-workplace.html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https://www.cipd.org/globalassets/media/knowledge/knowledge-hub/evidence-reviews/employee-resilience-discussion-report_tcm18-91717.pdf</a:t>
            </a:r>
          </a:p>
          <a:p>
            <a:r>
              <a:t>https://www.tertiarycourses.com.sg/wsq-empowering-employee-health-and-wellness-at-the-workplace.html</a:t>
            </a:r>
          </a:p>
          <a:p>
            <a:r>
              <a:t>https://workplacementalhealth.org/mental-health-topics/resilience</a:t>
            </a:r>
          </a:p>
          <a:p>
            <a:r>
              <a:t>https://www.tal.sg/tafep/employment-practices/mental-health</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https://pmc.ncbi.nlm.nih.gov/articles/PMC8168167/</a:t>
            </a:r>
          </a:p>
          <a:p>
            <a:r>
              <a:t>https://www.tertiarycourses.com.sg/wsq-empowering-employee-health-and-wellness-at-the-workplace.html</a:t>
            </a:r>
          </a:p>
          <a:p>
            <a:r>
              <a:t>https://www.ncbi.nlm.nih.gov/books/NBK201567/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https://pmc.ncbi.nlm.nih.gov/articles/PMC8168167/</a:t>
            </a:r>
          </a:p>
          <a:p>
            <a:r>
              <a:t>https://www.tertiarycourses.com.sg/wsq-empowering-employee-health-and-wellness-at-the-workplace.html</a:t>
            </a:r>
          </a:p>
          <a:p>
            <a:r>
              <a:t>https://www.pdpc.gov.sg/overview-of-pdpa/the-legislation/personal-data-protection-act/data-protection-obligations</a:t>
            </a:r>
          </a:p>
          <a:p>
            <a:r>
              <a:t>https://www.ncbi.nlm.nih.gov/books/NBK201567/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https://pmc.ncbi.nlm.nih.gov/articles/PMC8168167/</a:t>
            </a:r>
          </a:p>
          <a:p>
            <a:r>
              <a:t>https://www.tertiarycourses.com.sg/wsq-empowering-employee-health-and-wellness-at-the-workplace.html</a:t>
            </a:r>
          </a:p>
          <a:p>
            <a:r>
              <a:t>https://www.ncbi.nlm.nih.gov/books/NBK201567/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https://pmc.ncbi.nlm.nih.gov/articles/PMC8168167/</a:t>
            </a:r>
          </a:p>
          <a:p>
            <a:r>
              <a:t>https://www.tertiarycourses.com.sg/wsq-empowering-employee-health-and-wellness-at-the-workplace.html</a:t>
            </a:r>
          </a:p>
          <a:p>
            <a:r>
              <a:t>https://www.pdpc.gov.sg/overview-of-pdpa/the-legislation/personal-data-protection-act/data-protection-obligations</a:t>
            </a:r>
          </a:p>
          <a:p>
            <a:r>
              <a:t>https://www.ncbi.nlm.nih.gov/books/NBK201567/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https://www.tal.sg/tafep/employment-practices/mental-health</a:t>
            </a:r>
          </a:p>
          <a:p>
            <a:r>
              <a:t>https://www.tertiarycourses.com.sg/wsq-empowering-employee-health-and-wellness-at-the-workplace.html</a:t>
            </a:r>
          </a:p>
          <a:p>
            <a:r>
              <a:t>https://www.cipd.org/globalassets/media/knowledge/knowledge-hub/evidence-reviews/employee-resilience-discussion-report_tcm18-91717.pdf</a:t>
            </a:r>
          </a:p>
          <a:p>
            <a:r>
              <a:t>https://workplacementalhealth.org/mental-health-topics/resilience</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https://www.tal.sg/tafep/employment-practices/mental-health</a:t>
            </a:r>
          </a:p>
          <a:p>
            <a:r>
              <a:t>https://www.tertiarycourses.com.sg/wsq-empowering-employee-health-and-wellness-at-the-workplace.html</a:t>
            </a:r>
          </a:p>
          <a:p>
            <a:r>
              <a:t>https://www.cipd.org/globalassets/media/knowledge/knowledge-hub/evidence-reviews/employee-resilience-discussion-report_tcm18-91717.pdf</a:t>
            </a:r>
          </a:p>
          <a:p>
            <a:r>
              <a:t>https://workplacementalhealth.org/mental-health-topics/resilience</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https://www.tal.sg/tafep/employment-practices/mental-health</a:t>
            </a:r>
          </a:p>
          <a:p>
            <a:r>
              <a:t>https://www.tertiarycourses.com.sg/wsq-empowering-employee-health-and-wellness-at-the-workplace.html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https://www.tal.sg/tafep/employment-practices/mental-health</a:t>
            </a:r>
          </a:p>
          <a:p>
            <a:r>
              <a:t>https://www.tertiarycourses.com.sg/wsq-empowering-employee-health-and-wellness-at-the-workplace.html</a:t>
            </a:r>
          </a:p>
          <a:p>
            <a:r>
              <a:t>https://www.cipd.org/globalassets/media/knowledge/knowledge-hub/evidence-reviews/employee-resilience-discussion-report_tcm18-91717.pdf</a:t>
            </a:r>
          </a:p>
          <a:p>
            <a:r>
              <a:t>https://workplacementalhealth.org/mental-health-topics/resilience</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https://www.tertiarycourses.com.sg/wsq-empowering-employee-health-and-wellness-at-the-workplace.html</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https://www.tertiarycourses.com.sg/wsq-empowering-employee-health-and-wellness-at-the-workplace.html</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https://www.tertiarycourses.com.sg/wsq-empowering-employee-health-and-wellness-at-the-workplace.html</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https://www.tertiarycourses.com.sg/wsq-empowering-employee-health-and-wellness-at-the-workplace.html</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https://www.cipd.org/globalassets/media/knowledge/knowledge-hub/evidence-reviews/employee-resilience-discussion-report_tcm18-91717.pdf</a:t>
            </a:r>
          </a:p>
          <a:p>
            <a:r>
              <a:t>https://www.tertiarycourses.com.sg/wsq-empowering-employee-health-and-wellness-at-the-workplace.html</a:t>
            </a:r>
          </a:p>
          <a:p>
            <a:r>
              <a:t>https://workplacementalhealth.org/mental-health-topics/resilience</a:t>
            </a:r>
          </a:p>
          <a:p>
            <a:r>
              <a:t>https://www.tal.sg/tafep/employment-practices/mental-health</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https://www.tertiarycourses.com.sg/wsq-empowering-employee-health-and-wellness-at-the-workplace.html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https://www.gallup.com/workplace/404105/importance-of-employee-wellbeing.aspx</a:t>
            </a:r>
          </a:p>
          <a:p>
            <a:r>
              <a:t>https://www.tertiarycourses.com.sg/wsq-empowering-employee-health-and-wellness-at-the-workplace.html</a:t>
            </a:r>
          </a:p>
          <a:p>
            <a:r>
              <a:t>https://www.pdpc.gov.sg/overview-of-pdpa/the-legislation/personal-data-protection-act/data-protection-obligations</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https://www.gallup.com/workplace/404105/importance-of-employee-wellbeing.aspx</a:t>
            </a:r>
          </a:p>
          <a:p>
            <a:r>
              <a:t>https://www.tertiarycourses.com.sg/wsq-empowering-employee-health-and-wellness-at-the-workplace.html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https://www.gallup.com/workplace/404105/importance-of-employee-wellbeing.aspx</a:t>
            </a:r>
          </a:p>
          <a:p>
            <a:r>
              <a:t>https://www.tertiarycourses.com.sg/wsq-empowering-employee-health-and-wellness-at-the-workplace.html</a:t>
            </a:r>
          </a:p>
          <a:p>
            <a:r>
              <a:t>https://www.pdpc.gov.sg/overview-of-pdpa/the-legislation/personal-data-protection-act/data-protection-obligations</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https://www.gallup.com/workplace/404105/importance-of-employee-wellbeing.aspx</a:t>
            </a:r>
          </a:p>
          <a:p>
            <a:r>
              <a:t>https://www.tertiarycourses.com.sg/wsq-empowering-employee-health-and-wellness-at-the-workplace.html</a:t>
            </a:r>
          </a:p>
          <a:p>
            <a:r>
              <a:t>https://www.pdpc.gov.sg/overview-of-pdpa/the-legislation/personal-data-protection-act/data-protection-obligations</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https://workplacementalhealth.org/mental-health-topics/resilience</a:t>
            </a:r>
          </a:p>
          <a:p>
            <a:r>
              <a:t>https://www.tertiarycourses.com.sg/wsq-empowering-employee-health-and-wellness-at-the-workplace.html</a:t>
            </a:r>
          </a:p>
          <a:p>
            <a:r>
              <a:t>https://www.pdpc.gov.sg/overview-of-pdpa/the-legislation/personal-data-protection-act/data-protection-obligations</a:t>
            </a:r>
          </a:p>
          <a:p>
            <a:r>
              <a:t>https://www.cipd.org/globalassets/media/knowledge/knowledge-hub/evidence-reviews/employee-resilience-discussion-report_tcm18-91717.pdf</a:t>
            </a:r>
          </a:p>
          <a:p>
            <a:r>
              <a:t>https://www.tal.sg/tafep/employment-practices/mental-health</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https://workplacementalhealth.org/mental-health-topics/resilience</a:t>
            </a:r>
          </a:p>
          <a:p>
            <a:r>
              <a:t>https://www.tertiarycourses.com.sg/wsq-empowering-employee-health-and-wellness-at-the-workplace.html</a:t>
            </a:r>
          </a:p>
          <a:p>
            <a:r>
              <a:t>https://www.cipd.org/globalassets/media/knowledge/knowledge-hub/evidence-reviews/employee-resilience-discussion-report_tcm18-91717.pdf</a:t>
            </a:r>
          </a:p>
          <a:p>
            <a:r>
              <a:t>https://www.tal.sg/tafep/employment-practices/mental-health</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https://workplacementalhealth.org/mental-health-topics/resilience</a:t>
            </a:r>
          </a:p>
          <a:p>
            <a:r>
              <a:t>https://www.tertiarycourses.com.sg/wsq-empowering-employee-health-and-wellness-at-the-workplace.html</a:t>
            </a:r>
          </a:p>
          <a:p>
            <a:r>
              <a:t>https://www.pdpc.gov.sg/overview-of-pdpa/the-legislation/personal-data-protection-act/data-protection-obligations</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https://workplacementalhealth.org/mental-health-topics/resilience</a:t>
            </a:r>
          </a:p>
          <a:p>
            <a:r>
              <a:t>https://www.tertiarycourses.com.sg/wsq-empowering-employee-health-and-wellness-at-the-workplace.html</a:t>
            </a:r>
          </a:p>
          <a:p>
            <a:r>
              <a:t>https://www.pdpc.gov.sg/overview-of-pdpa/the-legislation/personal-data-protection-act/data-protection-obligations</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https://www.tertiarycourses.com.sg/wsq-empowering-employee-health-and-wellness-at-the-workplace.html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https://www.tertiarycourses.com.sg/wsq-empowering-employee-health-and-wellness-at-the-workplace.html</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https://www.tertiarycourses.com.sg/wsq-empowering-employee-health-and-wellness-at-the-workplace.html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https://www.tertiarycourses.com.sg/wsq-empowering-employee-health-and-wellness-at-the-workplace.html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https://www.gallup.com/workplace/404105/importance-of-employee-wellbeing.aspx</a:t>
            </a:r>
          </a:p>
          <a:p>
            <a:r>
              <a:t>https://www.tertiarycourses.com.sg/wsq-empowering-employee-health-and-wellness-at-the-workplace.html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https://wtalentsolutions.com/wellness-in-the-workplace/</a:t>
            </a:r>
          </a:p>
          <a:p>
            <a:r>
              <a:t>https://www.mckinsey.com/featured-insights/mckinsey-guide-to-navigating-the-new-world-of-work/thriving-at-work-building-resilience-wellness-and-motivation</a:t>
            </a:r>
          </a:p>
          <a:p>
            <a:r>
              <a:t>https://pmc.ncbi.nlm.nih.gov/articles/PMC13206323/</a:t>
            </a:r>
          </a:p>
          <a:p>
            <a:r>
              <a:t>https://www.outbackteambuilding.com/blog/corporate-wellness-and-resiliency/</a:t>
            </a:r>
          </a:p>
          <a:p>
            <a:r>
              <a:t>https://pmc.ncbi.nlm.nih.gov/articles/PMC8168167/</a:t>
            </a:r>
          </a:p>
          <a:p>
            <a:r>
              <a:t>https://www.pdpc.gov.sg/overview-of-pdpa/the-legislation/personal-data-protection-act/data-protection-obligations</a:t>
            </a:r>
          </a:p>
          <a:p>
            <a:r>
              <a:t>https://www.tal.sg/tafep/employment-practices/mental-health</a:t>
            </a:r>
          </a:p>
          <a:p>
            <a:r>
              <a:t>https://www.hpb.gov.sg/workplace</a:t>
            </a:r>
          </a:p>
          <a:p>
            <a:r>
              <a:t>https://www.mom.gov.sg/employment-practices/leave/sick-leave/eligibility-and-entitlement</a:t>
            </a:r>
          </a:p>
          <a:p>
            <a:r>
              <a:t>https://www.healthiersg.gov.sg/about/what-is-healthier-sg/</a:t>
            </a:r>
          </a:p>
          <a:p>
            <a:r>
              <a:t>https://www.tertiarycourses.com.sg/wsq-empowering-employee-health-and-wellness-at-the-workplace.html</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https://wtalentsolutions.com/wellness-in-the-workplace/</a:t>
            </a:r>
          </a:p>
          <a:p>
            <a:r>
              <a:t>https://www.mckinsey.com/featured-insights/mckinsey-guide-to-navigating-the-new-world-of-work/thriving-at-work-building-resilience-wellness-and-motivation</a:t>
            </a:r>
          </a:p>
          <a:p>
            <a:r>
              <a:t>https://pmc.ncbi.nlm.nih.gov/articles/PMC13206323/</a:t>
            </a:r>
          </a:p>
          <a:p>
            <a:r>
              <a:t>https://www.outbackteambuilding.com/blog/corporate-wellness-and-resiliency/</a:t>
            </a:r>
          </a:p>
          <a:p>
            <a:r>
              <a:t>https://pmc.ncbi.nlm.nih.gov/articles/PMC8168167/</a:t>
            </a:r>
          </a:p>
          <a:p>
            <a:r>
              <a:t>https://www.pdpc.gov.sg/overview-of-pdpa/the-legislation/personal-data-protection-act/data-protection-obligations</a:t>
            </a:r>
          </a:p>
          <a:p>
            <a:r>
              <a:t>https://www.tal.sg/tafep/employment-practices/mental-health</a:t>
            </a:r>
          </a:p>
          <a:p>
            <a:r>
              <a:t>https://www.hpb.gov.sg/workplace</a:t>
            </a:r>
          </a:p>
          <a:p>
            <a:r>
              <a:t>https://www.mom.gov.sg/employment-practices/leave/sick-leave/eligibility-and-entitlement</a:t>
            </a:r>
          </a:p>
          <a:p>
            <a:r>
              <a:t>https://www.healthiersg.gov.sg/about/what-is-healthier-sg/</a:t>
            </a:r>
          </a:p>
          <a:p>
            <a:r>
              <a:t>https://www.tertiarycourses.com.sg/wsq-empowering-employee-health-and-wellness-at-the-workplace.html</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https://wtalentsolutions.com/wellness-in-the-workplace/</a:t>
            </a:r>
          </a:p>
          <a:p>
            <a:r>
              <a:t>https://www.mckinsey.com/featured-insights/mckinsey-guide-to-navigating-the-new-world-of-work/thriving-at-work-building-resilience-wellness-and-motivation</a:t>
            </a:r>
          </a:p>
          <a:p>
            <a:r>
              <a:t>https://pmc.ncbi.nlm.nih.gov/articles/PMC13206323/</a:t>
            </a:r>
          </a:p>
          <a:p>
            <a:r>
              <a:t>https://www.outbackteambuilding.com/blog/corporate-wellness-and-resiliency/</a:t>
            </a:r>
          </a:p>
          <a:p>
            <a:r>
              <a:t>https://pmc.ncbi.nlm.nih.gov/articles/PMC8168167/</a:t>
            </a:r>
          </a:p>
          <a:p>
            <a:r>
              <a:t>https://www.pdpc.gov.sg/overview-of-pdpa/the-legislation/personal-data-protection-act/data-protection-obligations</a:t>
            </a:r>
          </a:p>
          <a:p>
            <a:r>
              <a:t>https://www.tal.sg/tafep/employment-practices/mental-health</a:t>
            </a:r>
          </a:p>
          <a:p>
            <a:r>
              <a:t>https://www.hpb.gov.sg/workplace</a:t>
            </a:r>
          </a:p>
          <a:p>
            <a:r>
              <a:t>https://www.mom.gov.sg/employment-practices/leave/sick-leave/eligibility-and-entitlement</a:t>
            </a:r>
          </a:p>
          <a:p>
            <a:r>
              <a:t>https://www.healthiersg.gov.sg/about/what-is-healthier-sg/</a:t>
            </a:r>
          </a:p>
          <a:p>
            <a:r>
              <a:t>https://www.tertiarycourses.com.sg/wsq-empowering-employee-health-and-wellness-at-the-workplace.html</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https://www.tertiarycourses.com.sg/wsq-empowering-employee-health-and-wellness-at-the-workplace.html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4045222-Empowering-Employee-Health-and-Wellness-at-the-Workplace"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5989320" y="0"/>
            <a:ext cx="6199632" cy="6858000"/>
          </a:xfrm>
          <a:prstGeom prst="rect">
            <a:avLst/>
          </a:prstGeom>
        </p:spPr>
      </p:pic>
      <p:sp>
        <p:nvSpPr>
          <p:cNvPr id="4" name="Rectangle 3"/>
          <p:cNvSpPr/>
          <p:nvPr/>
        </p:nvSpPr>
        <p:spPr>
          <a:xfrm>
            <a:off x="5715000" y="0"/>
            <a:ext cx="6858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rtiary-infotech-logo.png"/>
          <p:cNvPicPr>
            <a:picLocks noChangeAspect="1"/>
          </p:cNvPicPr>
          <p:nvPr/>
        </p:nvPicPr>
        <p:blipFill>
          <a:blip r:embed="rId3"/>
          <a:stretch>
            <a:fillRect/>
          </a:stretch>
        </p:blipFill>
        <p:spPr>
          <a:xfrm>
            <a:off x="777240" y="640080"/>
            <a:ext cx="960120" cy="960120"/>
          </a:xfrm>
          <a:prstGeom prst="rect">
            <a:avLst/>
          </a:prstGeom>
        </p:spPr>
      </p:pic>
      <p:sp>
        <p:nvSpPr>
          <p:cNvPr id="8" name="Rectangle 7"/>
          <p:cNvSpPr/>
          <p:nvPr/>
        </p:nvSpPr>
        <p:spPr>
          <a:xfrm>
            <a:off x="4709160" y="658368"/>
            <a:ext cx="91440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9160" y="804672"/>
            <a:ext cx="914400" cy="320040"/>
          </a:xfrm>
          <a:prstGeom prst="rect">
            <a:avLst/>
          </a:prstGeom>
          <a:noFill/>
        </p:spPr>
        <p:txBody>
          <a:bodyPr wrap="square" anchor="t">
            <a:spAutoFit/>
          </a:bodyPr>
          <a:lstStyle/>
          <a:p>
            <a:pPr algn="ctr">
              <a:spcAft>
                <a:spcPts val="400"/>
              </a:spcAft>
            </a:pPr>
            <a:r>
              <a:rPr sz="2200" b="1">
                <a:solidFill>
                  <a:srgbClr val="FFFFFF"/>
                </a:solidFill>
                <a:latin typeface="Arial"/>
              </a:rPr>
              <a:t>W</a:t>
            </a:r>
          </a:p>
        </p:txBody>
      </p:sp>
      <p:sp>
        <p:nvSpPr>
          <p:cNvPr id="10" name="TextBox 9"/>
          <p:cNvSpPr txBox="1"/>
          <p:nvPr/>
        </p:nvSpPr>
        <p:spPr>
          <a:xfrm>
            <a:off x="4709160" y="1170432"/>
            <a:ext cx="914400" cy="228600"/>
          </a:xfrm>
          <a:prstGeom prst="rect">
            <a:avLst/>
          </a:prstGeom>
          <a:noFill/>
        </p:spPr>
        <p:txBody>
          <a:bodyPr wrap="square" anchor="t">
            <a:spAutoFit/>
          </a:bodyPr>
          <a:lstStyle/>
          <a:p>
            <a:pPr algn="ctr">
              <a:spcAft>
                <a:spcPts val="400"/>
              </a:spcAft>
            </a:pPr>
            <a:r>
              <a:rPr sz="700" b="1">
                <a:solidFill>
                  <a:srgbClr val="FFFFFF"/>
                </a:solidFill>
                <a:latin typeface="Arial"/>
              </a:rPr>
              <a:t>THRIVE</a:t>
            </a:r>
          </a:p>
        </p:txBody>
      </p:sp>
      <p:sp>
        <p:nvSpPr>
          <p:cNvPr id="11" name="TextBox 10"/>
          <p:cNvSpPr txBox="1"/>
          <p:nvPr/>
        </p:nvSpPr>
        <p:spPr>
          <a:xfrm>
            <a:off x="822960" y="1874519"/>
            <a:ext cx="4937760" cy="457200"/>
          </a:xfrm>
          <a:prstGeom prst="rect">
            <a:avLst/>
          </a:prstGeom>
          <a:noFill/>
        </p:spPr>
        <p:txBody>
          <a:bodyPr wrap="square" anchor="t">
            <a:spAutoFit/>
          </a:bodyPr>
          <a:lstStyle/>
          <a:p>
            <a:pPr algn="l">
              <a:spcAft>
                <a:spcPts val="400"/>
              </a:spcAft>
            </a:pPr>
            <a:r>
              <a:rPr sz="1500" b="1">
                <a:solidFill>
                  <a:srgbClr val="1F6FEB"/>
                </a:solidFill>
                <a:latin typeface="Arial"/>
              </a:rPr>
              <a:t>COURSE SLIDES  ·  WSQ</a:t>
            </a:r>
          </a:p>
        </p:txBody>
      </p:sp>
      <p:sp>
        <p:nvSpPr>
          <p:cNvPr id="12" name="TextBox 11"/>
          <p:cNvSpPr txBox="1"/>
          <p:nvPr/>
        </p:nvSpPr>
        <p:spPr>
          <a:xfrm>
            <a:off x="822960" y="2331720"/>
            <a:ext cx="5074920" cy="2057400"/>
          </a:xfrm>
          <a:prstGeom prst="rect">
            <a:avLst/>
          </a:prstGeom>
          <a:noFill/>
        </p:spPr>
        <p:txBody>
          <a:bodyPr wrap="square" anchor="t">
            <a:spAutoFit/>
          </a:bodyPr>
          <a:lstStyle/>
          <a:p>
            <a:pPr algn="l">
              <a:spcAft>
                <a:spcPts val="400"/>
              </a:spcAft>
            </a:pPr>
            <a:r>
              <a:rPr sz="3400" b="1">
                <a:solidFill>
                  <a:srgbClr val="161B26"/>
                </a:solidFill>
                <a:latin typeface="Arial"/>
              </a:rPr>
              <a:t>Empowering Employee Health and Wellness at the Workplace</a:t>
            </a:r>
          </a:p>
        </p:txBody>
      </p:sp>
      <p:sp>
        <p:nvSpPr>
          <p:cNvPr id="13" name="Rectangle 12"/>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617720"/>
            <a:ext cx="507492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TGS-2024045222</a:t>
            </a:r>
          </a:p>
          <a:p>
            <a:pPr algn="l">
              <a:spcAft>
                <a:spcPts val="600"/>
              </a:spcAft>
            </a:pPr>
            <a:r>
              <a:rPr sz="1300" b="0">
                <a:solidFill>
                  <a:srgbClr val="5B6372"/>
                </a:solidFill>
                <a:latin typeface="Arial"/>
              </a:rPr>
              <a:t>Conducted by Tertiary Infotech Academy Pte Ltd</a:t>
            </a:r>
          </a:p>
        </p:txBody>
      </p:sp>
      <p:sp>
        <p:nvSpPr>
          <p:cNvPr id="15" name="TextBox 14"/>
          <p:cNvSpPr txBox="1"/>
          <p:nvPr/>
        </p:nvSpPr>
        <p:spPr>
          <a:xfrm>
            <a:off x="822960" y="5943600"/>
            <a:ext cx="5074920" cy="365760"/>
          </a:xfrm>
          <a:prstGeom prst="rect">
            <a:avLst/>
          </a:prstGeom>
          <a:noFill/>
        </p:spPr>
        <p:txBody>
          <a:bodyPr wrap="square" anchor="t">
            <a:spAutoFit/>
          </a:bodyPr>
          <a:lstStyle/>
          <a:p>
            <a:pPr algn="l">
              <a:spcAft>
                <a:spcPts val="400"/>
              </a:spcAft>
            </a:pPr>
            <a:r>
              <a:rPr sz="1200" b="0">
                <a:solidFill>
                  <a:srgbClr val="5B6372"/>
                </a:solidFill>
                <a:latin typeface="Arial"/>
              </a:rPr>
              <a:t>Version v8.0  ·  16 August 2026</a:t>
            </a:r>
          </a:p>
        </p:txBody>
      </p:sp>
      <p:sp>
        <p:nvSpPr>
          <p:cNvPr id="16" name="TextBox 15"/>
          <p:cNvSpPr txBox="1"/>
          <p:nvPr/>
        </p:nvSpPr>
        <p:spPr>
          <a:xfrm>
            <a:off x="822960" y="6263640"/>
            <a:ext cx="5074920" cy="310896"/>
          </a:xfrm>
          <a:prstGeom prst="rect">
            <a:avLst/>
          </a:prstGeom>
          <a:noFill/>
        </p:spPr>
        <p:txBody>
          <a:bodyPr wrap="square" anchor="t">
            <a:spAutoFit/>
          </a:bodyPr>
          <a:lstStyle/>
          <a:p>
            <a:pPr algn="l">
              <a:spcAft>
                <a:spcPts val="400"/>
              </a:spcAft>
            </a:pPr>
            <a:r>
              <a:rPr sz="900" b="0">
                <a:solidFill>
                  <a:srgbClr val="5B6372"/>
                </a:solidFill>
                <a:latin typeface="Arial"/>
              </a:rPr>
              <a:t>© 2026 Tertiary Infotech Academy Pte Ltd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Outcomes and Assessment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AM, PM and Assessment</a:t>
            </a:r>
          </a:p>
          <a:p>
            <a:pPr algn="l">
              <a:spcAft>
                <a:spcPts val="300"/>
              </a:spcAft>
            </a:pPr>
            <a:r>
              <a:rPr sz="1200" b="0">
                <a:solidFill>
                  <a:srgbClr val="5B6372"/>
                </a:solidFill>
                <a:latin typeface="Arial"/>
              </a:rPr>
              <a:t>Complete every SSG digital-attendance event shown by the trainer.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Scan the QR code</a:t>
            </a:r>
          </a:p>
          <a:p>
            <a:pPr algn="l">
              <a:spcAft>
                <a:spcPts val="300"/>
              </a:spcAft>
            </a:pPr>
            <a:r>
              <a:rPr sz="1200" b="0">
                <a:solidFill>
                  <a:srgbClr val="5B6372"/>
                </a:solidFill>
                <a:latin typeface="Arial"/>
              </a:rPr>
              <a:t>Use the mobile camera and submit the generated attendance form.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Verify submission</a:t>
            </a:r>
          </a:p>
          <a:p>
            <a:pPr algn="l">
              <a:spcAft>
                <a:spcPts val="300"/>
              </a:spcAft>
            </a:pPr>
            <a:r>
              <a:rPr sz="1200" b="0">
                <a:solidFill>
                  <a:srgbClr val="5B6372"/>
                </a:solidFill>
                <a:latin typeface="Arial"/>
              </a:rPr>
              <a:t>Tell the trainer immediately if the confirmation does not appear.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Funding condition</a:t>
            </a:r>
          </a:p>
          <a:p>
            <a:pPr algn="l">
              <a:spcAft>
                <a:spcPts val="300"/>
              </a:spcAft>
            </a:pPr>
            <a:r>
              <a:rPr sz="1200" b="0">
                <a:solidFill>
                  <a:srgbClr val="5B6372"/>
                </a:solidFill>
                <a:latin typeface="Arial"/>
              </a:rPr>
              <a:t>At least 75% attendance and a Competent result are required.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PROVIDER</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Tertiary Infotech Academy</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WSQ training provider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ORGANISATION</a:t>
            </a:r>
          </a:p>
          <a:p>
            <a:pPr algn="l">
              <a:spcAft>
                <a:spcPts val="300"/>
              </a:spcAft>
            </a:pPr>
            <a:r>
              <a:rPr sz="1400" b="0">
                <a:solidFill>
                  <a:srgbClr val="161B26"/>
                </a:solidFill>
                <a:latin typeface="Arial"/>
              </a:rPr>
              <a:t>Tertiary Infotech Academy Pte Ltd</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UEN</a:t>
            </a:r>
          </a:p>
          <a:p>
            <a:pPr algn="l">
              <a:spcAft>
                <a:spcPts val="300"/>
              </a:spcAft>
            </a:pPr>
            <a:r>
              <a:rPr sz="1400" b="0">
                <a:solidFill>
                  <a:srgbClr val="161B26"/>
                </a:solidFill>
                <a:latin typeface="Arial"/>
              </a:rPr>
              <a:t>201200696W</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COURSE</a:t>
            </a:r>
          </a:p>
          <a:p>
            <a:pPr algn="l">
              <a:spcAft>
                <a:spcPts val="300"/>
              </a:spcAft>
            </a:pPr>
            <a:r>
              <a:rPr sz="1400" b="0">
                <a:solidFill>
                  <a:srgbClr val="161B26"/>
                </a:solidFill>
                <a:latin typeface="Arial"/>
              </a:rPr>
              <a:t>Empowering Employee Health and Wellness at the Workplace</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COURSE CODE</a:t>
            </a:r>
          </a:p>
          <a:p>
            <a:pPr algn="l">
              <a:spcAft>
                <a:spcPts val="300"/>
              </a:spcAft>
            </a:pPr>
            <a:r>
              <a:rPr sz="1400" b="0">
                <a:solidFill>
                  <a:srgbClr val="161B26"/>
                </a:solidFill>
                <a:latin typeface="Arial"/>
              </a:rPr>
              <a:t>TGS-2024045222</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TSC</a:t>
            </a:r>
          </a:p>
          <a:p>
            <a:pPr algn="l">
              <a:spcAft>
                <a:spcPts val="300"/>
              </a:spcAft>
            </a:pPr>
            <a:r>
              <a:rPr sz="1400" b="0">
                <a:solidFill>
                  <a:srgbClr val="161B26"/>
                </a:solidFill>
                <a:latin typeface="Arial"/>
              </a:rPr>
              <a:t>HRS-HRM-3019-1.1</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400" b="0">
                <a:solidFill>
                  <a:srgbClr val="161B26"/>
                </a:solidFill>
                <a:latin typeface="Arial"/>
              </a:rPr>
              <a:t>enquiry@tertiaryinfotech.com</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and course facilitator</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SPECIALISMS</a:t>
            </a:r>
          </a:p>
          <a:p>
            <a:pPr algn="l">
              <a:spcAft>
                <a:spcPts val="300"/>
              </a:spcAft>
            </a:pPr>
            <a:r>
              <a:rPr sz="1400" b="0">
                <a:solidFill>
                  <a:srgbClr val="161B26"/>
                </a:solidFill>
                <a:latin typeface="Arial"/>
              </a:rPr>
              <a:t>Workplace wellbeing, responsible technology and programme management</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DELIVERY</a:t>
            </a:r>
          </a:p>
          <a:p>
            <a:pPr algn="l">
              <a:spcAft>
                <a:spcPts val="300"/>
              </a:spcAft>
            </a:pPr>
            <a:r>
              <a:rPr sz="1400" b="0">
                <a:solidFill>
                  <a:srgbClr val="161B26"/>
                </a:solidFill>
                <a:latin typeface="Arial"/>
              </a:rPr>
              <a:t>WSQ professional development and workplace application</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CONTACT</a:t>
            </a:r>
          </a:p>
          <a:p>
            <a:pPr algn="l">
              <a:spcAft>
                <a:spcPts val="300"/>
              </a:spcAft>
            </a:pPr>
            <a:r>
              <a:rPr sz="1400" b="0">
                <a:solidFill>
                  <a:srgbClr val="161B26"/>
                </a:solidFill>
                <a:latin typeface="Arial"/>
              </a:rPr>
              <a:t>enquiry@tertiaryinfotech.com</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INTRODUCTION</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Role</a:t>
            </a:r>
          </a:p>
          <a:p>
            <a:pPr algn="l">
              <a:spcAft>
                <a:spcPts val="300"/>
              </a:spcAft>
            </a:pPr>
            <a:r>
              <a:rPr sz="1200" b="0">
                <a:solidFill>
                  <a:srgbClr val="5B6372"/>
                </a:solidFill>
                <a:latin typeface="Arial"/>
              </a:rPr>
              <a:t>Your organisation, function and wellbeing responsibilities.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Employee experience</a:t>
            </a:r>
          </a:p>
          <a:p>
            <a:pPr algn="l">
              <a:spcAft>
                <a:spcPts val="300"/>
              </a:spcAft>
            </a:pPr>
            <a:r>
              <a:rPr sz="1200" b="0">
                <a:solidFill>
                  <a:srgbClr val="5B6372"/>
                </a:solidFill>
                <a:latin typeface="Arial"/>
              </a:rPr>
              <a:t>One workplace condition that helps or drains sustainable energy.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Learning goal</a:t>
            </a:r>
          </a:p>
          <a:p>
            <a:pPr algn="l">
              <a:spcAft>
                <a:spcPts val="300"/>
              </a:spcAft>
            </a:pPr>
            <a:r>
              <a:rPr sz="1200" b="0">
                <a:solidFill>
                  <a:srgbClr val="5B6372"/>
                </a:solidFill>
                <a:latin typeface="Arial"/>
              </a:rPr>
              <a:t>One programme decision or capability you want to strengthen.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Case lens</a:t>
            </a:r>
          </a:p>
          <a:p>
            <a:pPr algn="l">
              <a:spcAft>
                <a:spcPts val="300"/>
              </a:spcAft>
            </a:pPr>
            <a:r>
              <a:rPr sz="1200" b="0">
                <a:solidFill>
                  <a:srgbClr val="5B6372"/>
                </a:solidFill>
                <a:latin typeface="Arial"/>
              </a:rPr>
              <a:t>One employee group whose access needs you will represent.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Participate</a:t>
            </a:r>
          </a:p>
          <a:p>
            <a:pPr algn="l">
              <a:spcAft>
                <a:spcPts val="300"/>
              </a:spcAft>
            </a:pPr>
            <a:r>
              <a:rPr sz="1200" b="0">
                <a:solidFill>
                  <a:srgbClr val="5B6372"/>
                </a:solidFill>
                <a:latin typeface="Arial"/>
              </a:rPr>
              <a:t>Challenge assumptions and contribute evidence.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Respect</a:t>
            </a:r>
          </a:p>
          <a:p>
            <a:pPr algn="l">
              <a:spcAft>
                <a:spcPts val="300"/>
              </a:spcAft>
            </a:pPr>
            <a:r>
              <a:rPr sz="1200" b="0">
                <a:solidFill>
                  <a:srgbClr val="5B6372"/>
                </a:solidFill>
                <a:latin typeface="Arial"/>
              </a:rPr>
              <a:t>Disagree with ideas, not people.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Confidentiality</a:t>
            </a:r>
          </a:p>
          <a:p>
            <a:pPr algn="l">
              <a:spcAft>
                <a:spcPts val="300"/>
              </a:spcAft>
            </a:pPr>
            <a:r>
              <a:rPr sz="1200" b="0">
                <a:solidFill>
                  <a:srgbClr val="5B6372"/>
                </a:solidFill>
                <a:latin typeface="Arial"/>
              </a:rPr>
              <a:t>Use public or course data only; do not disclose live incident information.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Devices</a:t>
            </a:r>
          </a:p>
          <a:p>
            <a:pPr algn="l">
              <a:spcAft>
                <a:spcPts val="300"/>
              </a:spcAft>
            </a:pPr>
            <a:r>
              <a:rPr sz="1200" b="0">
                <a:solidFill>
                  <a:srgbClr val="5B6372"/>
                </a:solidFill>
                <a:latin typeface="Arial"/>
              </a:rPr>
              <a:t>Silent mode; step out quietly if needed.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Time</a:t>
            </a:r>
          </a:p>
          <a:p>
            <a:pPr algn="l">
              <a:spcAft>
                <a:spcPts val="300"/>
              </a:spcAft>
            </a:pPr>
            <a:r>
              <a:rPr sz="1200" b="0">
                <a:solidFill>
                  <a:srgbClr val="5B6372"/>
                </a:solidFill>
                <a:latin typeface="Arial"/>
              </a:rPr>
              <a:t>Return from breaks promptly.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Attendance</a:t>
            </a:r>
          </a:p>
          <a:p>
            <a:pPr algn="l">
              <a:spcAft>
                <a:spcPts val="300"/>
              </a:spcAft>
            </a:pPr>
            <a:r>
              <a:rPr sz="1200" b="0">
                <a:solidFill>
                  <a:srgbClr val="5B6372"/>
                </a:solidFill>
                <a:latin typeface="Arial"/>
              </a:rPr>
              <a:t>Maintain the required SSG attendance record.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LESSON PLAN</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Course Outline — 2 Days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Understand and design</a:t>
            </a:r>
          </a:p>
          <a:p>
            <a:pPr>
              <a:spcAft>
                <a:spcPts val="1000"/>
              </a:spcAft>
            </a:pPr>
            <a:r>
              <a:rPr sz="1400" b="0">
                <a:solidFill>
                  <a:srgbClr val="5B6372"/>
                </a:solidFill>
                <a:latin typeface="Arial"/>
              </a:rPr>
              <a:t>–  Topic 1: requirements, factors, trends and evidence</a:t>
            </a:r>
          </a:p>
          <a:p>
            <a:pPr>
              <a:spcAft>
                <a:spcPts val="1000"/>
              </a:spcAft>
            </a:pPr>
            <a:r>
              <a:rPr sz="1400" b="0">
                <a:solidFill>
                  <a:srgbClr val="5B6372"/>
                </a:solidFill>
                <a:latin typeface="Arial"/>
              </a:rPr>
              <a:t>–  Activities 1–3: privacy, needs and technology</a:t>
            </a:r>
          </a:p>
          <a:p>
            <a:pPr>
              <a:spcAft>
                <a:spcPts val="1000"/>
              </a:spcAft>
            </a:pPr>
            <a:r>
              <a:rPr sz="1400" b="0">
                <a:solidFill>
                  <a:srgbClr val="5B6372"/>
                </a:solidFill>
                <a:latin typeface="Arial"/>
              </a:rPr>
              <a:t>–  Topic 2: programme portfolio and resilience</a:t>
            </a:r>
          </a:p>
          <a:p>
            <a:pPr>
              <a:spcAft>
                <a:spcPts val="1000"/>
              </a:spcAft>
            </a:pPr>
            <a:r>
              <a:rPr sz="1400" b="0">
                <a:solidFill>
                  <a:srgbClr val="5B6372"/>
                </a:solidFill>
                <a:latin typeface="Arial"/>
              </a:rPr>
              <a:t>–  Activities 4–5: work redesign and portfolio</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Implement and improve</a:t>
            </a:r>
          </a:p>
          <a:p>
            <a:pPr>
              <a:spcAft>
                <a:spcPts val="1000"/>
              </a:spcAft>
            </a:pPr>
            <a:r>
              <a:rPr sz="1400" b="0">
                <a:solidFill>
                  <a:srgbClr val="5B6372"/>
                </a:solidFill>
                <a:latin typeface="Arial"/>
              </a:rPr>
              <a:t>–  Topic 2: policy-to-practice and participation</a:t>
            </a:r>
          </a:p>
          <a:p>
            <a:pPr>
              <a:spcAft>
                <a:spcPts val="1000"/>
              </a:spcAft>
            </a:pPr>
            <a:r>
              <a:rPr sz="1400" b="0">
                <a:solidFill>
                  <a:srgbClr val="5B6372"/>
                </a:solidFill>
                <a:latin typeface="Arial"/>
              </a:rPr>
              <a:t>–  Activities 6–7: playbook and partner recovery</a:t>
            </a:r>
          </a:p>
          <a:p>
            <a:pPr>
              <a:spcAft>
                <a:spcPts val="1000"/>
              </a:spcAft>
            </a:pPr>
            <a:r>
              <a:rPr sz="1400" b="0">
                <a:solidFill>
                  <a:srgbClr val="5B6372"/>
                </a:solidFill>
                <a:latin typeface="Arial"/>
              </a:rPr>
              <a:t>–  Topic 3: communication, feedback and evaluation</a:t>
            </a:r>
          </a:p>
          <a:p>
            <a:pPr>
              <a:spcAft>
                <a:spcPts val="1000"/>
              </a:spcAft>
            </a:pPr>
            <a:r>
              <a:rPr sz="1400" b="0">
                <a:solidFill>
                  <a:srgbClr val="5B6372"/>
                </a:solidFill>
                <a:latin typeface="Arial"/>
              </a:rPr>
              <a:t>–  Activities 8–10; WA 4–5pm; CS 5–6pm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WILL ACHIEVE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LO1</a:t>
            </a:r>
          </a:p>
          <a:p>
            <a:pPr algn="l">
              <a:spcAft>
                <a:spcPts val="300"/>
              </a:spcAft>
            </a:pPr>
            <a:r>
              <a:rPr sz="1000" b="0">
                <a:solidFill>
                  <a:srgbClr val="5B6372"/>
                </a:solidFill>
                <a:latin typeface="Arial"/>
              </a:rPr>
              <a:t>Identify workplace health and wellness trends, technologies and research implications for employees and the organisation.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LO2</a:t>
            </a:r>
          </a:p>
          <a:p>
            <a:pPr algn="l">
              <a:spcAft>
                <a:spcPts val="300"/>
              </a:spcAft>
            </a:pPr>
            <a:r>
              <a:rPr sz="1000" b="0">
                <a:solidFill>
                  <a:srgbClr val="5B6372"/>
                </a:solidFill>
                <a:latin typeface="Arial"/>
              </a:rPr>
              <a:t>Implement inclusive health and wellness programmes for different employee groups and translate policies into day-to-day practices.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LO3</a:t>
            </a:r>
          </a:p>
          <a:p>
            <a:pPr algn="l">
              <a:spcAft>
                <a:spcPts val="300"/>
              </a:spcAft>
            </a:pPr>
            <a:r>
              <a:rPr sz="1000" b="0">
                <a:solidFill>
                  <a:srgbClr val="5B6372"/>
                </a:solidFill>
                <a:latin typeface="Arial"/>
              </a:rPr>
              <a:t>Communicate programme benefits through appropriate channels and assess effectiveness using employee feedback and programme evidence.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TSC ALIGNMENT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HRS-HRM-3019-1.1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Health and Wellness Programme Management</a:t>
            </a:r>
          </a:p>
          <a:p>
            <a:pPr>
              <a:spcAft>
                <a:spcPts val="900"/>
              </a:spcAft>
            </a:pPr>
            <a:r>
              <a:rPr sz="1400" b="0">
                <a:solidFill>
                  <a:srgbClr val="161B26"/>
                </a:solidFill>
                <a:latin typeface="Arial"/>
              </a:rPr>
              <a:t>•  Proficiency Level 3</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Knowledge K1–K7</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requirements · factors · trends · programmes · practices · benefits · communication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Abilities A1–A6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identify · research · assess · implement · communicate · gather feedback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ASSESSMENT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Individual</a:t>
            </a:r>
          </a:p>
          <a:p>
            <a:pPr algn="l">
              <a:spcAft>
                <a:spcPts val="300"/>
              </a:spcAft>
            </a:pPr>
            <a:r>
              <a:rPr sz="1100" b="0">
                <a:solidFill>
                  <a:srgbClr val="5B6372"/>
                </a:solidFill>
                <a:latin typeface="Arial"/>
              </a:rPr>
              <a:t>No discussion, photography or recording.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Open book</a:t>
            </a:r>
          </a:p>
          <a:p>
            <a:pPr algn="l">
              <a:spcAft>
                <a:spcPts val="300"/>
              </a:spcAft>
            </a:pPr>
            <a:r>
              <a:rPr sz="1100" b="0">
                <a:solidFill>
                  <a:srgbClr val="5B6372"/>
                </a:solidFill>
                <a:latin typeface="Arial"/>
              </a:rPr>
              <a:t>Use slides, Learner Guide and approved course materials only.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Submission</a:t>
            </a:r>
          </a:p>
          <a:p>
            <a:pPr algn="l">
              <a:spcAft>
                <a:spcPts val="300"/>
              </a:spcAft>
            </a:pPr>
            <a:r>
              <a:rPr sz="1100" b="0">
                <a:solidFill>
                  <a:srgbClr val="5B6372"/>
                </a:solidFill>
                <a:latin typeface="Arial"/>
              </a:rPr>
              <a:t>Answer in your own words and upload the completed document to the LMS.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Conduct</a:t>
            </a:r>
          </a:p>
          <a:p>
            <a:pPr algn="l">
              <a:spcAft>
                <a:spcPts val="300"/>
              </a:spcAft>
            </a:pPr>
            <a:r>
              <a:rPr sz="1100" b="0">
                <a:solidFill>
                  <a:srgbClr val="5B6372"/>
                </a:solidFill>
                <a:latin typeface="Arial"/>
              </a:rPr>
              <a:t>Phones and other materials under the table; follow assessor instructions.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Outcome</a:t>
            </a:r>
          </a:p>
          <a:p>
            <a:pPr algn="l">
              <a:spcAft>
                <a:spcPts val="300"/>
              </a:spcAft>
            </a:pPr>
            <a:r>
              <a:rPr sz="1100" b="0">
                <a:solidFill>
                  <a:srgbClr val="5B6372"/>
                </a:solidFill>
                <a:latin typeface="Arial"/>
              </a:rPr>
              <a:t>Competent or Not Yet Competent; reassessment and appeal are available.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Sign-off</a:t>
            </a:r>
          </a:p>
          <a:p>
            <a:pPr algn="l">
              <a:spcAft>
                <a:spcPts val="300"/>
              </a:spcAft>
            </a:pPr>
            <a:r>
              <a:rPr sz="1100" b="0">
                <a:solidFill>
                  <a:srgbClr val="5B6372"/>
                </a:solidFill>
                <a:latin typeface="Arial"/>
              </a:rPr>
              <a:t>Complete digital attendance and sign the Assessment Summary Record.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Assessment and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WA-SAQ · 1 hour</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7 open-ended questions</a:t>
            </a:r>
          </a:p>
          <a:p>
            <a:pPr>
              <a:spcAft>
                <a:spcPts val="900"/>
              </a:spcAft>
            </a:pPr>
            <a:r>
              <a:rPr sz="1400" b="0">
                <a:solidFill>
                  <a:srgbClr val="161B26"/>
                </a:solidFill>
                <a:latin typeface="Arial"/>
              </a:rPr>
              <a:t>•  Covers K1–K7</a:t>
            </a:r>
          </a:p>
          <a:p>
            <a:pPr>
              <a:spcAft>
                <a:spcPts val="900"/>
              </a:spcAft>
            </a:pPr>
            <a:r>
              <a:rPr sz="1400" b="0">
                <a:solidFill>
                  <a:srgbClr val="161B26"/>
                </a:solidFill>
                <a:latin typeface="Arial"/>
              </a:rPr>
              <a:t>•  Open book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Case Study · 1 hour</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3 integrated questions</a:t>
            </a:r>
          </a:p>
          <a:p>
            <a:pPr>
              <a:spcAft>
                <a:spcPts val="900"/>
              </a:spcAft>
            </a:pPr>
            <a:r>
              <a:rPr sz="1400" b="0">
                <a:solidFill>
                  <a:srgbClr val="161B26"/>
                </a:solidFill>
                <a:latin typeface="Arial"/>
              </a:rPr>
              <a:t>•  Covers A1–A6</a:t>
            </a:r>
          </a:p>
          <a:p>
            <a:pPr>
              <a:spcAft>
                <a:spcPts val="900"/>
              </a:spcAft>
            </a:pPr>
            <a:r>
              <a:rPr sz="1400" b="0">
                <a:solidFill>
                  <a:srgbClr val="161B26"/>
                </a:solidFill>
                <a:latin typeface="Arial"/>
              </a:rPr>
              <a:t>•  Open book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Competency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Satisfactory evidence</a:t>
            </a:r>
          </a:p>
          <a:p>
            <a:pPr>
              <a:spcAft>
                <a:spcPts val="900"/>
              </a:spcAft>
            </a:pPr>
            <a:r>
              <a:rPr sz="1400" b="0">
                <a:solidFill>
                  <a:srgbClr val="161B26"/>
                </a:solidFill>
                <a:latin typeface="Arial"/>
              </a:rPr>
              <a:t>•  At least 75% attendance</a:t>
            </a:r>
          </a:p>
          <a:p>
            <a:pPr>
              <a:spcAft>
                <a:spcPts val="900"/>
              </a:spcAft>
            </a:pPr>
            <a:r>
              <a:rPr sz="1400" b="0">
                <a:solidFill>
                  <a:srgbClr val="161B26"/>
                </a:solidFill>
                <a:latin typeface="Arial"/>
              </a:rPr>
              <a:t>•  Appeal process available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 SSG attendance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then Case Study</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HANDS-ON MATERIALS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Access the Course Activities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52760" cy="658368"/>
          </a:xfrm>
          <a:prstGeom prst="rect">
            <a:avLst/>
          </a:prstGeom>
          <a:solidFill>
            <a:srgbClr val="EE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38528"/>
            <a:ext cx="10195560" cy="411480"/>
          </a:xfrm>
          <a:prstGeom prst="rect">
            <a:avLst/>
          </a:prstGeom>
          <a:noFill/>
        </p:spPr>
        <p:txBody>
          <a:bodyPr wrap="square" anchor="t">
            <a:spAutoFit/>
          </a:bodyPr>
          <a:lstStyle/>
          <a:p>
            <a:pPr algn="ctr">
              <a:spcAft>
                <a:spcPts val="400"/>
              </a:spcAft>
            </a:pPr>
            <a:r>
              <a:rPr sz="1500" b="1">
                <a:solidFill>
                  <a:srgbClr val="7C3AED"/>
                </a:solidFill>
                <a:latin typeface="Arial"/>
                <a:hlinkClick r:id="rId2"/>
              </a:rPr>
              <a:t>Open resource · github.com</a:t>
            </a:r>
          </a:p>
        </p:txBody>
      </p:sp>
      <p:sp>
        <p:nvSpPr>
          <p:cNvPr id="9" name="Rectangle 8"/>
          <p:cNvSpPr/>
          <p:nvPr/>
        </p:nvSpPr>
        <p:spPr>
          <a:xfrm>
            <a:off x="777240" y="2880360"/>
            <a:ext cx="3337560" cy="2514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880360"/>
            <a:ext cx="3337560"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3154680"/>
            <a:ext cx="2926080" cy="502920"/>
          </a:xfrm>
          <a:prstGeom prst="rect">
            <a:avLst/>
          </a:prstGeom>
          <a:noFill/>
        </p:spPr>
        <p:txBody>
          <a:bodyPr wrap="square" anchor="t">
            <a:spAutoFit/>
          </a:bodyPr>
          <a:lstStyle/>
          <a:p>
            <a:pPr algn="l">
              <a:spcAft>
                <a:spcPts val="400"/>
              </a:spcAft>
            </a:pPr>
            <a:r>
              <a:rPr sz="1800" b="1">
                <a:solidFill>
                  <a:srgbClr val="1F6FEB"/>
                </a:solidFill>
                <a:latin typeface="Arial"/>
              </a:rPr>
              <a:t>Canonical source</a:t>
            </a:r>
          </a:p>
        </p:txBody>
      </p:sp>
      <p:sp>
        <p:nvSpPr>
          <p:cNvPr id="12" name="TextBox 11"/>
          <p:cNvSpPr txBox="1"/>
          <p:nvPr/>
        </p:nvSpPr>
        <p:spPr>
          <a:xfrm>
            <a:off x="978408" y="3794760"/>
            <a:ext cx="2926080" cy="1325880"/>
          </a:xfrm>
          <a:prstGeom prst="rect">
            <a:avLst/>
          </a:prstGeom>
          <a:noFill/>
        </p:spPr>
        <p:txBody>
          <a:bodyPr wrap="square" anchor="t">
            <a:spAutoFit/>
          </a:bodyPr>
          <a:lstStyle/>
          <a:p>
            <a:pPr algn="l">
              <a:spcAft>
                <a:spcPts val="400"/>
              </a:spcAft>
            </a:pPr>
            <a:r>
              <a:rPr sz="1500" b="0">
                <a:solidFill>
                  <a:srgbClr val="161B26"/>
                </a:solidFill>
                <a:latin typeface="Arial"/>
              </a:rPr>
              <a:t>The repository holds the current learner-facing activity package.</a:t>
            </a:r>
          </a:p>
        </p:txBody>
      </p:sp>
      <p:sp>
        <p:nvSpPr>
          <p:cNvPr id="13" name="Rectangle 12"/>
          <p:cNvSpPr/>
          <p:nvPr/>
        </p:nvSpPr>
        <p:spPr>
          <a:xfrm>
            <a:off x="4434840" y="2880360"/>
            <a:ext cx="3337560" cy="2514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2880360"/>
            <a:ext cx="3337560"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36008" y="3154680"/>
            <a:ext cx="2926080" cy="502920"/>
          </a:xfrm>
          <a:prstGeom prst="rect">
            <a:avLst/>
          </a:prstGeom>
          <a:noFill/>
        </p:spPr>
        <p:txBody>
          <a:bodyPr wrap="square" anchor="t">
            <a:spAutoFit/>
          </a:bodyPr>
          <a:lstStyle/>
          <a:p>
            <a:pPr algn="l">
              <a:spcAft>
                <a:spcPts val="400"/>
              </a:spcAft>
            </a:pPr>
            <a:r>
              <a:rPr sz="1800" b="1">
                <a:solidFill>
                  <a:srgbClr val="10B981"/>
                </a:solidFill>
                <a:latin typeface="Arial"/>
              </a:rPr>
              <a:t>Individual folders</a:t>
            </a:r>
          </a:p>
        </p:txBody>
      </p:sp>
      <p:sp>
        <p:nvSpPr>
          <p:cNvPr id="16" name="TextBox 15"/>
          <p:cNvSpPr txBox="1"/>
          <p:nvPr/>
        </p:nvSpPr>
        <p:spPr>
          <a:xfrm>
            <a:off x="4636008" y="3794760"/>
            <a:ext cx="2926080" cy="1325880"/>
          </a:xfrm>
          <a:prstGeom prst="rect">
            <a:avLst/>
          </a:prstGeom>
          <a:noFill/>
        </p:spPr>
        <p:txBody>
          <a:bodyPr wrap="square" anchor="t">
            <a:spAutoFit/>
          </a:bodyPr>
          <a:lstStyle/>
          <a:p>
            <a:pPr algn="l">
              <a:spcAft>
                <a:spcPts val="400"/>
              </a:spcAft>
            </a:pPr>
            <a:r>
              <a:rPr sz="1500" b="0">
                <a:solidFill>
                  <a:srgbClr val="161B26"/>
                </a:solidFill>
                <a:latin typeface="Arial"/>
              </a:rPr>
              <a:t>Each activity keeps its scenario, data, questions and evidence together.</a:t>
            </a:r>
          </a:p>
        </p:txBody>
      </p:sp>
      <p:sp>
        <p:nvSpPr>
          <p:cNvPr id="17" name="Rectangle 16"/>
          <p:cNvSpPr/>
          <p:nvPr/>
        </p:nvSpPr>
        <p:spPr>
          <a:xfrm>
            <a:off x="8092440" y="2880360"/>
            <a:ext cx="3337560" cy="2514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2880360"/>
            <a:ext cx="3337560"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3154680"/>
            <a:ext cx="2926080" cy="502920"/>
          </a:xfrm>
          <a:prstGeom prst="rect">
            <a:avLst/>
          </a:prstGeom>
          <a:noFill/>
        </p:spPr>
        <p:txBody>
          <a:bodyPr wrap="square" anchor="t">
            <a:spAutoFit/>
          </a:bodyPr>
          <a:lstStyle/>
          <a:p>
            <a:pPr algn="l">
              <a:spcAft>
                <a:spcPts val="400"/>
              </a:spcAft>
            </a:pPr>
            <a:r>
              <a:rPr sz="1800" b="1">
                <a:solidFill>
                  <a:srgbClr val="7C3AED"/>
                </a:solidFill>
                <a:latin typeface="Arial"/>
              </a:rPr>
              <a:t>Detailed guidance</a:t>
            </a:r>
          </a:p>
        </p:txBody>
      </p:sp>
      <p:sp>
        <p:nvSpPr>
          <p:cNvPr id="20" name="TextBox 19"/>
          <p:cNvSpPr txBox="1"/>
          <p:nvPr/>
        </p:nvSpPr>
        <p:spPr>
          <a:xfrm>
            <a:off x="8293608" y="3794760"/>
            <a:ext cx="2926080" cy="1325880"/>
          </a:xfrm>
          <a:prstGeom prst="rect">
            <a:avLst/>
          </a:prstGeom>
          <a:noFill/>
        </p:spPr>
        <p:txBody>
          <a:bodyPr wrap="square" anchor="t">
            <a:spAutoFit/>
          </a:bodyPr>
          <a:lstStyle/>
          <a:p>
            <a:pPr algn="l">
              <a:spcAft>
                <a:spcPts val="400"/>
              </a:spcAft>
            </a:pPr>
            <a:r>
              <a:rPr sz="1500" b="0">
                <a:solidFill>
                  <a:srgbClr val="161B26"/>
                </a:solidFill>
                <a:latin typeface="Arial"/>
              </a:rPr>
              <a:t>Procedures and acceptance criteria are in the Learner Guide and activity Markdown.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COURSEWARE AND ASSESSMENT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52760" cy="658368"/>
          </a:xfrm>
          <a:prstGeom prst="rect">
            <a:avLst/>
          </a:prstGeom>
          <a:solidFill>
            <a:srgbClr val="EE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38528"/>
            <a:ext cx="10195560" cy="411480"/>
          </a:xfrm>
          <a:prstGeom prst="rect">
            <a:avLst/>
          </a:prstGeom>
          <a:noFill/>
        </p:spPr>
        <p:txBody>
          <a:bodyPr wrap="square" anchor="t">
            <a:spAutoFit/>
          </a:bodyPr>
          <a:lstStyle/>
          <a:p>
            <a:pPr algn="ctr">
              <a:spcAft>
                <a:spcPts val="400"/>
              </a:spcAft>
            </a:pPr>
            <a:r>
              <a:rPr sz="1500" b="1">
                <a:solidFill>
                  <a:srgbClr val="7C3AED"/>
                </a:solidFill>
                <a:latin typeface="Arial"/>
                <a:hlinkClick r:id="rId2"/>
              </a:rPr>
              <a:t>Open resource · lms-tms.tertiaryinfotech.com</a:t>
            </a:r>
          </a:p>
        </p:txBody>
      </p:sp>
      <p:sp>
        <p:nvSpPr>
          <p:cNvPr id="9" name="Rectangle 8"/>
          <p:cNvSpPr/>
          <p:nvPr/>
        </p:nvSpPr>
        <p:spPr>
          <a:xfrm>
            <a:off x="777240" y="2880360"/>
            <a:ext cx="3337560" cy="2514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880360"/>
            <a:ext cx="3337560"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3154680"/>
            <a:ext cx="2926080" cy="502920"/>
          </a:xfrm>
          <a:prstGeom prst="rect">
            <a:avLst/>
          </a:prstGeom>
          <a:noFill/>
        </p:spPr>
        <p:txBody>
          <a:bodyPr wrap="square" anchor="t">
            <a:spAutoFit/>
          </a:bodyPr>
          <a:lstStyle/>
          <a:p>
            <a:pPr algn="l">
              <a:spcAft>
                <a:spcPts val="400"/>
              </a:spcAft>
            </a:pPr>
            <a:r>
              <a:rPr sz="1800" b="1">
                <a:solidFill>
                  <a:srgbClr val="1F6FEB"/>
                </a:solidFill>
                <a:latin typeface="Arial"/>
              </a:rPr>
              <a:t>Courseware</a:t>
            </a:r>
          </a:p>
        </p:txBody>
      </p:sp>
      <p:sp>
        <p:nvSpPr>
          <p:cNvPr id="12" name="TextBox 11"/>
          <p:cNvSpPr txBox="1"/>
          <p:nvPr/>
        </p:nvSpPr>
        <p:spPr>
          <a:xfrm>
            <a:off x="978408" y="3794760"/>
            <a:ext cx="2926080" cy="1325880"/>
          </a:xfrm>
          <a:prstGeom prst="rect">
            <a:avLst/>
          </a:prstGeom>
          <a:noFill/>
        </p:spPr>
        <p:txBody>
          <a:bodyPr wrap="square" anchor="t">
            <a:spAutoFit/>
          </a:bodyPr>
          <a:lstStyle/>
          <a:p>
            <a:pPr algn="l">
              <a:spcAft>
                <a:spcPts val="400"/>
              </a:spcAft>
            </a:pPr>
            <a:r>
              <a:rPr sz="1500" b="0">
                <a:solidFill>
                  <a:srgbClr val="161B26"/>
                </a:solidFill>
                <a:latin typeface="Arial"/>
              </a:rPr>
              <a:t>Current slides and Learner Guide are available to enrolled learners.</a:t>
            </a:r>
          </a:p>
        </p:txBody>
      </p:sp>
      <p:sp>
        <p:nvSpPr>
          <p:cNvPr id="13" name="Rectangle 12"/>
          <p:cNvSpPr/>
          <p:nvPr/>
        </p:nvSpPr>
        <p:spPr>
          <a:xfrm>
            <a:off x="4434840" y="2880360"/>
            <a:ext cx="3337560" cy="2514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2880360"/>
            <a:ext cx="3337560"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36008" y="3154680"/>
            <a:ext cx="2926080" cy="502920"/>
          </a:xfrm>
          <a:prstGeom prst="rect">
            <a:avLst/>
          </a:prstGeom>
          <a:noFill/>
        </p:spPr>
        <p:txBody>
          <a:bodyPr wrap="square" anchor="t">
            <a:spAutoFit/>
          </a:bodyPr>
          <a:lstStyle/>
          <a:p>
            <a:pPr algn="l">
              <a:spcAft>
                <a:spcPts val="400"/>
              </a:spcAft>
            </a:pPr>
            <a:r>
              <a:rPr sz="1800" b="1">
                <a:solidFill>
                  <a:srgbClr val="10B981"/>
                </a:solidFill>
                <a:latin typeface="Arial"/>
              </a:rPr>
              <a:t>Assessment</a:t>
            </a:r>
          </a:p>
        </p:txBody>
      </p:sp>
      <p:sp>
        <p:nvSpPr>
          <p:cNvPr id="16" name="TextBox 15"/>
          <p:cNvSpPr txBox="1"/>
          <p:nvPr/>
        </p:nvSpPr>
        <p:spPr>
          <a:xfrm>
            <a:off x="4636008" y="3794760"/>
            <a:ext cx="2926080" cy="1325880"/>
          </a:xfrm>
          <a:prstGeom prst="rect">
            <a:avLst/>
          </a:prstGeom>
          <a:noFill/>
        </p:spPr>
        <p:txBody>
          <a:bodyPr wrap="square" anchor="t">
            <a:spAutoFit/>
          </a:bodyPr>
          <a:lstStyle/>
          <a:p>
            <a:pPr algn="l">
              <a:spcAft>
                <a:spcPts val="400"/>
              </a:spcAft>
            </a:pPr>
            <a:r>
              <a:rPr sz="1500" b="0">
                <a:solidFill>
                  <a:srgbClr val="161B26"/>
                </a:solidFill>
                <a:latin typeface="Arial"/>
              </a:rPr>
              <a:t>The WA and Case Study are completed in the controlled LMS workflow.</a:t>
            </a:r>
          </a:p>
        </p:txBody>
      </p:sp>
      <p:sp>
        <p:nvSpPr>
          <p:cNvPr id="17" name="Rectangle 16"/>
          <p:cNvSpPr/>
          <p:nvPr/>
        </p:nvSpPr>
        <p:spPr>
          <a:xfrm>
            <a:off x="8092440" y="2880360"/>
            <a:ext cx="3337560" cy="2514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2880360"/>
            <a:ext cx="3337560"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3154680"/>
            <a:ext cx="2926080" cy="502920"/>
          </a:xfrm>
          <a:prstGeom prst="rect">
            <a:avLst/>
          </a:prstGeom>
          <a:noFill/>
        </p:spPr>
        <p:txBody>
          <a:bodyPr wrap="square" anchor="t">
            <a:spAutoFit/>
          </a:bodyPr>
          <a:lstStyle/>
          <a:p>
            <a:pPr algn="l">
              <a:spcAft>
                <a:spcPts val="400"/>
              </a:spcAft>
            </a:pPr>
            <a:r>
              <a:rPr sz="1800" b="1">
                <a:solidFill>
                  <a:srgbClr val="7C3AED"/>
                </a:solidFill>
                <a:latin typeface="Arial"/>
              </a:rPr>
              <a:t>Support</a:t>
            </a:r>
          </a:p>
        </p:txBody>
      </p:sp>
      <p:sp>
        <p:nvSpPr>
          <p:cNvPr id="20" name="TextBox 19"/>
          <p:cNvSpPr txBox="1"/>
          <p:nvPr/>
        </p:nvSpPr>
        <p:spPr>
          <a:xfrm>
            <a:off x="8293608" y="3794760"/>
            <a:ext cx="2926080" cy="1325880"/>
          </a:xfrm>
          <a:prstGeom prst="rect">
            <a:avLst/>
          </a:prstGeom>
          <a:noFill/>
        </p:spPr>
        <p:txBody>
          <a:bodyPr wrap="square" anchor="t">
            <a:spAutoFit/>
          </a:bodyPr>
          <a:lstStyle/>
          <a:p>
            <a:pPr algn="l">
              <a:spcAft>
                <a:spcPts val="400"/>
              </a:spcAft>
            </a:pPr>
            <a:r>
              <a:rPr sz="1500" b="0">
                <a:solidFill>
                  <a:srgbClr val="161B26"/>
                </a:solidFill>
                <a:latin typeface="Arial"/>
              </a:rPr>
              <a:t>Use the academy support route if access or submission is unavailable.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MODEL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Understand · Design · Enable · Learn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END-TO-END VIEW</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The workplace wellbeing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Understand conditions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Prioritise needs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Design work and support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Enable safe access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Evaluate and improve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EVIDENCE BEFORE CONFIDENCE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Evidence hierarchy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Verified public fact</a:t>
            </a:r>
          </a:p>
          <a:p>
            <a:pPr algn="l">
              <a:spcAft>
                <a:spcPts val="300"/>
              </a:spcAft>
            </a:pPr>
            <a:r>
              <a:rPr sz="1200" b="0">
                <a:solidFill>
                  <a:srgbClr val="5B6372"/>
                </a:solidFill>
                <a:latin typeface="Arial"/>
              </a:rPr>
              <a:t>Published or regulatory information with source and date.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Organisation evidence</a:t>
            </a:r>
          </a:p>
          <a:p>
            <a:pPr algn="l">
              <a:spcAft>
                <a:spcPts val="300"/>
              </a:spcAft>
            </a:pPr>
            <a:r>
              <a:rPr sz="1200" b="0">
                <a:solidFill>
                  <a:srgbClr val="5B6372"/>
                </a:solidFill>
                <a:latin typeface="Arial"/>
              </a:rPr>
              <a:t>Workforce voice, risk data, programme records and approved decisions.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Training assumption</a:t>
            </a:r>
          </a:p>
          <a:p>
            <a:pPr algn="l">
              <a:spcAft>
                <a:spcPts val="300"/>
              </a:spcAft>
            </a:pPr>
            <a:r>
              <a:rPr sz="1200" b="0">
                <a:solidFill>
                  <a:srgbClr val="5B6372"/>
                </a:solidFill>
                <a:latin typeface="Arial"/>
              </a:rPr>
              <a:t>A simulated input used only for learning and clearly labelled.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Pilot observation</a:t>
            </a:r>
          </a:p>
          <a:p>
            <a:pPr algn="l">
              <a:spcAft>
                <a:spcPts val="300"/>
              </a:spcAft>
            </a:pPr>
            <a:r>
              <a:rPr sz="1200" b="0">
                <a:solidFill>
                  <a:srgbClr val="5B6372"/>
                </a:solidFill>
                <a:latin typeface="Arial"/>
              </a:rPr>
              <a:t>Observed behaviour or artefact compared with pre-set criteria.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COURSE MODEL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Employee wellbeing emerges from the whole system.</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Leadership, job design, access, trust and personal resources must work together.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LEARNING UNIT 01 · K1 · K2 · K3 · A1 · A2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Workplace Health, Wellness and Evidence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wellbeing dimensions · Singapore requirements · needs · trends · technology ·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TSC HRS-HRM-3019-1.1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400" b="1">
                <a:solidFill>
                  <a:srgbClr val="161B26"/>
                </a:solidFill>
                <a:latin typeface="Arial"/>
              </a:rPr>
              <a:t>Key Concepts — Workplace Health, Wellness and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Health</a:t>
            </a:r>
          </a:p>
          <a:p>
            <a:pPr algn="l">
              <a:spcAft>
                <a:spcPts val="300"/>
              </a:spcAft>
            </a:pPr>
            <a:r>
              <a:rPr sz="1200" b="0">
                <a:solidFill>
                  <a:srgbClr val="5B6372"/>
                </a:solidFill>
                <a:latin typeface="Arial"/>
              </a:rPr>
              <a:t>A state and capability shaped by physical, mental and social conditions—not merely the absence of illness.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Wellness</a:t>
            </a:r>
          </a:p>
          <a:p>
            <a:pPr algn="l">
              <a:spcAft>
                <a:spcPts val="300"/>
              </a:spcAft>
            </a:pPr>
            <a:r>
              <a:rPr sz="1200" b="0">
                <a:solidFill>
                  <a:srgbClr val="5B6372"/>
                </a:solidFill>
                <a:latin typeface="Arial"/>
              </a:rPr>
              <a:t>Intentional practices and enabling conditions that support people to function and thrive.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A useful decision separates verified facts, workforce data, professional judgement and assumptions.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System</a:t>
            </a:r>
          </a:p>
          <a:p>
            <a:pPr algn="l">
              <a:spcAft>
                <a:spcPts val="300"/>
              </a:spcAft>
            </a:pPr>
            <a:r>
              <a:rPr sz="1200" b="0">
                <a:solidFill>
                  <a:srgbClr val="5B6372"/>
                </a:solidFill>
                <a:latin typeface="Arial"/>
              </a:rPr>
              <a:t>Job design, managers, culture, access and individual resources interact; a perk alone is not a strategy.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01 · K1 · K2 · K3 · A1 · A2</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Wellbeing is an operating condition, not a collection of perks.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Design work and support so that people can be healthy, contribute and recover sustainably.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K2 · K3 · A1 · A2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Health and wellness: related, not interchangeable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Health includes physical, mental and social functioning and limitations.</a:t>
            </a:r>
          </a:p>
          <a:p>
            <a:pPr>
              <a:spcAft>
                <a:spcPts val="1000"/>
              </a:spcAft>
            </a:pPr>
            <a:r>
              <a:rPr sz="1600" b="0">
                <a:solidFill>
                  <a:srgbClr val="161B26"/>
                </a:solidFill>
                <a:latin typeface="Arial"/>
              </a:rPr>
              <a:t>•  It may require clinical care, reasonable support and risk controls.</a:t>
            </a:r>
          </a:p>
          <a:p>
            <a:pPr>
              <a:spcAft>
                <a:spcPts val="1000"/>
              </a:spcAft>
            </a:pPr>
            <a:r>
              <a:rPr sz="1600" b="0">
                <a:solidFill>
                  <a:srgbClr val="161B26"/>
                </a:solidFill>
                <a:latin typeface="Arial"/>
              </a:rPr>
              <a:t>•  Employers should not diagnose or infer a condition from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Wellness describes choices, resources and conditions that support functioning.</a:t>
            </a:r>
          </a:p>
          <a:p>
            <a:pPr>
              <a:spcAft>
                <a:spcPts val="1000"/>
              </a:spcAft>
            </a:pPr>
            <a:r>
              <a:rPr sz="1600" b="0">
                <a:solidFill>
                  <a:srgbClr val="161B26"/>
                </a:solidFill>
                <a:latin typeface="Arial"/>
              </a:rPr>
              <a:t>•  Participation should be voluntary, inclusive and free from coercion.</a:t>
            </a:r>
          </a:p>
          <a:p>
            <a:pPr>
              <a:spcAft>
                <a:spcPts val="1000"/>
              </a:spcAft>
            </a:pPr>
            <a:r>
              <a:rPr sz="1600" b="0">
                <a:solidFill>
                  <a:srgbClr val="161B26"/>
                </a:solidFill>
                <a:latin typeface="Arial"/>
              </a:rPr>
              <a:t>•  Programme design complements—not replaces—safe work and medical care.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K2 · K3 · A1 · A2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Interdependent dimensions of wellbeing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Career</a:t>
            </a:r>
          </a:p>
          <a:p>
            <a:pPr algn="l">
              <a:spcAft>
                <a:spcPts val="300"/>
              </a:spcAft>
            </a:pPr>
            <a:r>
              <a:rPr sz="1200" b="0">
                <a:solidFill>
                  <a:srgbClr val="5B6372"/>
                </a:solidFill>
                <a:latin typeface="Arial"/>
              </a:rPr>
              <a:t>Meaning, manageable expectations, strengths and development.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Social</a:t>
            </a:r>
          </a:p>
          <a:p>
            <a:pPr algn="l">
              <a:spcAft>
                <a:spcPts val="300"/>
              </a:spcAft>
            </a:pPr>
            <a:r>
              <a:rPr sz="1200" b="0">
                <a:solidFill>
                  <a:srgbClr val="5B6372"/>
                </a:solidFill>
                <a:latin typeface="Arial"/>
              </a:rPr>
              <a:t>Belonging, support, respect and constructive relationships.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Financial</a:t>
            </a:r>
          </a:p>
          <a:p>
            <a:pPr algn="l">
              <a:spcAft>
                <a:spcPts val="300"/>
              </a:spcAft>
            </a:pPr>
            <a:r>
              <a:rPr sz="1200" b="0">
                <a:solidFill>
                  <a:srgbClr val="5B6372"/>
                </a:solidFill>
                <a:latin typeface="Arial"/>
              </a:rPr>
              <a:t>Security, capability and access to trustworthy guidance.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Physical</a:t>
            </a:r>
          </a:p>
          <a:p>
            <a:pPr algn="l">
              <a:spcAft>
                <a:spcPts val="300"/>
              </a:spcAft>
            </a:pPr>
            <a:r>
              <a:rPr sz="1200" b="0">
                <a:solidFill>
                  <a:srgbClr val="5B6372"/>
                </a:solidFill>
                <a:latin typeface="Arial"/>
              </a:rPr>
              <a:t>Energy, movement, rest, nutrition and safe work.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Community</a:t>
            </a:r>
          </a:p>
          <a:p>
            <a:pPr algn="l">
              <a:spcAft>
                <a:spcPts val="300"/>
              </a:spcAft>
            </a:pPr>
            <a:r>
              <a:rPr sz="1200" b="0">
                <a:solidFill>
                  <a:srgbClr val="5B6372"/>
                </a:solidFill>
                <a:latin typeface="Arial"/>
              </a:rPr>
              <a:t>Connection, contribution and confidence in the wider environment.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Mental and emotional</a:t>
            </a:r>
          </a:p>
          <a:p>
            <a:pPr algn="l">
              <a:spcAft>
                <a:spcPts val="300"/>
              </a:spcAft>
            </a:pPr>
            <a:r>
              <a:rPr sz="1200" b="0">
                <a:solidFill>
                  <a:srgbClr val="5B6372"/>
                </a:solidFill>
                <a:latin typeface="Arial"/>
              </a:rPr>
              <a:t>Psychological safety, recovery, coping resources and access to help.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SYSTEM VIEW</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The workplace wellbeing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flipV="1">
            <a:off x="1691640" y="2468880"/>
            <a:ext cx="4389120" cy="1371600"/>
          </a:xfrm>
          <a:prstGeom prst="line">
            <a:avLst/>
          </a:prstGeom>
          <a:ln w="2540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4297680" y="2286000"/>
            <a:ext cx="1783080" cy="1554480"/>
          </a:xfrm>
          <a:prstGeom prst="line">
            <a:avLst/>
          </a:prstGeom>
          <a:ln w="2540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6080760" y="2286000"/>
            <a:ext cx="2148840" cy="1554480"/>
          </a:xfrm>
          <a:prstGeom prst="line">
            <a:avLst/>
          </a:prstGeom>
          <a:ln w="2540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6080760" y="2468880"/>
            <a:ext cx="4389120" cy="1371600"/>
          </a:xfrm>
          <a:prstGeom prst="line">
            <a:avLst/>
          </a:prstGeom>
          <a:ln w="2540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743200" y="3840480"/>
            <a:ext cx="3337560" cy="1371600"/>
          </a:xfrm>
          <a:prstGeom prst="line">
            <a:avLst/>
          </a:prstGeom>
          <a:ln w="2540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80760" y="3840480"/>
            <a:ext cx="3246120" cy="1371600"/>
          </a:xfrm>
          <a:prstGeom prst="line">
            <a:avLst/>
          </a:prstGeom>
          <a:ln w="25400">
            <a:solidFill>
              <a:srgbClr val="E2E8F0"/>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4709160" y="2971800"/>
            <a:ext cx="2743200" cy="1645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92040" y="3273552"/>
            <a:ext cx="2377440" cy="914400"/>
          </a:xfrm>
          <a:prstGeom prst="rect">
            <a:avLst/>
          </a:prstGeom>
          <a:noFill/>
        </p:spPr>
        <p:txBody>
          <a:bodyPr wrap="square" anchor="ctr">
            <a:spAutoFit/>
          </a:bodyPr>
          <a:lstStyle/>
          <a:p>
            <a:pPr algn="ctr">
              <a:spcAft>
                <a:spcPts val="400"/>
              </a:spcAft>
            </a:pPr>
            <a:r>
              <a:rPr sz="2000" b="1">
                <a:solidFill>
                  <a:srgbClr val="FFFFFF"/>
                </a:solidFill>
                <a:latin typeface="Arial"/>
              </a:rPr>
              <a:t>EMPLOYEE</a:t>
            </a:r>
          </a:p>
          <a:p>
            <a:pPr algn="ctr">
              <a:spcAft>
                <a:spcPts val="400"/>
              </a:spcAft>
            </a:pPr>
            <a:r>
              <a:rPr sz="2000" b="1">
                <a:solidFill>
                  <a:srgbClr val="FFFFFF"/>
                </a:solidFill>
                <a:latin typeface="Arial"/>
              </a:rPr>
              <a:t>EXPERIENCE</a:t>
            </a:r>
          </a:p>
        </p:txBody>
      </p:sp>
      <p:sp>
        <p:nvSpPr>
          <p:cNvPr id="15" name="Oval 14"/>
          <p:cNvSpPr/>
          <p:nvPr/>
        </p:nvSpPr>
        <p:spPr>
          <a:xfrm>
            <a:off x="777240" y="1965960"/>
            <a:ext cx="182880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130552"/>
            <a:ext cx="1609344" cy="548640"/>
          </a:xfrm>
          <a:prstGeom prst="rect">
            <a:avLst/>
          </a:prstGeom>
          <a:noFill/>
        </p:spPr>
        <p:txBody>
          <a:bodyPr wrap="square" anchor="ctr">
            <a:spAutoFit/>
          </a:bodyPr>
          <a:lstStyle/>
          <a:p>
            <a:pPr algn="ctr">
              <a:spcAft>
                <a:spcPts val="400"/>
              </a:spcAft>
            </a:pPr>
            <a:r>
              <a:rPr sz="1000" b="1">
                <a:solidFill>
                  <a:srgbClr val="FFFFFF"/>
                </a:solidFill>
                <a:latin typeface="Arial"/>
              </a:rPr>
              <a:t>LEADERSHIP</a:t>
            </a:r>
          </a:p>
        </p:txBody>
      </p:sp>
      <p:sp>
        <p:nvSpPr>
          <p:cNvPr id="17" name="TextBox 16"/>
          <p:cNvSpPr txBox="1"/>
          <p:nvPr/>
        </p:nvSpPr>
        <p:spPr>
          <a:xfrm>
            <a:off x="777240" y="2999231"/>
            <a:ext cx="1828800" cy="320040"/>
          </a:xfrm>
          <a:prstGeom prst="rect">
            <a:avLst/>
          </a:prstGeom>
          <a:noFill/>
        </p:spPr>
        <p:txBody>
          <a:bodyPr wrap="square" anchor="t">
            <a:spAutoFit/>
          </a:bodyPr>
          <a:lstStyle/>
          <a:p>
            <a:pPr algn="ctr">
              <a:spcAft>
                <a:spcPts val="400"/>
              </a:spcAft>
            </a:pPr>
            <a:r>
              <a:rPr sz="900" b="0">
                <a:solidFill>
                  <a:srgbClr val="5B6372"/>
                </a:solidFill>
                <a:latin typeface="Arial"/>
              </a:rPr>
              <a:t>priority · trust</a:t>
            </a:r>
          </a:p>
        </p:txBody>
      </p:sp>
      <p:sp>
        <p:nvSpPr>
          <p:cNvPr id="18" name="Oval 17"/>
          <p:cNvSpPr/>
          <p:nvPr/>
        </p:nvSpPr>
        <p:spPr>
          <a:xfrm>
            <a:off x="3383280" y="1783080"/>
            <a:ext cx="182880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93008" y="1947672"/>
            <a:ext cx="1609344" cy="548640"/>
          </a:xfrm>
          <a:prstGeom prst="rect">
            <a:avLst/>
          </a:prstGeom>
          <a:noFill/>
        </p:spPr>
        <p:txBody>
          <a:bodyPr wrap="square" anchor="ctr">
            <a:spAutoFit/>
          </a:bodyPr>
          <a:lstStyle/>
          <a:p>
            <a:pPr algn="ctr">
              <a:spcAft>
                <a:spcPts val="400"/>
              </a:spcAft>
            </a:pPr>
            <a:r>
              <a:rPr sz="1000" b="1">
                <a:solidFill>
                  <a:srgbClr val="FFFFFF"/>
                </a:solidFill>
                <a:latin typeface="Arial"/>
              </a:rPr>
              <a:t>JOB DESIGN</a:t>
            </a:r>
          </a:p>
        </p:txBody>
      </p:sp>
      <p:sp>
        <p:nvSpPr>
          <p:cNvPr id="20" name="TextBox 19"/>
          <p:cNvSpPr txBox="1"/>
          <p:nvPr/>
        </p:nvSpPr>
        <p:spPr>
          <a:xfrm>
            <a:off x="3383280" y="2816351"/>
            <a:ext cx="1828800" cy="320040"/>
          </a:xfrm>
          <a:prstGeom prst="rect">
            <a:avLst/>
          </a:prstGeom>
          <a:noFill/>
        </p:spPr>
        <p:txBody>
          <a:bodyPr wrap="square" anchor="t">
            <a:spAutoFit/>
          </a:bodyPr>
          <a:lstStyle/>
          <a:p>
            <a:pPr algn="ctr">
              <a:spcAft>
                <a:spcPts val="400"/>
              </a:spcAft>
            </a:pPr>
            <a:r>
              <a:rPr sz="900" b="0">
                <a:solidFill>
                  <a:srgbClr val="5B6372"/>
                </a:solidFill>
                <a:latin typeface="Arial"/>
              </a:rPr>
              <a:t>demand · control</a:t>
            </a:r>
          </a:p>
        </p:txBody>
      </p:sp>
      <p:sp>
        <p:nvSpPr>
          <p:cNvPr id="21" name="Oval 20"/>
          <p:cNvSpPr/>
          <p:nvPr/>
        </p:nvSpPr>
        <p:spPr>
          <a:xfrm>
            <a:off x="7315200" y="1783080"/>
            <a:ext cx="1828800" cy="10058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24928" y="1947672"/>
            <a:ext cx="1609344" cy="548640"/>
          </a:xfrm>
          <a:prstGeom prst="rect">
            <a:avLst/>
          </a:prstGeom>
          <a:noFill/>
        </p:spPr>
        <p:txBody>
          <a:bodyPr wrap="square" anchor="ctr">
            <a:spAutoFit/>
          </a:bodyPr>
          <a:lstStyle/>
          <a:p>
            <a:pPr algn="ctr">
              <a:spcAft>
                <a:spcPts val="400"/>
              </a:spcAft>
            </a:pPr>
            <a:r>
              <a:rPr sz="1000" b="1">
                <a:solidFill>
                  <a:srgbClr val="FFFFFF"/>
                </a:solidFill>
                <a:latin typeface="Arial"/>
              </a:rPr>
              <a:t>MANAGERS</a:t>
            </a:r>
          </a:p>
        </p:txBody>
      </p:sp>
      <p:sp>
        <p:nvSpPr>
          <p:cNvPr id="23" name="TextBox 22"/>
          <p:cNvSpPr txBox="1"/>
          <p:nvPr/>
        </p:nvSpPr>
        <p:spPr>
          <a:xfrm>
            <a:off x="7315200" y="2816351"/>
            <a:ext cx="1828800" cy="320040"/>
          </a:xfrm>
          <a:prstGeom prst="rect">
            <a:avLst/>
          </a:prstGeom>
          <a:noFill/>
        </p:spPr>
        <p:txBody>
          <a:bodyPr wrap="square" anchor="t">
            <a:spAutoFit/>
          </a:bodyPr>
          <a:lstStyle/>
          <a:p>
            <a:pPr algn="ctr">
              <a:spcAft>
                <a:spcPts val="400"/>
              </a:spcAft>
            </a:pPr>
            <a:r>
              <a:rPr sz="900" b="0">
                <a:solidFill>
                  <a:srgbClr val="5B6372"/>
                </a:solidFill>
                <a:latin typeface="Arial"/>
              </a:rPr>
              <a:t>clarity · support</a:t>
            </a:r>
          </a:p>
        </p:txBody>
      </p:sp>
      <p:sp>
        <p:nvSpPr>
          <p:cNvPr id="24" name="Oval 23"/>
          <p:cNvSpPr/>
          <p:nvPr/>
        </p:nvSpPr>
        <p:spPr>
          <a:xfrm>
            <a:off x="9555480" y="1965960"/>
            <a:ext cx="1828800" cy="10058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65208" y="2130552"/>
            <a:ext cx="1609344" cy="548640"/>
          </a:xfrm>
          <a:prstGeom prst="rect">
            <a:avLst/>
          </a:prstGeom>
          <a:noFill/>
        </p:spPr>
        <p:txBody>
          <a:bodyPr wrap="square" anchor="ctr">
            <a:spAutoFit/>
          </a:bodyPr>
          <a:lstStyle/>
          <a:p>
            <a:pPr algn="ctr">
              <a:spcAft>
                <a:spcPts val="400"/>
              </a:spcAft>
            </a:pPr>
            <a:r>
              <a:rPr sz="1000" b="1">
                <a:solidFill>
                  <a:srgbClr val="FFFFFF"/>
                </a:solidFill>
                <a:latin typeface="Arial"/>
              </a:rPr>
              <a:t>ACCESS</a:t>
            </a:r>
          </a:p>
        </p:txBody>
      </p:sp>
      <p:sp>
        <p:nvSpPr>
          <p:cNvPr id="26" name="TextBox 25"/>
          <p:cNvSpPr txBox="1"/>
          <p:nvPr/>
        </p:nvSpPr>
        <p:spPr>
          <a:xfrm>
            <a:off x="9555480" y="2999231"/>
            <a:ext cx="1828800" cy="320040"/>
          </a:xfrm>
          <a:prstGeom prst="rect">
            <a:avLst/>
          </a:prstGeom>
          <a:noFill/>
        </p:spPr>
        <p:txBody>
          <a:bodyPr wrap="square" anchor="t">
            <a:spAutoFit/>
          </a:bodyPr>
          <a:lstStyle/>
          <a:p>
            <a:pPr algn="ctr">
              <a:spcAft>
                <a:spcPts val="400"/>
              </a:spcAft>
            </a:pPr>
            <a:r>
              <a:rPr sz="900" b="0">
                <a:solidFill>
                  <a:srgbClr val="5B6372"/>
                </a:solidFill>
                <a:latin typeface="Arial"/>
              </a:rPr>
              <a:t>choice · inclusion</a:t>
            </a:r>
          </a:p>
        </p:txBody>
      </p:sp>
      <p:sp>
        <p:nvSpPr>
          <p:cNvPr id="27" name="Oval 26"/>
          <p:cNvSpPr/>
          <p:nvPr/>
        </p:nvSpPr>
        <p:spPr>
          <a:xfrm>
            <a:off x="1828800" y="4709160"/>
            <a:ext cx="182880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38528" y="4873752"/>
            <a:ext cx="1609344" cy="548640"/>
          </a:xfrm>
          <a:prstGeom prst="rect">
            <a:avLst/>
          </a:prstGeom>
          <a:noFill/>
        </p:spPr>
        <p:txBody>
          <a:bodyPr wrap="square" anchor="ctr">
            <a:spAutoFit/>
          </a:bodyPr>
          <a:lstStyle/>
          <a:p>
            <a:pPr algn="ctr">
              <a:spcAft>
                <a:spcPts val="400"/>
              </a:spcAft>
            </a:pPr>
            <a:r>
              <a:rPr sz="1000" b="1">
                <a:solidFill>
                  <a:srgbClr val="FFFFFF"/>
                </a:solidFill>
                <a:latin typeface="Arial"/>
              </a:rPr>
              <a:t>SOCIAL RESOURCES</a:t>
            </a:r>
          </a:p>
        </p:txBody>
      </p:sp>
      <p:sp>
        <p:nvSpPr>
          <p:cNvPr id="29" name="TextBox 28"/>
          <p:cNvSpPr txBox="1"/>
          <p:nvPr/>
        </p:nvSpPr>
        <p:spPr>
          <a:xfrm>
            <a:off x="1828800" y="5742431"/>
            <a:ext cx="1828800" cy="320040"/>
          </a:xfrm>
          <a:prstGeom prst="rect">
            <a:avLst/>
          </a:prstGeom>
          <a:noFill/>
        </p:spPr>
        <p:txBody>
          <a:bodyPr wrap="square" anchor="t">
            <a:spAutoFit/>
          </a:bodyPr>
          <a:lstStyle/>
          <a:p>
            <a:pPr algn="ctr">
              <a:spcAft>
                <a:spcPts val="400"/>
              </a:spcAft>
            </a:pPr>
            <a:r>
              <a:rPr sz="900" b="0">
                <a:solidFill>
                  <a:srgbClr val="5B6372"/>
                </a:solidFill>
                <a:latin typeface="Arial"/>
              </a:rPr>
              <a:t>belonging · recovery</a:t>
            </a:r>
          </a:p>
        </p:txBody>
      </p:sp>
      <p:sp>
        <p:nvSpPr>
          <p:cNvPr id="30" name="Oval 29"/>
          <p:cNvSpPr/>
          <p:nvPr/>
        </p:nvSpPr>
        <p:spPr>
          <a:xfrm>
            <a:off x="8412480" y="4709160"/>
            <a:ext cx="1828800" cy="10058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22208" y="4873752"/>
            <a:ext cx="1609344" cy="548640"/>
          </a:xfrm>
          <a:prstGeom prst="rect">
            <a:avLst/>
          </a:prstGeom>
          <a:noFill/>
        </p:spPr>
        <p:txBody>
          <a:bodyPr wrap="square" anchor="ctr">
            <a:spAutoFit/>
          </a:bodyPr>
          <a:lstStyle/>
          <a:p>
            <a:pPr algn="ctr">
              <a:spcAft>
                <a:spcPts val="400"/>
              </a:spcAft>
            </a:pPr>
            <a:r>
              <a:rPr sz="1000" b="1">
                <a:solidFill>
                  <a:srgbClr val="FFFFFF"/>
                </a:solidFill>
                <a:latin typeface="Arial"/>
              </a:rPr>
              <a:t>PERSONAL CONTEXT</a:t>
            </a:r>
          </a:p>
        </p:txBody>
      </p:sp>
      <p:sp>
        <p:nvSpPr>
          <p:cNvPr id="32" name="TextBox 31"/>
          <p:cNvSpPr txBox="1"/>
          <p:nvPr/>
        </p:nvSpPr>
        <p:spPr>
          <a:xfrm>
            <a:off x="8412480" y="5742431"/>
            <a:ext cx="1828800" cy="320040"/>
          </a:xfrm>
          <a:prstGeom prst="rect">
            <a:avLst/>
          </a:prstGeom>
          <a:noFill/>
        </p:spPr>
        <p:txBody>
          <a:bodyPr wrap="square" anchor="t">
            <a:spAutoFit/>
          </a:bodyPr>
          <a:lstStyle/>
          <a:p>
            <a:pPr algn="ctr">
              <a:spcAft>
                <a:spcPts val="400"/>
              </a:spcAft>
            </a:pPr>
            <a:r>
              <a:rPr sz="900" b="0">
                <a:solidFill>
                  <a:srgbClr val="5B6372"/>
                </a:solidFill>
                <a:latin typeface="Arial"/>
              </a:rPr>
              <a:t>health · life stage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K2 · K3 · A1 · A2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Population health indicators and workplace decisions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Life expectancy estimates years lived; health-adjusted life expectancy also considers years lived in less than full health.</a:t>
            </a:r>
          </a:p>
          <a:p>
            <a:pPr>
              <a:spcAft>
                <a:spcPts val="1000"/>
              </a:spcAft>
            </a:pPr>
            <a:r>
              <a:rPr sz="1600" b="0">
                <a:solidFill>
                  <a:srgbClr val="161B26"/>
                </a:solidFill>
                <a:latin typeface="Arial"/>
              </a:rPr>
              <a:t>•  Population indicators can signal prevention priorities and health inequality.</a:t>
            </a:r>
          </a:p>
          <a:p>
            <a:pPr>
              <a:spcAft>
                <a:spcPts val="1000"/>
              </a:spcAft>
            </a:pPr>
            <a:r>
              <a:rPr sz="1600" b="0">
                <a:solidFill>
                  <a:srgbClr val="161B26"/>
                </a:solidFill>
                <a:latin typeface="Arial"/>
              </a:rPr>
              <a:t>•  They do not diagnose a workforce or measure one employer programme.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Use workforce needs, job risks, access and employee voice for workplace decisions.</a:t>
            </a:r>
          </a:p>
          <a:p>
            <a:pPr>
              <a:spcAft>
                <a:spcPts val="1000"/>
              </a:spcAft>
            </a:pPr>
            <a:r>
              <a:rPr sz="1600" b="0">
                <a:solidFill>
                  <a:srgbClr val="161B26"/>
                </a:solidFill>
                <a:latin typeface="Arial"/>
              </a:rPr>
              <a:t>•  Do not convert population averages into individual targets or employment judgements.</a:t>
            </a:r>
          </a:p>
          <a:p>
            <a:pPr>
              <a:spcAft>
                <a:spcPts val="1000"/>
              </a:spcAft>
            </a:pPr>
            <a:r>
              <a:rPr sz="1600" b="0">
                <a:solidFill>
                  <a:srgbClr val="161B26"/>
                </a:solidFill>
                <a:latin typeface="Arial"/>
              </a:rPr>
              <a:t>•  Connect prevention with safe work, timely support and public-health pathways.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K2 · K3 · A1 · A2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400" b="1">
                <a:solidFill>
                  <a:srgbClr val="161B26"/>
                </a:solidFill>
                <a:latin typeface="Arial"/>
              </a:rPr>
              <a:t>Singapore workplace requirements: the practical baseline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PDPA</a:t>
            </a:r>
          </a:p>
          <a:p>
            <a:pPr algn="l">
              <a:spcAft>
                <a:spcPts val="300"/>
              </a:spcAft>
            </a:pPr>
            <a:r>
              <a:rPr sz="1200" b="0">
                <a:solidFill>
                  <a:srgbClr val="5B6372"/>
                </a:solidFill>
                <a:latin typeface="Arial"/>
              </a:rPr>
              <a:t>Use a lawful purpose, notify appropriately, protect data, limit retention and enable applicable access/correction rights.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Workplace safety and health</a:t>
            </a:r>
          </a:p>
          <a:p>
            <a:pPr algn="l">
              <a:spcAft>
                <a:spcPts val="300"/>
              </a:spcAft>
            </a:pPr>
            <a:r>
              <a:rPr sz="1200" b="0">
                <a:solidFill>
                  <a:srgbClr val="5B6372"/>
                </a:solidFill>
                <a:latin typeface="Arial"/>
              </a:rPr>
              <a:t>Manage workplace risks, including work conditions that can harm physical or psychological health.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Employment practices</a:t>
            </a:r>
          </a:p>
          <a:p>
            <a:pPr algn="l">
              <a:spcAft>
                <a:spcPts val="300"/>
              </a:spcAft>
            </a:pPr>
            <a:r>
              <a:rPr sz="1200" b="0">
                <a:solidFill>
                  <a:srgbClr val="5B6372"/>
                </a:solidFill>
                <a:latin typeface="Arial"/>
              </a:rPr>
              <a:t>Make objective decisions, maintain confidentiality and provide fair, respectful support.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Future fairness regime</a:t>
            </a:r>
          </a:p>
          <a:p>
            <a:pPr algn="l">
              <a:spcAft>
                <a:spcPts val="300"/>
              </a:spcAft>
            </a:pPr>
            <a:r>
              <a:rPr sz="1200" b="0">
                <a:solidFill>
                  <a:srgbClr val="5B6372"/>
                </a:solidFill>
                <a:latin typeface="Arial"/>
              </a:rPr>
              <a:t>Prepare for Singapore's Workplace Fairness Act implementation; do not describe future duties as already in force.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K2 · K3 · A1 · A2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Singapore health and employment touchpoints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Employment Act sick leave</a:t>
            </a:r>
          </a:p>
          <a:p>
            <a:pPr algn="l">
              <a:spcAft>
                <a:spcPts val="300"/>
              </a:spcAft>
            </a:pPr>
            <a:r>
              <a:rPr sz="1200" b="0">
                <a:solidFill>
                  <a:srgbClr val="5B6372"/>
                </a:solidFill>
                <a:latin typeface="Arial"/>
              </a:rPr>
              <a:t>Eligible employees have statutory outpatient and hospitalisation leave subject to service, notification and certification rules.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Healthier SG</a:t>
            </a:r>
          </a:p>
          <a:p>
            <a:pPr algn="l">
              <a:spcAft>
                <a:spcPts val="300"/>
              </a:spcAft>
            </a:pPr>
            <a:r>
              <a:rPr sz="1200" b="0">
                <a:solidFill>
                  <a:srgbClr val="5B6372"/>
                </a:solidFill>
                <a:latin typeface="Arial"/>
              </a:rPr>
              <a:t>A national preventive-health initiative centred on family doctors, health plans and community support; employers can signpost without accessing clinical data.</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HPB workplace support</a:t>
            </a:r>
          </a:p>
          <a:p>
            <a:pPr algn="l">
              <a:spcAft>
                <a:spcPts val="300"/>
              </a:spcAft>
            </a:pPr>
            <a:r>
              <a:rPr sz="1200" b="0">
                <a:solidFill>
                  <a:srgbClr val="5B6372"/>
                </a:solidFill>
                <a:latin typeface="Arial"/>
              </a:rPr>
              <a:t>Current workplace programmes and tools can complement an organisation's needs-led plan; validate eligibility and terms before commitment.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Employment data boundary</a:t>
            </a:r>
          </a:p>
          <a:p>
            <a:pPr algn="l">
              <a:spcAft>
                <a:spcPts val="300"/>
              </a:spcAft>
            </a:pPr>
            <a:r>
              <a:rPr sz="1200" b="0">
                <a:solidFill>
                  <a:srgbClr val="5B6372"/>
                </a:solidFill>
                <a:latin typeface="Arial"/>
              </a:rPr>
              <a:t>Administer leave and benefits with necessary information; do not infer a blanket right to employee diagnoses or unrelated health data.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K2 · K3 · A1 · A2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Privacy-by-design for wellbeing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Define a necessary purpose</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Collect the minimum</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Separate identifiers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Restrict access</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Set retention and deletion</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Report only safe aggregates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K2 · K3 · A1 · A2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Consent and power imbalance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checkbox does not make every use fair or necessary.</a:t>
            </a:r>
          </a:p>
          <a:p>
            <a:pPr>
              <a:spcAft>
                <a:spcPts val="1000"/>
              </a:spcAft>
            </a:pPr>
            <a:r>
              <a:rPr sz="1600" b="0">
                <a:solidFill>
                  <a:srgbClr val="161B26"/>
                </a:solidFill>
                <a:latin typeface="Arial"/>
              </a:rPr>
              <a:t>•  Employees may feel pressure when managers sponsor participation.</a:t>
            </a:r>
          </a:p>
          <a:p>
            <a:pPr>
              <a:spcAft>
                <a:spcPts val="1000"/>
              </a:spcAft>
            </a:pPr>
            <a:r>
              <a:rPr sz="1600" b="0">
                <a:solidFill>
                  <a:srgbClr val="161B26"/>
                </a:solidFill>
                <a:latin typeface="Arial"/>
              </a:rPr>
              <a:t>•  Avoid linking sensitive health disclosure to performance decisions.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Offer a genuine choice and a useful non-participation path.</a:t>
            </a:r>
          </a:p>
          <a:p>
            <a:pPr>
              <a:spcAft>
                <a:spcPts val="1000"/>
              </a:spcAft>
            </a:pPr>
            <a:r>
              <a:rPr sz="1600" b="0">
                <a:solidFill>
                  <a:srgbClr val="161B26"/>
                </a:solidFill>
                <a:latin typeface="Arial"/>
              </a:rPr>
              <a:t>•  Explain purpose, recipients, retention and withdrawal clearly.</a:t>
            </a:r>
          </a:p>
          <a:p>
            <a:pPr>
              <a:spcAft>
                <a:spcPts val="1000"/>
              </a:spcAft>
            </a:pPr>
            <a:r>
              <a:rPr sz="1600" b="0">
                <a:solidFill>
                  <a:srgbClr val="161B26"/>
                </a:solidFill>
                <a:latin typeface="Arial"/>
              </a:rPr>
              <a:t>•  Use independent providers and aggregates where practical.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K2 · K3 · A1 · A2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Data risks in wearables and wellness platforms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Function creep</a:t>
            </a:r>
          </a:p>
          <a:p>
            <a:pPr algn="l">
              <a:spcAft>
                <a:spcPts val="300"/>
              </a:spcAft>
            </a:pPr>
            <a:r>
              <a:rPr sz="1200" b="0">
                <a:solidFill>
                  <a:srgbClr val="5B6372"/>
                </a:solidFill>
                <a:latin typeface="Arial"/>
              </a:rPr>
              <a:t>Step or sleep data becomes input for unrelated employment decisions.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Re-identification</a:t>
            </a:r>
          </a:p>
          <a:p>
            <a:pPr algn="l">
              <a:spcAft>
                <a:spcPts val="300"/>
              </a:spcAft>
            </a:pPr>
            <a:r>
              <a:rPr sz="1200" b="0">
                <a:solidFill>
                  <a:srgbClr val="5B6372"/>
                </a:solidFill>
                <a:latin typeface="Arial"/>
              </a:rPr>
              <a:t>Small teams or rare conditions reveal identities despite aggregation.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Vendor exposure</a:t>
            </a:r>
          </a:p>
          <a:p>
            <a:pPr algn="l">
              <a:spcAft>
                <a:spcPts val="300"/>
              </a:spcAft>
            </a:pPr>
            <a:r>
              <a:rPr sz="1200" b="0">
                <a:solidFill>
                  <a:srgbClr val="5B6372"/>
                </a:solidFill>
                <a:latin typeface="Arial"/>
              </a:rPr>
              <a:t>Cloud, subcontractor and cross-border processing expands the risk surface.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Exclusion</a:t>
            </a:r>
          </a:p>
          <a:p>
            <a:pPr algn="l">
              <a:spcAft>
                <a:spcPts val="300"/>
              </a:spcAft>
            </a:pPr>
            <a:r>
              <a:rPr sz="1200" b="0">
                <a:solidFill>
                  <a:srgbClr val="5B6372"/>
                </a:solidFill>
                <a:latin typeface="Arial"/>
              </a:rPr>
              <a:t>Device, language, disability or algorithm design disadvantages some groups.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K2 · K3 · A1 · A2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Factors that shape employee health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Work design</a:t>
            </a:r>
          </a:p>
          <a:p>
            <a:pPr algn="l">
              <a:spcAft>
                <a:spcPts val="300"/>
              </a:spcAft>
            </a:pPr>
            <a:r>
              <a:rPr sz="1200" b="0">
                <a:solidFill>
                  <a:srgbClr val="5B6372"/>
                </a:solidFill>
                <a:latin typeface="Arial"/>
              </a:rPr>
              <a:t>Demand, control, staffing, schedules, role clarity and workload variability.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Relationships</a:t>
            </a:r>
          </a:p>
          <a:p>
            <a:pPr algn="l">
              <a:spcAft>
                <a:spcPts val="300"/>
              </a:spcAft>
            </a:pPr>
            <a:r>
              <a:rPr sz="1200" b="0">
                <a:solidFill>
                  <a:srgbClr val="5B6372"/>
                </a:solidFill>
                <a:latin typeface="Arial"/>
              </a:rPr>
              <a:t>Manager behaviour, team norms, bullying, support and psychological safety.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Personal context</a:t>
            </a:r>
          </a:p>
          <a:p>
            <a:pPr algn="l">
              <a:spcAft>
                <a:spcPts val="300"/>
              </a:spcAft>
            </a:pPr>
            <a:r>
              <a:rPr sz="1200" b="0">
                <a:solidFill>
                  <a:srgbClr val="5B6372"/>
                </a:solidFill>
                <a:latin typeface="Arial"/>
              </a:rPr>
              <a:t>Health, caring duties, finances, life stage and access to services.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Environment</a:t>
            </a:r>
          </a:p>
          <a:p>
            <a:pPr algn="l">
              <a:spcAft>
                <a:spcPts val="300"/>
              </a:spcAft>
            </a:pPr>
            <a:r>
              <a:rPr sz="1200" b="0">
                <a:solidFill>
                  <a:srgbClr val="5B6372"/>
                </a:solidFill>
                <a:latin typeface="Arial"/>
              </a:rPr>
              <a:t>Ergonomics, noise, heat, travel, food options and digital load.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WORK DESIGN</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Job Demands–Resources: redesign the balance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0" y="3657600"/>
            <a:ext cx="1188720" cy="11887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0" y="3383280"/>
            <a:ext cx="8503920" cy="146304"/>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60" y="4005072"/>
            <a:ext cx="1371600" cy="274320"/>
          </a:xfrm>
          <a:prstGeom prst="rect">
            <a:avLst/>
          </a:prstGeom>
          <a:noFill/>
        </p:spPr>
        <p:txBody>
          <a:bodyPr wrap="square" anchor="t">
            <a:spAutoFit/>
          </a:bodyPr>
          <a:lstStyle/>
          <a:p>
            <a:pPr algn="ctr">
              <a:spcAft>
                <a:spcPts val="400"/>
              </a:spcAft>
            </a:pPr>
            <a:r>
              <a:rPr sz="900" b="1">
                <a:solidFill>
                  <a:srgbClr val="FFFFFF"/>
                </a:solidFill>
                <a:latin typeface="Arial"/>
              </a:rPr>
              <a:t>RECOVERY</a:t>
            </a:r>
          </a:p>
        </p:txBody>
      </p:sp>
      <p:sp>
        <p:nvSpPr>
          <p:cNvPr id="10" name="Rectangle 9"/>
          <p:cNvSpPr/>
          <p:nvPr/>
        </p:nvSpPr>
        <p:spPr>
          <a:xfrm>
            <a:off x="1143000" y="1874519"/>
            <a:ext cx="3749039" cy="123444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2084831"/>
            <a:ext cx="3200400" cy="822960"/>
          </a:xfrm>
          <a:prstGeom prst="rect">
            <a:avLst/>
          </a:prstGeom>
          <a:noFill/>
        </p:spPr>
        <p:txBody>
          <a:bodyPr wrap="square" anchor="t">
            <a:spAutoFit/>
          </a:bodyPr>
          <a:lstStyle/>
          <a:p>
            <a:pPr algn="ctr">
              <a:spcAft>
                <a:spcPts val="400"/>
              </a:spcAft>
            </a:pPr>
            <a:r>
              <a:rPr sz="2000" b="1">
                <a:solidFill>
                  <a:srgbClr val="B91C1C"/>
                </a:solidFill>
                <a:latin typeface="Arial"/>
              </a:rPr>
              <a:t>DEMANDS</a:t>
            </a:r>
          </a:p>
          <a:p>
            <a:pPr algn="ctr">
              <a:spcAft>
                <a:spcPts val="400"/>
              </a:spcAft>
            </a:pPr>
            <a:r>
              <a:rPr sz="1200" b="0">
                <a:solidFill>
                  <a:srgbClr val="5B6372"/>
                </a:solidFill>
                <a:latin typeface="Arial"/>
              </a:rPr>
              <a:t>workload · emotion · uncertainty · time</a:t>
            </a:r>
          </a:p>
        </p:txBody>
      </p:sp>
      <p:sp>
        <p:nvSpPr>
          <p:cNvPr id="12" name="Rectangle 11"/>
          <p:cNvSpPr/>
          <p:nvPr/>
        </p:nvSpPr>
        <p:spPr>
          <a:xfrm>
            <a:off x="7269480" y="1874519"/>
            <a:ext cx="3749039" cy="1234440"/>
          </a:xfrm>
          <a:prstGeom prst="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43800" y="2084831"/>
            <a:ext cx="3200400" cy="822960"/>
          </a:xfrm>
          <a:prstGeom prst="rect">
            <a:avLst/>
          </a:prstGeom>
          <a:noFill/>
        </p:spPr>
        <p:txBody>
          <a:bodyPr wrap="square" anchor="t">
            <a:spAutoFit/>
          </a:bodyPr>
          <a:lstStyle/>
          <a:p>
            <a:pPr algn="ctr">
              <a:spcAft>
                <a:spcPts val="400"/>
              </a:spcAft>
            </a:pPr>
            <a:r>
              <a:rPr sz="2000" b="1">
                <a:solidFill>
                  <a:srgbClr val="10B981"/>
                </a:solidFill>
                <a:latin typeface="Arial"/>
              </a:rPr>
              <a:t>RESOURCES</a:t>
            </a:r>
          </a:p>
          <a:p>
            <a:pPr algn="ctr">
              <a:spcAft>
                <a:spcPts val="400"/>
              </a:spcAft>
            </a:pPr>
            <a:r>
              <a:rPr sz="1200" b="0">
                <a:solidFill>
                  <a:srgbClr val="5B6372"/>
                </a:solidFill>
                <a:latin typeface="Arial"/>
              </a:rPr>
              <a:t>control · clarity · support · recovery</a:t>
            </a:r>
          </a:p>
        </p:txBody>
      </p:sp>
      <p:sp>
        <p:nvSpPr>
          <p:cNvPr id="14" name="Rectangle 13"/>
          <p:cNvSpPr/>
          <p:nvPr/>
        </p:nvSpPr>
        <p:spPr>
          <a:xfrm>
            <a:off x="1097280" y="4892040"/>
            <a:ext cx="20574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39" y="5010912"/>
            <a:ext cx="1783080" cy="603504"/>
          </a:xfrm>
          <a:prstGeom prst="rect">
            <a:avLst/>
          </a:prstGeom>
          <a:noFill/>
        </p:spPr>
        <p:txBody>
          <a:bodyPr wrap="square" anchor="t">
            <a:spAutoFit/>
          </a:bodyPr>
          <a:lstStyle/>
          <a:p>
            <a:pPr algn="ctr">
              <a:spcAft>
                <a:spcPts val="400"/>
              </a:spcAft>
            </a:pPr>
            <a:r>
              <a:rPr sz="1200" b="1">
                <a:solidFill>
                  <a:srgbClr val="1F6FEB"/>
                </a:solidFill>
                <a:latin typeface="Arial"/>
              </a:rPr>
              <a:t>REMOVE</a:t>
            </a:r>
          </a:p>
          <a:p>
            <a:pPr algn="ctr">
              <a:spcAft>
                <a:spcPts val="400"/>
              </a:spcAft>
            </a:pPr>
            <a:r>
              <a:rPr sz="1000" b="0">
                <a:solidFill>
                  <a:srgbClr val="5B6372"/>
                </a:solidFill>
                <a:latin typeface="Arial"/>
              </a:rPr>
              <a:t>preventable hindrance</a:t>
            </a:r>
          </a:p>
        </p:txBody>
      </p:sp>
      <p:sp>
        <p:nvSpPr>
          <p:cNvPr id="16" name="Rectangle 15"/>
          <p:cNvSpPr/>
          <p:nvPr/>
        </p:nvSpPr>
        <p:spPr>
          <a:xfrm>
            <a:off x="3794760" y="4892040"/>
            <a:ext cx="20574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1920" y="5010912"/>
            <a:ext cx="1783080" cy="603504"/>
          </a:xfrm>
          <a:prstGeom prst="rect">
            <a:avLst/>
          </a:prstGeom>
          <a:noFill/>
        </p:spPr>
        <p:txBody>
          <a:bodyPr wrap="square" anchor="t">
            <a:spAutoFit/>
          </a:bodyPr>
          <a:lstStyle/>
          <a:p>
            <a:pPr algn="ctr">
              <a:spcAft>
                <a:spcPts val="400"/>
              </a:spcAft>
            </a:pPr>
            <a:r>
              <a:rPr sz="1200" b="1">
                <a:solidFill>
                  <a:srgbClr val="10B981"/>
                </a:solidFill>
                <a:latin typeface="Arial"/>
              </a:rPr>
              <a:t>RESOURCE</a:t>
            </a:r>
          </a:p>
          <a:p>
            <a:pPr algn="ctr">
              <a:spcAft>
                <a:spcPts val="400"/>
              </a:spcAft>
            </a:pPr>
            <a:r>
              <a:rPr sz="1000" b="0">
                <a:solidFill>
                  <a:srgbClr val="5B6372"/>
                </a:solidFill>
                <a:latin typeface="Arial"/>
              </a:rPr>
              <a:t>necessary challenge</a:t>
            </a:r>
          </a:p>
        </p:txBody>
      </p:sp>
      <p:sp>
        <p:nvSpPr>
          <p:cNvPr id="18" name="Rectangle 17"/>
          <p:cNvSpPr/>
          <p:nvPr/>
        </p:nvSpPr>
        <p:spPr>
          <a:xfrm>
            <a:off x="6492240" y="4892040"/>
            <a:ext cx="20574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5010912"/>
            <a:ext cx="1783080" cy="603504"/>
          </a:xfrm>
          <a:prstGeom prst="rect">
            <a:avLst/>
          </a:prstGeom>
          <a:noFill/>
        </p:spPr>
        <p:txBody>
          <a:bodyPr wrap="square" anchor="t">
            <a:spAutoFit/>
          </a:bodyPr>
          <a:lstStyle/>
          <a:p>
            <a:pPr algn="ctr">
              <a:spcAft>
                <a:spcPts val="400"/>
              </a:spcAft>
            </a:pPr>
            <a:r>
              <a:rPr sz="1200" b="1">
                <a:solidFill>
                  <a:srgbClr val="7C3AED"/>
                </a:solidFill>
                <a:latin typeface="Arial"/>
              </a:rPr>
              <a:t>RECOVER</a:t>
            </a:r>
          </a:p>
          <a:p>
            <a:pPr algn="ctr">
              <a:spcAft>
                <a:spcPts val="400"/>
              </a:spcAft>
            </a:pPr>
            <a:r>
              <a:rPr sz="1000" b="0">
                <a:solidFill>
                  <a:srgbClr val="5B6372"/>
                </a:solidFill>
                <a:latin typeface="Arial"/>
              </a:rPr>
              <a:t>protected time</a:t>
            </a:r>
          </a:p>
        </p:txBody>
      </p:sp>
      <p:sp>
        <p:nvSpPr>
          <p:cNvPr id="20" name="Rectangle 19"/>
          <p:cNvSpPr/>
          <p:nvPr/>
        </p:nvSpPr>
        <p:spPr>
          <a:xfrm>
            <a:off x="9189720" y="4892040"/>
            <a:ext cx="20574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0" y="5010912"/>
            <a:ext cx="1783080" cy="603504"/>
          </a:xfrm>
          <a:prstGeom prst="rect">
            <a:avLst/>
          </a:prstGeom>
          <a:noFill/>
        </p:spPr>
        <p:txBody>
          <a:bodyPr wrap="square" anchor="t">
            <a:spAutoFit/>
          </a:bodyPr>
          <a:lstStyle/>
          <a:p>
            <a:pPr algn="ctr">
              <a:spcAft>
                <a:spcPts val="400"/>
              </a:spcAft>
            </a:pPr>
            <a:r>
              <a:rPr sz="1200" b="1">
                <a:solidFill>
                  <a:srgbClr val="F59E0B"/>
                </a:solidFill>
                <a:latin typeface="Arial"/>
              </a:rPr>
              <a:t>REVIEW</a:t>
            </a:r>
          </a:p>
          <a:p>
            <a:pPr algn="ctr">
              <a:spcAft>
                <a:spcPts val="400"/>
              </a:spcAft>
            </a:pPr>
            <a:r>
              <a:rPr sz="1000" b="0">
                <a:solidFill>
                  <a:srgbClr val="5B6372"/>
                </a:solidFill>
                <a:latin typeface="Arial"/>
              </a:rPr>
              <a:t>employee + service evidence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K2 · K3 · A1 · A2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Mental-health continuum: respond without diagnosing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Thriving</a:t>
            </a:r>
          </a:p>
          <a:p>
            <a:pPr algn="l">
              <a:spcAft>
                <a:spcPts val="300"/>
              </a:spcAft>
            </a:pPr>
            <a:r>
              <a:rPr sz="1200" b="0">
                <a:solidFill>
                  <a:srgbClr val="5B6372"/>
                </a:solidFill>
                <a:latin typeface="Arial"/>
              </a:rPr>
              <a:t>Sustainable energy, connection and effective functioning.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Struggling</a:t>
            </a:r>
          </a:p>
          <a:p>
            <a:pPr algn="l">
              <a:spcAft>
                <a:spcPts val="300"/>
              </a:spcAft>
            </a:pPr>
            <a:r>
              <a:rPr sz="1200" b="0">
                <a:solidFill>
                  <a:srgbClr val="5B6372"/>
                </a:solidFill>
                <a:latin typeface="Arial"/>
              </a:rPr>
              <a:t>Observable changes in work, mood, energy or connection may need a supportive check-in.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Unwell</a:t>
            </a:r>
          </a:p>
          <a:p>
            <a:pPr algn="l">
              <a:spcAft>
                <a:spcPts val="300"/>
              </a:spcAft>
            </a:pPr>
            <a:r>
              <a:rPr sz="1200" b="0">
                <a:solidFill>
                  <a:srgbClr val="5B6372"/>
                </a:solidFill>
                <a:latin typeface="Arial"/>
              </a:rPr>
              <a:t>Persistent impairment may need professional support and workplace adjustment.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Crisis</a:t>
            </a:r>
          </a:p>
          <a:p>
            <a:pPr algn="l">
              <a:spcAft>
                <a:spcPts val="300"/>
              </a:spcAft>
            </a:pPr>
            <a:r>
              <a:rPr sz="1200" b="0">
                <a:solidFill>
                  <a:srgbClr val="5B6372"/>
                </a:solidFill>
                <a:latin typeface="Arial"/>
              </a:rPr>
              <a:t>Immediate safety concerns require the organisation's emergency and escalation protocol.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K2 · K3 · A1 · A2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Supportive observation versus diagnosis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Describe observable changes: missed deadlines, withdrawal or unusual fatigue.</a:t>
            </a:r>
          </a:p>
          <a:p>
            <a:pPr>
              <a:spcAft>
                <a:spcPts val="1000"/>
              </a:spcAft>
            </a:pPr>
            <a:r>
              <a:rPr sz="1600" b="0">
                <a:solidFill>
                  <a:srgbClr val="161B26"/>
                </a:solidFill>
                <a:latin typeface="Arial"/>
              </a:rPr>
              <a:t>•  Ask privately, listen, clarify work needs and signpost support.</a:t>
            </a:r>
          </a:p>
          <a:p>
            <a:pPr>
              <a:spcAft>
                <a:spcPts val="1000"/>
              </a:spcAft>
            </a:pPr>
            <a:r>
              <a:rPr sz="1600" b="0">
                <a:solidFill>
                  <a:srgbClr val="161B26"/>
                </a:solidFill>
                <a:latin typeface="Arial"/>
              </a:rPr>
              <a:t>•  Escalate immediate risk using the approved protocol.</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Do not label anxiety, depression, bipolar disorder, OCD, psychosis, eating disorders or substance misuse.</a:t>
            </a:r>
          </a:p>
          <a:p>
            <a:pPr>
              <a:spcAft>
                <a:spcPts val="1000"/>
              </a:spcAft>
            </a:pPr>
            <a:r>
              <a:rPr sz="1600" b="0">
                <a:solidFill>
                  <a:srgbClr val="161B26"/>
                </a:solidFill>
                <a:latin typeface="Arial"/>
              </a:rPr>
              <a:t>•  Do not promise absolute secrecy when safety action may be necessary.</a:t>
            </a:r>
          </a:p>
          <a:p>
            <a:pPr>
              <a:spcAft>
                <a:spcPts val="1000"/>
              </a:spcAft>
            </a:pPr>
            <a:r>
              <a:rPr sz="1600" b="0">
                <a:solidFill>
                  <a:srgbClr val="161B26"/>
                </a:solidFill>
                <a:latin typeface="Arial"/>
              </a:rPr>
              <a:t>•  Do not collect clinical details that the work decision does not require.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K2 · K3 · A1 · A2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Needs-assessment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Workforce voice</a:t>
            </a:r>
          </a:p>
          <a:p>
            <a:pPr algn="l">
              <a:spcAft>
                <a:spcPts val="300"/>
              </a:spcAft>
            </a:pPr>
            <a:r>
              <a:rPr sz="1200" b="0">
                <a:solidFill>
                  <a:srgbClr val="5B6372"/>
                </a:solidFill>
                <a:latin typeface="Arial"/>
              </a:rPr>
              <a:t>Anonymous survey, focus groups, interviews and employee-resource groups.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Operational data</a:t>
            </a:r>
          </a:p>
          <a:p>
            <a:pPr algn="l">
              <a:spcAft>
                <a:spcPts val="300"/>
              </a:spcAft>
            </a:pPr>
            <a:r>
              <a:rPr sz="1200" b="0">
                <a:solidFill>
                  <a:srgbClr val="5B6372"/>
                </a:solidFill>
                <a:latin typeface="Arial"/>
              </a:rPr>
              <a:t>Absence, overtime, turnover, incidents, workload and schedule patterns.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Service data</a:t>
            </a:r>
          </a:p>
          <a:p>
            <a:pPr algn="l">
              <a:spcAft>
                <a:spcPts val="300"/>
              </a:spcAft>
            </a:pPr>
            <a:r>
              <a:rPr sz="1200" b="0">
                <a:solidFill>
                  <a:srgbClr val="5B6372"/>
                </a:solidFill>
                <a:latin typeface="Arial"/>
              </a:rPr>
              <a:t>Aggregated EAP or benefit utilisation and access barriers.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Risk evidence</a:t>
            </a:r>
          </a:p>
          <a:p>
            <a:pPr algn="l">
              <a:spcAft>
                <a:spcPts val="300"/>
              </a:spcAft>
            </a:pPr>
            <a:r>
              <a:rPr sz="1200" b="0">
                <a:solidFill>
                  <a:srgbClr val="5B6372"/>
                </a:solidFill>
                <a:latin typeface="Arial"/>
              </a:rPr>
              <a:t>WSH assessments, ergonomic observations and job-demand reviews.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K2 · K3 · A1 · A2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Responsible segmentation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Choose a decision need</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Use relevant groups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Set minimum cell sizes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Compare access and outcomes</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Avoid stereotyping</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Co-design targeted support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K2 · K3 · A1 · A2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Workplace wellbeing trends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Whole-person design</a:t>
            </a:r>
          </a:p>
          <a:p>
            <a:pPr algn="l">
              <a:spcAft>
                <a:spcPts val="300"/>
              </a:spcAft>
            </a:pPr>
            <a:r>
              <a:rPr sz="1200" b="0">
                <a:solidFill>
                  <a:srgbClr val="5B6372"/>
                </a:solidFill>
                <a:latin typeface="Arial"/>
              </a:rPr>
              <a:t>Connect physical, mental, social, financial and career support.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Hybrid access</a:t>
            </a:r>
          </a:p>
          <a:p>
            <a:pPr algn="l">
              <a:spcAft>
                <a:spcPts val="300"/>
              </a:spcAft>
            </a:pPr>
            <a:r>
              <a:rPr sz="1200" b="0">
                <a:solidFill>
                  <a:srgbClr val="5B6372"/>
                </a:solidFill>
                <a:latin typeface="Arial"/>
              </a:rPr>
              <a:t>Blend onsite, remote, synchronous and self-directed pathways.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Personalisation</a:t>
            </a:r>
          </a:p>
          <a:p>
            <a:pPr algn="l">
              <a:spcAft>
                <a:spcPts val="300"/>
              </a:spcAft>
            </a:pPr>
            <a:r>
              <a:rPr sz="1200" b="0">
                <a:solidFill>
                  <a:srgbClr val="5B6372"/>
                </a:solidFill>
                <a:latin typeface="Arial"/>
              </a:rPr>
              <a:t>Offer choice while protecting privacy and accessibility.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System accountability</a:t>
            </a:r>
          </a:p>
          <a:p>
            <a:pPr algn="l">
              <a:spcAft>
                <a:spcPts val="300"/>
              </a:spcAft>
            </a:pPr>
            <a:r>
              <a:rPr sz="1200" b="0">
                <a:solidFill>
                  <a:srgbClr val="5B6372"/>
                </a:solidFill>
                <a:latin typeface="Arial"/>
              </a:rPr>
              <a:t>Measure manager and job-design conditions, not only individual habits.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K2 · K3 · A1 · A2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Technology options and trade-offs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Wearables</a:t>
            </a:r>
          </a:p>
          <a:p>
            <a:pPr algn="l">
              <a:spcAft>
                <a:spcPts val="300"/>
              </a:spcAft>
            </a:pPr>
            <a:r>
              <a:rPr sz="1200" b="0">
                <a:solidFill>
                  <a:srgbClr val="5B6372"/>
                </a:solidFill>
                <a:latin typeface="Arial"/>
              </a:rPr>
              <a:t>Continuous feedback can motivate, but creates surveillance and accuracy risks.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Telehealth</a:t>
            </a:r>
          </a:p>
          <a:p>
            <a:pPr algn="l">
              <a:spcAft>
                <a:spcPts val="300"/>
              </a:spcAft>
            </a:pPr>
            <a:r>
              <a:rPr sz="1200" b="0">
                <a:solidFill>
                  <a:srgbClr val="5B6372"/>
                </a:solidFill>
                <a:latin typeface="Arial"/>
              </a:rPr>
              <a:t>Improves reach, but depends on clinical quality, privacy and digital access.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Apps and gamification</a:t>
            </a:r>
          </a:p>
          <a:p>
            <a:pPr algn="l">
              <a:spcAft>
                <a:spcPts val="300"/>
              </a:spcAft>
            </a:pPr>
            <a:r>
              <a:rPr sz="1200" b="0">
                <a:solidFill>
                  <a:srgbClr val="5B6372"/>
                </a:solidFill>
                <a:latin typeface="Arial"/>
              </a:rPr>
              <a:t>Can support habits; novelty, competition and accessibility may limit benefit.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AI coaching</a:t>
            </a:r>
          </a:p>
          <a:p>
            <a:pPr algn="l">
              <a:spcAft>
                <a:spcPts val="300"/>
              </a:spcAft>
            </a:pPr>
            <a:r>
              <a:rPr sz="1200" b="0">
                <a:solidFill>
                  <a:srgbClr val="5B6372"/>
                </a:solidFill>
                <a:latin typeface="Arial"/>
              </a:rPr>
              <a:t>Scales prompts and navigation; requires safety boundaries, bias checks and human escalation.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K2 · K3 · A1 · A2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Evidence-to-decision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Frame the problem</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Search credible sources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Appraise relevance and quality</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Compare with workforce evidence</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Pilot with safeguards</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Decide, monitor and adapt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01 · K1 · K2 · K3 · A1 · A2</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fashionable tool is not a wellbeing outcome.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Choose technology only when a defined need, safeguard and measure justify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REAL-USE-CASE DECISIONS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400" b="1">
                <a:solidFill>
                  <a:srgbClr val="161B26"/>
                </a:solidFill>
                <a:latin typeface="Arial"/>
              </a:rPr>
              <a:t>Applied Activities — Workplace Health, Wellness and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Activity 1</a:t>
            </a:r>
          </a:p>
          <a:p>
            <a:pPr algn="l">
              <a:spcAft>
                <a:spcPts val="300"/>
              </a:spcAft>
            </a:pPr>
            <a:r>
              <a:rPr sz="1000" b="0">
                <a:solidFill>
                  <a:srgbClr val="5B6372"/>
                </a:solidFill>
                <a:latin typeface="Arial"/>
              </a:rPr>
              <a:t>Privacy-Safe Wearable Wellness Pilot · K1 · K3 · A1 · A2 · LO1</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Activity 2</a:t>
            </a:r>
          </a:p>
          <a:p>
            <a:pPr algn="l">
              <a:spcAft>
                <a:spcPts val="300"/>
              </a:spcAft>
            </a:pPr>
            <a:r>
              <a:rPr sz="1000" b="0">
                <a:solidFill>
                  <a:srgbClr val="5B6372"/>
                </a:solidFill>
                <a:latin typeface="Arial"/>
              </a:rPr>
              <a:t>Segmented Workforce Wellbeing Needs Assessment · K2 · A3 · LO2</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Activity 3</a:t>
            </a:r>
          </a:p>
          <a:p>
            <a:pPr algn="l">
              <a:spcAft>
                <a:spcPts val="300"/>
              </a:spcAft>
            </a:pPr>
            <a:r>
              <a:rPr sz="1000" b="0">
                <a:solidFill>
                  <a:srgbClr val="5B6372"/>
                </a:solidFill>
                <a:latin typeface="Arial"/>
              </a:rPr>
              <a:t>Evidence and Technology Selection Board · K3 · A1 · A2 · LO1</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Evidence boundary</a:t>
            </a:r>
          </a:p>
          <a:p>
            <a:pPr algn="l">
              <a:spcAft>
                <a:spcPts val="300"/>
              </a:spcAft>
            </a:pPr>
            <a:r>
              <a:rPr sz="1000" b="0">
                <a:solidFill>
                  <a:srgbClr val="5B6372"/>
                </a:solidFill>
                <a:latin typeface="Arial"/>
              </a:rPr>
              <a:t>Published evidence and requirements are separated from fictional workplace inputs.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01 · K1 · K3 · A1 · A2 · LO1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Privacy-Safe Wearable Wellness Pilot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Assess whether a voluntary wearable pilot can address a defined employee need without creating surveillance, exclusion or unsafe data use.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Data-flow map, privacy-and-equity risk register and conditional pilot decision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PDPC obligations · wearable vendor fact sheet · employee personas · pilot decision canvas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Singapore's PDPA sets obligations including accountability, notification, consent, purpose limitation, accuracy, protection, retention limitation, transfer limitation and applicable access/correction rights. These obligations shape the design of employer-sponsored wellbeing data flows.</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MarinaLink Logistics, all workforce figures and vendor terms are fictional training inputs.</a:t>
            </a:r>
          </a:p>
          <a:p>
            <a:pPr>
              <a:spcAft>
                <a:spcPts val="1000"/>
              </a:spcAft>
            </a:pPr>
            <a:r>
              <a:rPr sz="1600" b="0">
                <a:solidFill>
                  <a:srgbClr val="161B26"/>
                </a:solidFill>
                <a:latin typeface="Arial"/>
              </a:rPr>
              <a:t>•  The proposed device records steps, heart rate, sleep estimates, location during challenges and a user identifier.</a:t>
            </a:r>
          </a:p>
          <a:p>
            <a:pPr>
              <a:spcAft>
                <a:spcPts val="1000"/>
              </a:spcAft>
            </a:pPr>
            <a:r>
              <a:rPr sz="1600" b="0">
                <a:solidFill>
                  <a:srgbClr val="161B26"/>
                </a:solidFill>
                <a:latin typeface="Arial"/>
              </a:rPr>
              <a:t>•  Participation is advertised as voluntary, but line managers will distribute devices and see individual dashboards under the draft plan.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1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decision purpose is necessary and proportionate, and which proposed fields are excessive?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Where could power imbalance undermine voluntariness or trust?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privacy, accessibility and fairness controls are pilot gates?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Should the pilot proceed, proceed conditionally or stop—and what evidence supports the decision?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Privacy-Safe Wearable Wellness Pilot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submission defines a necessary purpose, minimises fields, removes manager access to individual data, offers a genuine alternative, specifies reporting thresholds and assigns every residual risk to an owner and gate.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01 · K2 · A3 · LO2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Segmented Workforce Wellbeing Needs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Combine workforce voice and operational signals to prioritise needs without diagnosing employees or exposing small groups.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Segmented needs matrix, evidence-quality log and priority statement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Gallup wellbeing model · fictional pulse data · focus-group extracts · operational indicators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2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Gallup frames wellbeing through career, social, financial, physical and community elements and links the employee experience to outcomes such as engagement, absence and retention. The framework is a lens for inquiry, not a diagnostic instrument.</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All survey, absence, overtime, turnover and focus-group data in the activity pack are fictional.</a:t>
            </a:r>
          </a:p>
          <a:p>
            <a:pPr>
              <a:spcAft>
                <a:spcPts val="1000"/>
              </a:spcAft>
            </a:pPr>
            <a:r>
              <a:rPr sz="1600" b="0">
                <a:solidFill>
                  <a:srgbClr val="161B26"/>
                </a:solidFill>
                <a:latin typeface="Arial"/>
              </a:rPr>
              <a:t>•  Groups with fewer than ten responses must not be reported separately.</a:t>
            </a:r>
          </a:p>
          <a:p>
            <a:pPr>
              <a:spcAft>
                <a:spcPts val="1000"/>
              </a:spcAft>
            </a:pPr>
            <a:r>
              <a:rPr sz="1600" b="0">
                <a:solidFill>
                  <a:srgbClr val="161B26"/>
                </a:solidFill>
                <a:latin typeface="Arial"/>
              </a:rPr>
              <a:t>•  Operational indicators have multiple possible causes and cannot diagnose health conditions.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2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can each evidence source support, and what can it not support?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needs are shared and which differ by workforce group?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Where could response bias, small numbers or stereotyping distort the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two priorities should management address first, and why?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Segmented Workforce Wellbeing Needs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priority uses at least two evidence signals, small groups are suppressed, uncertainty is explicit, no condition is diagnosed, and recommended action addresses a workplace factor plus an access need.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60 minutes</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01 · K3 · A1 · A2 · LO1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Evidence and Technology Selection 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Compare wearables, telehealth, wellbeing apps, gamification and AI coaching against evidence, need, safety, inclusion and implementation fit.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Evidence appraisal table, weighted option matrix and pilot hypothesis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NCBI programme evidence · McKinsey research · technology briefs · appraisal rubric</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3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NCBI review describes employee wellness programmes as employer-sponsored efforts to support healthy behaviour and reduce health risk, and stresses leadership, alignment, scope, accessibility, partnerships and communication. It also notes participation barriers such as awareness, time, manager support, perceived benefit, access and privacy.</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Vendor claims, prices and implementation times are fictional and have not been independently validated.</a:t>
            </a:r>
          </a:p>
          <a:p>
            <a:pPr>
              <a:spcAft>
                <a:spcPts val="1000"/>
              </a:spcAft>
            </a:pPr>
            <a:r>
              <a:rPr sz="1600" b="0">
                <a:solidFill>
                  <a:srgbClr val="161B26"/>
                </a:solidFill>
                <a:latin typeface="Arial"/>
              </a:rPr>
              <a:t>•  The workforce need is access to timely support and recovery, not increased monitoring.</a:t>
            </a:r>
          </a:p>
          <a:p>
            <a:pPr>
              <a:spcAft>
                <a:spcPts val="1000"/>
              </a:spcAft>
            </a:pPr>
            <a:r>
              <a:rPr sz="1600" b="0">
                <a:solidFill>
                  <a:srgbClr val="161B26"/>
                </a:solidFill>
                <a:latin typeface="Arial"/>
              </a:rPr>
              <a:t>•  Mobile access and English literacy vary across groups.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3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source claims are credible, relevant and transferable to this workforce?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employee need does each option address—and what new risk does it create?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criteria and weights should govern the choice?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pilot result would justify scale, adaptation or termination?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Evidence and Technology Selection 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recommendation distinguishes research from vendor claims, maps each option to a defined need, includes privacy and accessibility gates, tests weight sensitivity and states scale/adapt/stop criteria.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UNIT RECAP</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Recap — Workplace Health, Wellness and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Privacy-Safe Wearable Wellness Pilot</a:t>
            </a:r>
          </a:p>
          <a:p>
            <a:pPr algn="l">
              <a:spcAft>
                <a:spcPts val="300"/>
              </a:spcAft>
            </a:pPr>
            <a:r>
              <a:rPr sz="1100" b="0">
                <a:solidFill>
                  <a:srgbClr val="5B6372"/>
                </a:solidFill>
                <a:latin typeface="Arial"/>
              </a:rPr>
              <a:t>Apply legislative and ethical requirements to a workplace wellness technology decision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Segmented Workforce Wellbeing Needs Assessment</a:t>
            </a:r>
          </a:p>
          <a:p>
            <a:pPr algn="l">
              <a:spcAft>
                <a:spcPts val="300"/>
              </a:spcAft>
            </a:pPr>
            <a:r>
              <a:rPr sz="1100" b="0">
                <a:solidFill>
                  <a:srgbClr val="5B6372"/>
                </a:solidFill>
                <a:latin typeface="Arial"/>
              </a:rPr>
              <a:t>Identify the current health and wellness state of different employee groups using privacy-safe evidence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Evidence and Technology Selection Board</a:t>
            </a:r>
          </a:p>
          <a:p>
            <a:pPr algn="l">
              <a:spcAft>
                <a:spcPts val="300"/>
              </a:spcAft>
            </a:pPr>
            <a:r>
              <a:rPr sz="1100" b="0">
                <a:solidFill>
                  <a:srgbClr val="5B6372"/>
                </a:solidFill>
                <a:latin typeface="Arial"/>
              </a:rPr>
              <a:t>Identify and appraise wellbeing trends, technologies and research for workplace relevance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Evidence habit</a:t>
            </a:r>
          </a:p>
          <a:p>
            <a:pPr algn="l">
              <a:spcAft>
                <a:spcPts val="300"/>
              </a:spcAft>
            </a:pPr>
            <a:r>
              <a:rPr sz="1100" b="0">
                <a:solidFill>
                  <a:srgbClr val="5B6372"/>
                </a:solidFill>
                <a:latin typeface="Arial"/>
              </a:rPr>
              <a:t>Separate public facts, organisation evidence and training assumptions.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Management habit</a:t>
            </a:r>
          </a:p>
          <a:p>
            <a:pPr algn="l">
              <a:spcAft>
                <a:spcPts val="300"/>
              </a:spcAft>
            </a:pPr>
            <a:r>
              <a:rPr sz="1100" b="0">
                <a:solidFill>
                  <a:srgbClr val="5B6372"/>
                </a:solidFill>
                <a:latin typeface="Arial"/>
              </a:rPr>
              <a:t>Link every priority, risk or finding to an owner and review trigger.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LEARNING UNIT 02 · K4 · K5 · A3 · A4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Programme Design and Implementation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programme portfolio · inclusion · policy-to-practice · resilience · participation · governance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TSC HRS-HRM-3019-1.1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Key Concepts — Programme Design and Implementation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Portfolio</a:t>
            </a:r>
          </a:p>
          <a:p>
            <a:pPr algn="l">
              <a:spcAft>
                <a:spcPts val="300"/>
              </a:spcAft>
            </a:pPr>
            <a:r>
              <a:rPr sz="1200" b="0">
                <a:solidFill>
                  <a:srgbClr val="5B6372"/>
                </a:solidFill>
                <a:latin typeface="Arial"/>
              </a:rPr>
              <a:t>Combine prevention, protection, early help, support and recovery rather than relying on one programme.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Fit</a:t>
            </a:r>
          </a:p>
          <a:p>
            <a:pPr algn="l">
              <a:spcAft>
                <a:spcPts val="300"/>
              </a:spcAft>
            </a:pPr>
            <a:r>
              <a:rPr sz="1200" b="0">
                <a:solidFill>
                  <a:srgbClr val="5B6372"/>
                </a:solidFill>
                <a:latin typeface="Arial"/>
              </a:rPr>
              <a:t>Design for employee needs, operating context, access barriers and cultural expectations.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Implementation</a:t>
            </a:r>
          </a:p>
          <a:p>
            <a:pPr algn="l">
              <a:spcAft>
                <a:spcPts val="300"/>
              </a:spcAft>
            </a:pPr>
            <a:r>
              <a:rPr sz="1200" b="0">
                <a:solidFill>
                  <a:srgbClr val="5B6372"/>
                </a:solidFill>
                <a:latin typeface="Arial"/>
              </a:rPr>
              <a:t>Turn policy into roles, routines, resources, escalation and evidence.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Resilience</a:t>
            </a:r>
          </a:p>
          <a:p>
            <a:pPr algn="l">
              <a:spcAft>
                <a:spcPts val="300"/>
              </a:spcAft>
            </a:pPr>
            <a:r>
              <a:rPr sz="1200" b="0">
                <a:solidFill>
                  <a:srgbClr val="5B6372"/>
                </a:solidFill>
                <a:latin typeface="Arial"/>
              </a:rPr>
              <a:t>Build individual, team and organisational capacity while reducing preventable demands.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02 · K4 · K5 · A3 · A4</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Start with the work, then add support.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resilience workshop cannot compensate for chronic overload, unclear priorities or unsafe management behaviour.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K4 · K5 · A3 · A4</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Programme portfolio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Prevention</a:t>
            </a:r>
          </a:p>
          <a:p>
            <a:pPr algn="l">
              <a:spcAft>
                <a:spcPts val="300"/>
              </a:spcAft>
            </a:pPr>
            <a:r>
              <a:rPr sz="1200" b="0">
                <a:solidFill>
                  <a:srgbClr val="5B6372"/>
                </a:solidFill>
                <a:latin typeface="Arial"/>
              </a:rPr>
              <a:t>Healthy work design, risk reduction, ergonomics, financial capability and connection.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Promotion</a:t>
            </a:r>
          </a:p>
          <a:p>
            <a:pPr algn="l">
              <a:spcAft>
                <a:spcPts val="300"/>
              </a:spcAft>
            </a:pPr>
            <a:r>
              <a:rPr sz="1200" b="0">
                <a:solidFill>
                  <a:srgbClr val="5B6372"/>
                </a:solidFill>
                <a:latin typeface="Arial"/>
              </a:rPr>
              <a:t>Movement, nutrition, sleep, learning and inclusive social participation.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Early help</a:t>
            </a:r>
          </a:p>
          <a:p>
            <a:pPr algn="l">
              <a:spcAft>
                <a:spcPts val="300"/>
              </a:spcAft>
            </a:pPr>
            <a:r>
              <a:rPr sz="1200" b="0">
                <a:solidFill>
                  <a:srgbClr val="5B6372"/>
                </a:solidFill>
                <a:latin typeface="Arial"/>
              </a:rPr>
              <a:t>Manager conversations, screening boundaries, navigation and EAP access.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Treatment and recovery</a:t>
            </a:r>
          </a:p>
          <a:p>
            <a:pPr algn="l">
              <a:spcAft>
                <a:spcPts val="300"/>
              </a:spcAft>
            </a:pPr>
            <a:r>
              <a:rPr sz="1200" b="0">
                <a:solidFill>
                  <a:srgbClr val="5B6372"/>
                </a:solidFill>
                <a:latin typeface="Arial"/>
              </a:rPr>
              <a:t>Benefits, clinical pathways, adjustments and return-to-work support.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K4 · K5 · A3 · A4</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Common programme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Physical wellbeing</a:t>
            </a:r>
          </a:p>
          <a:p>
            <a:pPr algn="l">
              <a:spcAft>
                <a:spcPts val="300"/>
              </a:spcAft>
            </a:pPr>
            <a:r>
              <a:rPr sz="1200" b="0">
                <a:solidFill>
                  <a:srgbClr val="5B6372"/>
                </a:solidFill>
                <a:latin typeface="Arial"/>
              </a:rPr>
              <a:t>Activity, ergonomics, preventive checks, nutrition and chronic-condition support.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Mental wellbeing</a:t>
            </a:r>
          </a:p>
          <a:p>
            <a:pPr algn="l">
              <a:spcAft>
                <a:spcPts val="300"/>
              </a:spcAft>
            </a:pPr>
            <a:r>
              <a:rPr sz="1200" b="0">
                <a:solidFill>
                  <a:srgbClr val="5B6372"/>
                </a:solidFill>
                <a:latin typeface="Arial"/>
              </a:rPr>
              <a:t>Psychological safety, EAP, counselling, peer support and manager capability.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Financial wellbeing</a:t>
            </a:r>
          </a:p>
          <a:p>
            <a:pPr algn="l">
              <a:spcAft>
                <a:spcPts val="300"/>
              </a:spcAft>
            </a:pPr>
            <a:r>
              <a:rPr sz="1200" b="0">
                <a:solidFill>
                  <a:srgbClr val="5B6372"/>
                </a:solidFill>
                <a:latin typeface="Arial"/>
              </a:rPr>
              <a:t>Budgeting, debt support, benefits navigation and retirement planning.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Social and community</a:t>
            </a:r>
          </a:p>
          <a:p>
            <a:pPr algn="l">
              <a:spcAft>
                <a:spcPts val="300"/>
              </a:spcAft>
            </a:pPr>
            <a:r>
              <a:rPr sz="1200" b="0">
                <a:solidFill>
                  <a:srgbClr val="5B6372"/>
                </a:solidFill>
                <a:latin typeface="Arial"/>
              </a:rPr>
              <a:t>Connection, volunteering, inclusion and team practices.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K4 · K5 · A3 · A4</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Disease management and prevention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Disease-management support serves employees with an identified condition.</a:t>
            </a:r>
          </a:p>
          <a:p>
            <a:pPr>
              <a:spcAft>
                <a:spcPts val="1000"/>
              </a:spcAft>
            </a:pPr>
            <a:r>
              <a:rPr sz="1600" b="0">
                <a:solidFill>
                  <a:srgbClr val="161B26"/>
                </a:solidFill>
                <a:latin typeface="Arial"/>
              </a:rPr>
              <a:t>•  It may include navigation, medication adherence and work adjustment.</a:t>
            </a:r>
          </a:p>
          <a:p>
            <a:pPr>
              <a:spcAft>
                <a:spcPts val="1000"/>
              </a:spcAft>
            </a:pPr>
            <a:r>
              <a:rPr sz="1600" b="0">
                <a:solidFill>
                  <a:srgbClr val="161B26"/>
                </a:solidFill>
                <a:latin typeface="Arial"/>
              </a:rPr>
              <a:t>•  Clinical decisions belong with qualified professionals.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Prevention reduces risk and strengthens protective conditions before harm.</a:t>
            </a:r>
          </a:p>
          <a:p>
            <a:pPr>
              <a:spcAft>
                <a:spcPts val="1000"/>
              </a:spcAft>
            </a:pPr>
            <a:r>
              <a:rPr sz="1600" b="0">
                <a:solidFill>
                  <a:srgbClr val="161B26"/>
                </a:solidFill>
                <a:latin typeface="Arial"/>
              </a:rPr>
              <a:t>•  It includes job design, safe work, vaccination access and healthy environments.</a:t>
            </a:r>
          </a:p>
          <a:p>
            <a:pPr>
              <a:spcAft>
                <a:spcPts val="1000"/>
              </a:spcAft>
            </a:pPr>
            <a:r>
              <a:rPr sz="1600" b="0">
                <a:solidFill>
                  <a:srgbClr val="161B26"/>
                </a:solidFill>
                <a:latin typeface="Arial"/>
              </a:rPr>
              <a:t>•  Universal support can be combined with targeted pathways.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K4 · K5 · A3 · A4</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Programme design 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Diagnose needs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Prioritise outcomes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Co-design interventions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Plan safeguards and delivery</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Pilot</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Evaluate and improve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K4 · K5 · A3 · A4</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Quality design criteria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Relevant</a:t>
            </a:r>
          </a:p>
          <a:p>
            <a:pPr algn="l">
              <a:spcAft>
                <a:spcPts val="300"/>
              </a:spcAft>
            </a:pPr>
            <a:r>
              <a:rPr sz="1200" b="0">
                <a:solidFill>
                  <a:srgbClr val="5B6372"/>
                </a:solidFill>
                <a:latin typeface="Arial"/>
              </a:rPr>
              <a:t>Addresses a material, evidenced need and defined employee group.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Accessible</a:t>
            </a:r>
          </a:p>
          <a:p>
            <a:pPr algn="l">
              <a:spcAft>
                <a:spcPts val="300"/>
              </a:spcAft>
            </a:pPr>
            <a:r>
              <a:rPr sz="1200" b="0">
                <a:solidFill>
                  <a:srgbClr val="5B6372"/>
                </a:solidFill>
                <a:latin typeface="Arial"/>
              </a:rPr>
              <a:t>Works across shift, location, language, disability, caregiving and device constraints.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Safe</a:t>
            </a:r>
          </a:p>
          <a:p>
            <a:pPr algn="l">
              <a:spcAft>
                <a:spcPts val="300"/>
              </a:spcAft>
            </a:pPr>
            <a:r>
              <a:rPr sz="1200" b="0">
                <a:solidFill>
                  <a:srgbClr val="5B6372"/>
                </a:solidFill>
                <a:latin typeface="Arial"/>
              </a:rPr>
              <a:t>Protects privacy, clinical boundaries, voluntariness and escalation.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Evaluable</a:t>
            </a:r>
          </a:p>
          <a:p>
            <a:pPr algn="l">
              <a:spcAft>
                <a:spcPts val="300"/>
              </a:spcAft>
            </a:pPr>
            <a:r>
              <a:rPr sz="1200" b="0">
                <a:solidFill>
                  <a:srgbClr val="5B6372"/>
                </a:solidFill>
                <a:latin typeface="Arial"/>
              </a:rPr>
              <a:t>Has baseline, logic, owner, measures and review timing.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K4 · K5 · A3 · A4</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Policy-to-practice chain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Policy intent</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Role and decision right</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Daily routine</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Tool or resource</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Evidence of use</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Review and improvement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K4 · K5 · A3 · A4</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Manager playbook essentials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Notice</a:t>
            </a:r>
          </a:p>
          <a:p>
            <a:pPr algn="l">
              <a:spcAft>
                <a:spcPts val="300"/>
              </a:spcAft>
            </a:pPr>
            <a:r>
              <a:rPr sz="1200" b="0">
                <a:solidFill>
                  <a:srgbClr val="5B6372"/>
                </a:solidFill>
                <a:latin typeface="Arial"/>
              </a:rPr>
              <a:t>Recognise work-related changes without diagnosing.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Ask</a:t>
            </a:r>
          </a:p>
          <a:p>
            <a:pPr algn="l">
              <a:spcAft>
                <a:spcPts val="300"/>
              </a:spcAft>
            </a:pPr>
            <a:r>
              <a:rPr sz="1200" b="0">
                <a:solidFill>
                  <a:srgbClr val="5B6372"/>
                </a:solidFill>
                <a:latin typeface="Arial"/>
              </a:rPr>
              <a:t>Choose a private moment and use open, respectful questions.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Act</a:t>
            </a:r>
          </a:p>
          <a:p>
            <a:pPr algn="l">
              <a:spcAft>
                <a:spcPts val="300"/>
              </a:spcAft>
            </a:pPr>
            <a:r>
              <a:rPr sz="1200" b="0">
                <a:solidFill>
                  <a:srgbClr val="5B6372"/>
                </a:solidFill>
                <a:latin typeface="Arial"/>
              </a:rPr>
              <a:t>Adjust work within authority and connect the employee to support.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Escalate</a:t>
            </a:r>
          </a:p>
          <a:p>
            <a:pPr algn="l">
              <a:spcAft>
                <a:spcPts val="300"/>
              </a:spcAft>
            </a:pPr>
            <a:r>
              <a:rPr sz="1200" b="0">
                <a:solidFill>
                  <a:srgbClr val="5B6372"/>
                </a:solidFill>
                <a:latin typeface="Arial"/>
              </a:rPr>
              <a:t>Follow safety, HR and emergency routes for risk or complexity.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K4 · K5 · A3 · A4</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Individual resilience and organisational resilience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Self-efficacy, optimism, recovery skills and social support can be protective.</a:t>
            </a:r>
          </a:p>
          <a:p>
            <a:pPr>
              <a:spcAft>
                <a:spcPts val="1000"/>
              </a:spcAft>
            </a:pPr>
            <a:r>
              <a:rPr sz="1600" b="0">
                <a:solidFill>
                  <a:srgbClr val="161B26"/>
                </a:solidFill>
                <a:latin typeface="Arial"/>
              </a:rPr>
              <a:t>•  Practice, coaching and reflection can build usable coping resources.</a:t>
            </a:r>
          </a:p>
          <a:p>
            <a:pPr>
              <a:spcAft>
                <a:spcPts val="1000"/>
              </a:spcAft>
            </a:pPr>
            <a:r>
              <a:rPr sz="1600" b="0">
                <a:solidFill>
                  <a:srgbClr val="161B26"/>
                </a:solidFill>
                <a:latin typeface="Arial"/>
              </a:rPr>
              <a:t>•  Participation should not imply blame for harmful work conditions.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Leaders shape workload, autonomy, trust, purpose and access to help.</a:t>
            </a:r>
          </a:p>
          <a:p>
            <a:pPr>
              <a:spcAft>
                <a:spcPts val="1000"/>
              </a:spcAft>
            </a:pPr>
            <a:r>
              <a:rPr sz="1600" b="0">
                <a:solidFill>
                  <a:srgbClr val="161B26"/>
                </a:solidFill>
                <a:latin typeface="Arial"/>
              </a:rPr>
              <a:t>•  Teams create norms for speaking up, support and recovery.</a:t>
            </a:r>
          </a:p>
          <a:p>
            <a:pPr>
              <a:spcAft>
                <a:spcPts val="1000"/>
              </a:spcAft>
            </a:pPr>
            <a:r>
              <a:rPr sz="1600" b="0">
                <a:solidFill>
                  <a:srgbClr val="161B26"/>
                </a:solidFill>
                <a:latin typeface="Arial"/>
              </a:rPr>
              <a:t>•  Organisations remove systemic demands and learn from workforce evidence.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K4 · K5 · A3 · A4</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Resilience ecosystem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Leadership</a:t>
            </a:r>
          </a:p>
          <a:p>
            <a:pPr algn="l">
              <a:spcAft>
                <a:spcPts val="300"/>
              </a:spcAft>
            </a:pPr>
            <a:r>
              <a:rPr sz="1200" b="0">
                <a:solidFill>
                  <a:srgbClr val="5B6372"/>
                </a:solidFill>
                <a:latin typeface="Arial"/>
              </a:rPr>
              <a:t>Visible priorities, psychologically safe behaviour and accountability.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Job design</a:t>
            </a:r>
          </a:p>
          <a:p>
            <a:pPr algn="l">
              <a:spcAft>
                <a:spcPts val="300"/>
              </a:spcAft>
            </a:pPr>
            <a:r>
              <a:rPr sz="1200" b="0">
                <a:solidFill>
                  <a:srgbClr val="5B6372"/>
                </a:solidFill>
                <a:latin typeface="Arial"/>
              </a:rPr>
              <a:t>Manage demand, control, staffing, role clarity and recovery time.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Social resources</a:t>
            </a:r>
          </a:p>
          <a:p>
            <a:pPr algn="l">
              <a:spcAft>
                <a:spcPts val="300"/>
              </a:spcAft>
            </a:pPr>
            <a:r>
              <a:rPr sz="1200" b="0">
                <a:solidFill>
                  <a:srgbClr val="5B6372"/>
                </a:solidFill>
                <a:latin typeface="Arial"/>
              </a:rPr>
              <a:t>Peer connection, manager support and trusted communities.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Professional support</a:t>
            </a:r>
          </a:p>
          <a:p>
            <a:pPr algn="l">
              <a:spcAft>
                <a:spcPts val="300"/>
              </a:spcAft>
            </a:pPr>
            <a:r>
              <a:rPr sz="1200" b="0">
                <a:solidFill>
                  <a:srgbClr val="5B6372"/>
                </a:solidFill>
                <a:latin typeface="Arial"/>
              </a:rPr>
              <a:t>Clear, confidential and timely access to qualified help.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K4 · K5 · A3 · A4</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Implementation workstreams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Sponsor and governance</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Service and vendor readiness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Manager enablement</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Communication and access</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Data safeguards</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Monitoring and issue resolution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K4 · K5 · A3 · A4</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Roles and ownership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Sponsor</a:t>
            </a:r>
          </a:p>
          <a:p>
            <a:pPr algn="l">
              <a:spcAft>
                <a:spcPts val="300"/>
              </a:spcAft>
            </a:pPr>
            <a:r>
              <a:rPr sz="1200" b="0">
                <a:solidFill>
                  <a:srgbClr val="5B6372"/>
                </a:solidFill>
                <a:latin typeface="Arial"/>
              </a:rPr>
              <a:t>Sets priority, resources and accountability for outcomes.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Programme owner</a:t>
            </a:r>
          </a:p>
          <a:p>
            <a:pPr algn="l">
              <a:spcAft>
                <a:spcPts val="300"/>
              </a:spcAft>
            </a:pPr>
            <a:r>
              <a:rPr sz="1200" b="0">
                <a:solidFill>
                  <a:srgbClr val="5B6372"/>
                </a:solidFill>
                <a:latin typeface="Arial"/>
              </a:rPr>
              <a:t>Coordinates plan, risks, vendors, data and review.</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Managers</a:t>
            </a:r>
          </a:p>
          <a:p>
            <a:pPr algn="l">
              <a:spcAft>
                <a:spcPts val="300"/>
              </a:spcAft>
            </a:pPr>
            <a:r>
              <a:rPr sz="1200" b="0">
                <a:solidFill>
                  <a:srgbClr val="5B6372"/>
                </a:solidFill>
                <a:latin typeface="Arial"/>
              </a:rPr>
              <a:t>Apply work practices, enable access and respond safely.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Employees and representatives</a:t>
            </a:r>
          </a:p>
          <a:p>
            <a:pPr algn="l">
              <a:spcAft>
                <a:spcPts val="300"/>
              </a:spcAft>
            </a:pPr>
            <a:r>
              <a:rPr sz="1200" b="0">
                <a:solidFill>
                  <a:srgbClr val="5B6372"/>
                </a:solidFill>
                <a:latin typeface="Arial"/>
              </a:rPr>
              <a:t>Co-design, participate voluntarily and provide feedback.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K4 · K5 · A3 · A4</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Participation barriers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Awareness</a:t>
            </a:r>
          </a:p>
          <a:p>
            <a:pPr algn="l">
              <a:spcAft>
                <a:spcPts val="300"/>
              </a:spcAft>
            </a:pPr>
            <a:r>
              <a:rPr sz="1200" b="0">
                <a:solidFill>
                  <a:srgbClr val="5B6372"/>
                </a:solidFill>
                <a:latin typeface="Arial"/>
              </a:rPr>
              <a:t>Employees do not know what exists or why it is relevant.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Time and access</a:t>
            </a:r>
          </a:p>
          <a:p>
            <a:pPr algn="l">
              <a:spcAft>
                <a:spcPts val="300"/>
              </a:spcAft>
            </a:pPr>
            <a:r>
              <a:rPr sz="1200" b="0">
                <a:solidFill>
                  <a:srgbClr val="5B6372"/>
                </a:solidFill>
                <a:latin typeface="Arial"/>
              </a:rPr>
              <a:t>Shifts, workload, caregiving, location or technology block use.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Trust</a:t>
            </a:r>
          </a:p>
          <a:p>
            <a:pPr algn="l">
              <a:spcAft>
                <a:spcPts val="300"/>
              </a:spcAft>
            </a:pPr>
            <a:r>
              <a:rPr sz="1200" b="0">
                <a:solidFill>
                  <a:srgbClr val="5B6372"/>
                </a:solidFill>
                <a:latin typeface="Arial"/>
              </a:rPr>
              <a:t>Privacy, stigma or employment consequences feel uncertain.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Perceived value</a:t>
            </a:r>
          </a:p>
          <a:p>
            <a:pPr algn="l">
              <a:spcAft>
                <a:spcPts val="300"/>
              </a:spcAft>
            </a:pPr>
            <a:r>
              <a:rPr sz="1200" b="0">
                <a:solidFill>
                  <a:srgbClr val="5B6372"/>
                </a:solidFill>
                <a:latin typeface="Arial"/>
              </a:rPr>
              <a:t>The offer does not match needs, culture or employee experience.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K4 · K5 · A3 · A4</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Ethical engagement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Explain the need</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Offer meaningful choices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Protect non-participants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Remove access barriers</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Use supportive incentives</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Monitor equity and unintended effects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K4 · K5 · A3 · A4</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Partner and vendor governance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Capability</a:t>
            </a:r>
          </a:p>
          <a:p>
            <a:pPr algn="l">
              <a:spcAft>
                <a:spcPts val="300"/>
              </a:spcAft>
            </a:pPr>
            <a:r>
              <a:rPr sz="1200" b="0">
                <a:solidFill>
                  <a:srgbClr val="5B6372"/>
                </a:solidFill>
                <a:latin typeface="Arial"/>
              </a:rPr>
              <a:t>Qualified staff, service standards, escalation and clinical governance.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Privacy</a:t>
            </a:r>
          </a:p>
          <a:p>
            <a:pPr algn="l">
              <a:spcAft>
                <a:spcPts val="300"/>
              </a:spcAft>
            </a:pPr>
            <a:r>
              <a:rPr sz="1200" b="0">
                <a:solidFill>
                  <a:srgbClr val="5B6372"/>
                </a:solidFill>
                <a:latin typeface="Arial"/>
              </a:rPr>
              <a:t>Purpose, data flows, security, retention, transfer and breach duties.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Access</a:t>
            </a:r>
          </a:p>
          <a:p>
            <a:pPr algn="l">
              <a:spcAft>
                <a:spcPts val="300"/>
              </a:spcAft>
            </a:pPr>
            <a:r>
              <a:rPr sz="1200" b="0">
                <a:solidFill>
                  <a:srgbClr val="5B6372"/>
                </a:solidFill>
                <a:latin typeface="Arial"/>
              </a:rPr>
              <a:t>Hours, languages, channels, accessibility and capacity.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Safe aggregates, service quality, outcomes and corrective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K4 · K5 · A3 · A4</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Budget and value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Budget for design, communication, manager time, access support and evaluation—not just vendor fees.</a:t>
            </a:r>
          </a:p>
          <a:p>
            <a:pPr>
              <a:spcAft>
                <a:spcPts val="1000"/>
              </a:spcAft>
            </a:pPr>
            <a:r>
              <a:rPr sz="1600" b="0">
                <a:solidFill>
                  <a:srgbClr val="161B26"/>
                </a:solidFill>
                <a:latin typeface="Arial"/>
              </a:rPr>
              <a:t>•  Use a benefits logic and realistic time horizon.</a:t>
            </a:r>
          </a:p>
          <a:p>
            <a:pPr>
              <a:spcAft>
                <a:spcPts val="1000"/>
              </a:spcAft>
            </a:pPr>
            <a:r>
              <a:rPr sz="1600" b="0">
                <a:solidFill>
                  <a:srgbClr val="161B26"/>
                </a:solidFill>
                <a:latin typeface="Arial"/>
              </a:rPr>
              <a:t>•  State uncertainty and avoid promising guaranteed ROI.</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Prioritise statutory and safety requirements first.</a:t>
            </a:r>
          </a:p>
          <a:p>
            <a:pPr>
              <a:spcAft>
                <a:spcPts val="1000"/>
              </a:spcAft>
            </a:pPr>
            <a:r>
              <a:rPr sz="1600" b="0">
                <a:solidFill>
                  <a:srgbClr val="161B26"/>
                </a:solidFill>
                <a:latin typeface="Arial"/>
              </a:rPr>
              <a:t>•  Compare reach, equity, quality and outcome with cost.</a:t>
            </a:r>
          </a:p>
          <a:p>
            <a:pPr>
              <a:spcAft>
                <a:spcPts val="1000"/>
              </a:spcAft>
            </a:pPr>
            <a:r>
              <a:rPr sz="1600" b="0">
                <a:solidFill>
                  <a:srgbClr val="161B26"/>
                </a:solidFill>
                <a:latin typeface="Arial"/>
              </a:rPr>
              <a:t>•  Scale only after a pilot demonstrates safe, relevant value.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K4 · K5 · A3 · A4</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Pilot-to-scale gates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Readiness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Safe launch</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Access and reach</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Experience and quality</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Early outcome signal</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Decision to adapt, scale or stop</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02 · K4 · K5 · A3 · A4</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Implementation is the programme.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Policy, vendor and launch event matter only when daily work, access and follow-through change.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REAL-USE-CASE DECISIONS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400" b="1">
                <a:solidFill>
                  <a:srgbClr val="161B26"/>
                </a:solidFill>
                <a:latin typeface="Arial"/>
              </a:rPr>
              <a:t>Applied Activities — Programme Design and Implementation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Activity 4</a:t>
            </a:r>
          </a:p>
          <a:p>
            <a:pPr algn="l">
              <a:spcAft>
                <a:spcPts val="300"/>
              </a:spcAft>
            </a:pPr>
            <a:r>
              <a:rPr sz="1000" b="0">
                <a:solidFill>
                  <a:srgbClr val="5B6372"/>
                </a:solidFill>
                <a:latin typeface="Arial"/>
              </a:rPr>
              <a:t>Resilience Ecosystem After a Service Surge · K2 · K5 · A3 · A4 · LO2</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Activity 5</a:t>
            </a:r>
          </a:p>
          <a:p>
            <a:pPr algn="l">
              <a:spcAft>
                <a:spcPts val="300"/>
              </a:spcAft>
            </a:pPr>
            <a:r>
              <a:rPr sz="1000" b="0">
                <a:solidFill>
                  <a:srgbClr val="5B6372"/>
                </a:solidFill>
                <a:latin typeface="Arial"/>
              </a:rPr>
              <a:t>Whole-Person Wellness Programme Portfolio · K4 · A3 · A4 · LO2</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Activity 6</a:t>
            </a:r>
          </a:p>
          <a:p>
            <a:pPr algn="l">
              <a:spcAft>
                <a:spcPts val="300"/>
              </a:spcAft>
            </a:pPr>
            <a:r>
              <a:rPr sz="1000" b="0">
                <a:solidFill>
                  <a:srgbClr val="5B6372"/>
                </a:solidFill>
                <a:latin typeface="Arial"/>
              </a:rPr>
              <a:t>Mental-Wellbeing Policy-to-Practice Playbook · K5 · A4 · LO2</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Activity 7</a:t>
            </a:r>
          </a:p>
          <a:p>
            <a:pPr algn="l">
              <a:spcAft>
                <a:spcPts val="300"/>
              </a:spcAft>
            </a:pPr>
            <a:r>
              <a:rPr sz="1000" b="0">
                <a:solidFill>
                  <a:srgbClr val="5B6372"/>
                </a:solidFill>
                <a:latin typeface="Arial"/>
              </a:rPr>
              <a:t>Participation and Partnership Recovery Plan · K4 · K5 · A4 · LO2</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Evidence boundary</a:t>
            </a:r>
          </a:p>
          <a:p>
            <a:pPr algn="l">
              <a:spcAft>
                <a:spcPts val="300"/>
              </a:spcAft>
            </a:pPr>
            <a:r>
              <a:rPr sz="1000" b="0">
                <a:solidFill>
                  <a:srgbClr val="5B6372"/>
                </a:solidFill>
                <a:latin typeface="Arial"/>
              </a:rPr>
              <a:t>Published evidence and requirements are separated from fictional workplace inputs.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02 · K2 · K5 · A3 · A4 · LO2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Resilience Ecosystem After a Service Surge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Respond to fatigue and strain in a high-demand team without shifting responsibility onto employees to become tougher.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Job Demands–Resources map, three-level intervention portfolio and 90-day implementation plan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CIPD evidence review · Workplace Mental Health framework · employee journey evidence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4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CIPD's evidence review treats resilience as influenced by individual and contextual factors and cautions against placing the onus on employees to withstand harmful conditions. Protective factors include self-efficacy, positive affect, social support and leader relationships; effective development tends to be structured and experiential rather than a one-off lecture.</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CivicConnect and all employee evidence are fictional training inputs.</a:t>
            </a:r>
          </a:p>
          <a:p>
            <a:pPr>
              <a:spcAft>
                <a:spcPts val="1000"/>
              </a:spcAft>
            </a:pPr>
            <a:r>
              <a:rPr sz="1600" b="0">
                <a:solidFill>
                  <a:srgbClr val="161B26"/>
                </a:solidFill>
                <a:latin typeface="Arial"/>
              </a:rPr>
              <a:t>•  There is no evidence that a one-hour webinar alone will address the primary work demands.</a:t>
            </a:r>
          </a:p>
          <a:p>
            <a:pPr>
              <a:spcAft>
                <a:spcPts val="1000"/>
              </a:spcAft>
            </a:pPr>
            <a:r>
              <a:rPr sz="1600" b="0">
                <a:solidFill>
                  <a:srgbClr val="161B26"/>
                </a:solidFill>
                <a:latin typeface="Arial"/>
              </a:rPr>
              <a:t>•  The operating budget allows changes to rosters, escalation, peer support and a targeted development programme.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4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demands are preventable, reducible or unavoidable?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resources are missing at individual, team and organisational levels?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sequence balances immediate relief with sustainable redesign?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How will leaders know whether the change improves recovery and service?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Resilience Ecosystem After a Service Surge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plan removes or reduces at least two preventable demands, adds team and organisational resources, treats individual training as complementary, includes safe escalation and has balanced employee/service measures.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02 · K4 · A3 · A4 · LO2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Whole-Person Wellness Programme Portfolio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Convert a broad wellness ambition into a coherent prevention-to-recovery portfolio with access, ownership and evidence.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Programme architecture, logic models and portfolio prioritisation map</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VHA Whole Health evidence · HPB workplace resources · employee personas · portfolio canvas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5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published VHA Whole Health model emphasises whole-person goals and values, health coaching, wellbeing programmes and clinical care within a wider system. It illustrates how an ecosystem can orient support around what matters to the person rather than a fragmented menu of services.</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HarbourView, workforce data and current service performance are fictional.</a:t>
            </a:r>
          </a:p>
          <a:p>
            <a:pPr>
              <a:spcAft>
                <a:spcPts val="1000"/>
              </a:spcAft>
            </a:pPr>
            <a:r>
              <a:rPr sz="1600" b="0">
                <a:solidFill>
                  <a:srgbClr val="161B26"/>
                </a:solidFill>
                <a:latin typeface="Arial"/>
              </a:rPr>
              <a:t>•  The organisation can use HPB resources where eligible but must validate current programme terms before commitment.</a:t>
            </a:r>
          </a:p>
          <a:p>
            <a:pPr>
              <a:spcAft>
                <a:spcPts val="1000"/>
              </a:spcAft>
            </a:pPr>
            <a:r>
              <a:rPr sz="1600" b="0">
                <a:solidFill>
                  <a:srgbClr val="161B26"/>
                </a:solidFill>
                <a:latin typeface="Arial"/>
              </a:rPr>
              <a:t>•  Employee groups differ in schedule, physical demand, language, financial concerns and digital access.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5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shared and targeted needs should the portfolio address?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How will prevention, early help, support and recovery connect?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makes each pathway accessible and trustworthy for shift employees?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components should be piloted, scaled, partnered or stopped?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Whole-Person Wellness Programme Portfolio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component links to an evidenced need, the portfolio covers work conditions plus support, access is designed for distinct groups, clinical/privacy boundaries are explicit and each component has an owner and review measure.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End of Day 1</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1F6FEB"/>
                </a:solidFill>
                <a:latin typeface="Arial"/>
              </a:rPr>
              <a:t>Return ready to implement, communicate and improve</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02 · K5 · A4 · LO2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Mental-Wellbeing Policy-to-Practice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Turn a generic mental-wellbeing policy into observable routines, decision rights, scripts and escalation paths.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Manager playbook, process map and role-based implementation checklist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TAFEP guidance · manager scenarios · escalation map · implementation tracker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6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Singapore's tripartite guidance encourages employers to strengthen mental wellbeing through organisation-, team- and individual-level practices, including leadership, supportive managers, work-life harmony, access to help and appropriate confidentiality.</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All characters and events are fictional learning scenarios.</a:t>
            </a:r>
          </a:p>
          <a:p>
            <a:pPr>
              <a:spcAft>
                <a:spcPts val="1000"/>
              </a:spcAft>
            </a:pPr>
            <a:r>
              <a:rPr sz="1600" b="0">
                <a:solidFill>
                  <a:srgbClr val="161B26"/>
                </a:solidFill>
                <a:latin typeface="Arial"/>
              </a:rPr>
              <a:t>•  Managers are not clinicians and must not diagnose or provide therapy.</a:t>
            </a:r>
          </a:p>
          <a:p>
            <a:pPr>
              <a:spcAft>
                <a:spcPts val="1000"/>
              </a:spcAft>
            </a:pPr>
            <a:r>
              <a:rPr sz="1600" b="0">
                <a:solidFill>
                  <a:srgbClr val="161B26"/>
                </a:solidFill>
                <a:latin typeface="Arial"/>
              </a:rPr>
              <a:t>•  The organisation has HR, an EAP and a documented emergency escalation route.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6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policy statements need a concrete routine, tool or decision right?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can managers ask, record, decide and escalate?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How should the playbook handle immediate safety concerns and ordinary work support differently?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evidence demonstrates implementation beyond attendance at training?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Mental-Wellbeing Policy-to-Practice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playbook covers routine through emergency situations, limits collection and diagnosis, names decision rights and handoffs, provides usable scripts and defines evidence of practice quality rather than training completion alone.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02 · K4 · K5 · A4 · LO2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Participation and Partnership Recovery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Diagnose low engagement in an existing programme and redesign access, communication, incentives and vendor governance.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Barrier map, vendor scorecard, budget reallocation and recovery experiment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NCBI programme principles · fictional utilisation funnel · vendor SLA · employee comments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7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NCBI review highlights multilevel leadership, organisational alignment, programme scope and quality, accessibility, partnerships and communications as core elements, while identifying awareness, time, manager support, access, privacy and perceived benefit as participation barriers.</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All funnel, budget, vendor and employee-comment data are fictional.</a:t>
            </a:r>
          </a:p>
          <a:p>
            <a:pPr>
              <a:spcAft>
                <a:spcPts val="1000"/>
              </a:spcAft>
            </a:pPr>
            <a:r>
              <a:rPr sz="1600" b="0">
                <a:solidFill>
                  <a:srgbClr val="161B26"/>
                </a:solidFill>
                <a:latin typeface="Arial"/>
              </a:rPr>
              <a:t>•  Registration is not evidence of benefit and may be a vanity metric.</a:t>
            </a:r>
          </a:p>
          <a:p>
            <a:pPr>
              <a:spcAft>
                <a:spcPts val="1000"/>
              </a:spcAft>
            </a:pPr>
            <a:r>
              <a:rPr sz="1600" b="0">
                <a:solidFill>
                  <a:srgbClr val="161B26"/>
                </a:solidFill>
                <a:latin typeface="Arial"/>
              </a:rPr>
              <a:t>•  The vendor can provide privacy-safe aggregates but the current contract lacks response-time and accessibility standards.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7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Where does the participation funnel fail for each workforce group?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barriers are awareness, access, trust, relevance, manager or service-quality problems?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Would the proposed incentive support or distort the intended behaviour?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partner standards and experiment would restore sustainable participation?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Participation and Partnership Recovery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plan diagnoses funnel loss by group, addresses at least three root-cause categories, avoids coercive incentives, sets vendor quality/privacy standards and defines a measurable experiment with owner and stop rule.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60 minutes</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UNIT RECAP</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Recap — Programme Design and Implementation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Resilience Ecosystem After a Service Surge</a:t>
            </a:r>
          </a:p>
          <a:p>
            <a:pPr algn="l">
              <a:spcAft>
                <a:spcPts val="300"/>
              </a:spcAft>
            </a:pPr>
            <a:r>
              <a:rPr sz="1100" b="0">
                <a:solidFill>
                  <a:srgbClr val="5B6372"/>
                </a:solidFill>
                <a:latin typeface="Arial"/>
              </a:rPr>
              <a:t>Redesign job demands and resources while adding proportionate resilience support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Whole-Person Wellness Programme Portfolio</a:t>
            </a:r>
          </a:p>
          <a:p>
            <a:pPr algn="l">
              <a:spcAft>
                <a:spcPts val="300"/>
              </a:spcAft>
            </a:pPr>
            <a:r>
              <a:rPr sz="1100" b="0">
                <a:solidFill>
                  <a:srgbClr val="5B6372"/>
                </a:solidFill>
                <a:latin typeface="Arial"/>
              </a:rPr>
              <a:t>Design an inclusive portfolio for distinct employee needs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Mental-Wellbeing Policy-to-Practice Playbook</a:t>
            </a:r>
          </a:p>
          <a:p>
            <a:pPr algn="l">
              <a:spcAft>
                <a:spcPts val="300"/>
              </a:spcAft>
            </a:pPr>
            <a:r>
              <a:rPr sz="1100" b="0">
                <a:solidFill>
                  <a:srgbClr val="5B6372"/>
                </a:solidFill>
                <a:latin typeface="Arial"/>
              </a:rPr>
              <a:t>Translate policy into safe day-to-day manager and team practices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Participation and Partnership Recovery Plan</a:t>
            </a:r>
          </a:p>
          <a:p>
            <a:pPr algn="l">
              <a:spcAft>
                <a:spcPts val="300"/>
              </a:spcAft>
            </a:pPr>
            <a:r>
              <a:rPr sz="1100" b="0">
                <a:solidFill>
                  <a:srgbClr val="5B6372"/>
                </a:solidFill>
                <a:latin typeface="Arial"/>
              </a:rPr>
              <a:t>Remove participation barriers and govern delivery partners for a sustainable programme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Evidence habit</a:t>
            </a:r>
          </a:p>
          <a:p>
            <a:pPr algn="l">
              <a:spcAft>
                <a:spcPts val="300"/>
              </a:spcAft>
            </a:pPr>
            <a:r>
              <a:rPr sz="1100" b="0">
                <a:solidFill>
                  <a:srgbClr val="5B6372"/>
                </a:solidFill>
                <a:latin typeface="Arial"/>
              </a:rPr>
              <a:t>Separate public facts, organisation evidence and training assumptions.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Management habit</a:t>
            </a:r>
          </a:p>
          <a:p>
            <a:pPr algn="l">
              <a:spcAft>
                <a:spcPts val="300"/>
              </a:spcAft>
            </a:pPr>
            <a:r>
              <a:rPr sz="1100" b="0">
                <a:solidFill>
                  <a:srgbClr val="5B6372"/>
                </a:solidFill>
                <a:latin typeface="Arial"/>
              </a:rPr>
              <a:t>Link every priority, risk or finding to an owner and review trigger.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LEARNING UNIT 03 · K6 · K7 · A5 · A6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Communication, Feedback and Improvement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benefits · audience · channels · trust · feedback · metrics · management review</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TSC HRS-HRM-3019-1.1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400" b="1">
                <a:solidFill>
                  <a:srgbClr val="161B26"/>
                </a:solidFill>
                <a:latin typeface="Arial"/>
              </a:rPr>
              <a:t>Key Concepts — Communication, Feedback and Improvement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Benefit</a:t>
            </a:r>
          </a:p>
          <a:p>
            <a:pPr algn="l">
              <a:spcAft>
                <a:spcPts val="300"/>
              </a:spcAft>
            </a:pPr>
            <a:r>
              <a:rPr sz="1200" b="0">
                <a:solidFill>
                  <a:srgbClr val="5B6372"/>
                </a:solidFill>
                <a:latin typeface="Arial"/>
              </a:rPr>
              <a:t>Describe a credible employee and organisational value proposition without overpromising.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Communication</a:t>
            </a:r>
          </a:p>
          <a:p>
            <a:pPr algn="l">
              <a:spcAft>
                <a:spcPts val="300"/>
              </a:spcAft>
            </a:pPr>
            <a:r>
              <a:rPr sz="1200" b="0">
                <a:solidFill>
                  <a:srgbClr val="5B6372"/>
                </a:solidFill>
                <a:latin typeface="Arial"/>
              </a:rPr>
              <a:t>Match message, messenger, channel, timing and call to action to each audience.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Feedback</a:t>
            </a:r>
          </a:p>
          <a:p>
            <a:pPr algn="l">
              <a:spcAft>
                <a:spcPts val="300"/>
              </a:spcAft>
            </a:pPr>
            <a:r>
              <a:rPr sz="1200" b="0">
                <a:solidFill>
                  <a:srgbClr val="5B6372"/>
                </a:solidFill>
                <a:latin typeface="Arial"/>
              </a:rPr>
              <a:t>Combine safe quantitative and qualitative evidence; make it easy to speak and see a response.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Improvement</a:t>
            </a:r>
          </a:p>
          <a:p>
            <a:pPr algn="l">
              <a:spcAft>
                <a:spcPts val="300"/>
              </a:spcAft>
            </a:pPr>
            <a:r>
              <a:rPr sz="1200" b="0">
                <a:solidFill>
                  <a:srgbClr val="5B6372"/>
                </a:solidFill>
                <a:latin typeface="Arial"/>
              </a:rPr>
              <a:t>Use a logic model, equity checks and management decisions to adapt or stop programmes.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03 · K6 · K7 · A5 · A6</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Trust is part of programme access.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People will not use support they believe could expose, label or disadvantage them.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K6 · K7 · A5 · A6</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Benefits for employees and the organisation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Easier access to relevant support and healthier work conditions.</a:t>
            </a:r>
          </a:p>
          <a:p>
            <a:pPr>
              <a:spcAft>
                <a:spcPts val="1000"/>
              </a:spcAft>
            </a:pPr>
            <a:r>
              <a:rPr sz="1600" b="0">
                <a:solidFill>
                  <a:srgbClr val="161B26"/>
                </a:solidFill>
                <a:latin typeface="Arial"/>
              </a:rPr>
              <a:t>•  Greater capability, energy, connection and confidence to seek help.</a:t>
            </a:r>
          </a:p>
          <a:p>
            <a:pPr>
              <a:spcAft>
                <a:spcPts val="1000"/>
              </a:spcAft>
            </a:pPr>
            <a:r>
              <a:rPr sz="1600" b="0">
                <a:solidFill>
                  <a:srgbClr val="161B26"/>
                </a:solidFill>
                <a:latin typeface="Arial"/>
              </a:rPr>
              <a:t>•  Fairer access across locations, shifts and life circumstances.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Potential improvements in absence, retention, engagement and sustainable performance.</a:t>
            </a:r>
          </a:p>
          <a:p>
            <a:pPr>
              <a:spcAft>
                <a:spcPts val="1000"/>
              </a:spcAft>
            </a:pPr>
            <a:r>
              <a:rPr sz="1600" b="0">
                <a:solidFill>
                  <a:srgbClr val="161B26"/>
                </a:solidFill>
                <a:latin typeface="Arial"/>
              </a:rPr>
              <a:t>•  Better risk visibility and manager capability.</a:t>
            </a:r>
          </a:p>
          <a:p>
            <a:pPr>
              <a:spcAft>
                <a:spcPts val="1000"/>
              </a:spcAft>
            </a:pPr>
            <a:r>
              <a:rPr sz="1600" b="0">
                <a:solidFill>
                  <a:srgbClr val="161B26"/>
                </a:solidFill>
                <a:latin typeface="Arial"/>
              </a:rPr>
              <a:t>•  Benefits depend on context and implementation; association is not proof of causation.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K6 · K7 · A5 · A6</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Communication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Define behaviour or decision</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Segment audience</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Find barrier and motivation</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Craft message and proof</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Choose channel and messenger</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Measure response and adapt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K6 · K7 · A5 · A6</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Audience differences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Desk-based and hybrid</a:t>
            </a:r>
          </a:p>
          <a:p>
            <a:pPr algn="l">
              <a:spcAft>
                <a:spcPts val="300"/>
              </a:spcAft>
            </a:pPr>
            <a:r>
              <a:rPr sz="1200" b="0">
                <a:solidFill>
                  <a:srgbClr val="5B6372"/>
                </a:solidFill>
                <a:latin typeface="Arial"/>
              </a:rPr>
              <a:t>Digital reach is high, but attention and isolation may be barriers.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Frontline and shift</a:t>
            </a:r>
          </a:p>
          <a:p>
            <a:pPr algn="l">
              <a:spcAft>
                <a:spcPts val="300"/>
              </a:spcAft>
            </a:pPr>
            <a:r>
              <a:rPr sz="1200" b="0">
                <a:solidFill>
                  <a:srgbClr val="5B6372"/>
                </a:solidFill>
                <a:latin typeface="Arial"/>
              </a:rPr>
              <a:t>Supervisor briefings, roster timing and paid access may matter more than email.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Managers</a:t>
            </a:r>
          </a:p>
          <a:p>
            <a:pPr algn="l">
              <a:spcAft>
                <a:spcPts val="300"/>
              </a:spcAft>
            </a:pPr>
            <a:r>
              <a:rPr sz="1200" b="0">
                <a:solidFill>
                  <a:srgbClr val="5B6372"/>
                </a:solidFill>
                <a:latin typeface="Arial"/>
              </a:rPr>
              <a:t>Need role clarity, scripts, boundaries and escalation—not only awareness.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Vulnerable or underserved groups</a:t>
            </a:r>
          </a:p>
          <a:p>
            <a:pPr algn="l">
              <a:spcAft>
                <a:spcPts val="300"/>
              </a:spcAft>
            </a:pPr>
            <a:r>
              <a:rPr sz="1200" b="0">
                <a:solidFill>
                  <a:srgbClr val="5B6372"/>
                </a:solidFill>
                <a:latin typeface="Arial"/>
              </a:rPr>
              <a:t>Require trusted messengers, accessible formats and stronger privacy assurance.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K6 · K7 · A5 · A6</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Message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Why</a:t>
            </a:r>
          </a:p>
          <a:p>
            <a:pPr algn="l">
              <a:spcAft>
                <a:spcPts val="300"/>
              </a:spcAft>
            </a:pPr>
            <a:r>
              <a:rPr sz="1200" b="0">
                <a:solidFill>
                  <a:srgbClr val="5B6372"/>
                </a:solidFill>
                <a:latin typeface="Arial"/>
              </a:rPr>
              <a:t>Name the employee need and intended benefit in plain language.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What</a:t>
            </a:r>
          </a:p>
          <a:p>
            <a:pPr algn="l">
              <a:spcAft>
                <a:spcPts val="300"/>
              </a:spcAft>
            </a:pPr>
            <a:r>
              <a:rPr sz="1200" b="0">
                <a:solidFill>
                  <a:srgbClr val="5B6372"/>
                </a:solidFill>
                <a:latin typeface="Arial"/>
              </a:rPr>
              <a:t>Explain the offer, boundaries and what it does not do.</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How</a:t>
            </a:r>
          </a:p>
          <a:p>
            <a:pPr algn="l">
              <a:spcAft>
                <a:spcPts val="300"/>
              </a:spcAft>
            </a:pPr>
            <a:r>
              <a:rPr sz="1200" b="0">
                <a:solidFill>
                  <a:srgbClr val="5B6372"/>
                </a:solidFill>
                <a:latin typeface="Arial"/>
              </a:rPr>
              <a:t>Give a simple, accessible action and alternative path.</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Trust</a:t>
            </a:r>
          </a:p>
          <a:p>
            <a:pPr algn="l">
              <a:spcAft>
                <a:spcPts val="300"/>
              </a:spcAft>
            </a:pPr>
            <a:r>
              <a:rPr sz="1200" b="0">
                <a:solidFill>
                  <a:srgbClr val="5B6372"/>
                </a:solidFill>
                <a:latin typeface="Arial"/>
              </a:rPr>
              <a:t>State privacy, voluntariness, provider and help or complaint route.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K6 · K7 · A5 · A6</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Communication channels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Digital</a:t>
            </a:r>
          </a:p>
          <a:p>
            <a:pPr algn="l">
              <a:spcAft>
                <a:spcPts val="300"/>
              </a:spcAft>
            </a:pPr>
            <a:r>
              <a:rPr sz="1200" b="0">
                <a:solidFill>
                  <a:srgbClr val="5B6372"/>
                </a:solidFill>
                <a:latin typeface="Arial"/>
              </a:rPr>
              <a:t>Email, intranet, app, Teams, SMS and digital signage.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Human</a:t>
            </a:r>
          </a:p>
          <a:p>
            <a:pPr algn="l">
              <a:spcAft>
                <a:spcPts val="300"/>
              </a:spcAft>
            </a:pPr>
            <a:r>
              <a:rPr sz="1200" b="0">
                <a:solidFill>
                  <a:srgbClr val="5B6372"/>
                </a:solidFill>
                <a:latin typeface="Arial"/>
              </a:rPr>
              <a:t>Managers, champions, HR, union or employee representatives and peers.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Physical</a:t>
            </a:r>
          </a:p>
          <a:p>
            <a:pPr algn="l">
              <a:spcAft>
                <a:spcPts val="300"/>
              </a:spcAft>
            </a:pPr>
            <a:r>
              <a:rPr sz="1200" b="0">
                <a:solidFill>
                  <a:srgbClr val="5B6372"/>
                </a:solidFill>
                <a:latin typeface="Arial"/>
              </a:rPr>
              <a:t>Toolbox talks, posters, payslip inserts and onsite events.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Service moment</a:t>
            </a:r>
          </a:p>
          <a:p>
            <a:pPr algn="l">
              <a:spcAft>
                <a:spcPts val="300"/>
              </a:spcAft>
            </a:pPr>
            <a:r>
              <a:rPr sz="1200" b="0">
                <a:solidFill>
                  <a:srgbClr val="5B6372"/>
                </a:solidFill>
                <a:latin typeface="Arial"/>
              </a:rPr>
              <a:t>Onboarding, return-to-work, benefits enrolment and manager check-ins.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K6 · K7 · A5 · A6</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Consistency and localisation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Keep eligibility, privacy and access promises consistent.</a:t>
            </a:r>
          </a:p>
          <a:p>
            <a:pPr>
              <a:spcAft>
                <a:spcPts val="1000"/>
              </a:spcAft>
            </a:pPr>
            <a:r>
              <a:rPr sz="1600" b="0">
                <a:solidFill>
                  <a:srgbClr val="161B26"/>
                </a:solidFill>
                <a:latin typeface="Arial"/>
              </a:rPr>
              <a:t>•  Use a single approved source for dates, contacts and service boundaries.</a:t>
            </a:r>
          </a:p>
          <a:p>
            <a:pPr>
              <a:spcAft>
                <a:spcPts val="1000"/>
              </a:spcAft>
            </a:pPr>
            <a:r>
              <a:rPr sz="1600" b="0">
                <a:solidFill>
                  <a:srgbClr val="161B26"/>
                </a:solidFill>
                <a:latin typeface="Arial"/>
              </a:rPr>
              <a:t>•  Train messengers before launch.</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Adapt examples, language, timing and channel to the audience.</a:t>
            </a:r>
          </a:p>
          <a:p>
            <a:pPr>
              <a:spcAft>
                <a:spcPts val="1000"/>
              </a:spcAft>
            </a:pPr>
            <a:r>
              <a:rPr sz="1600" b="0">
                <a:solidFill>
                  <a:srgbClr val="161B26"/>
                </a:solidFill>
                <a:latin typeface="Arial"/>
              </a:rPr>
              <a:t>•  Use culturally relevant and accessible formats.</a:t>
            </a:r>
          </a:p>
          <a:p>
            <a:pPr>
              <a:spcAft>
                <a:spcPts val="1000"/>
              </a:spcAft>
            </a:pPr>
            <a:r>
              <a:rPr sz="1600" b="0">
                <a:solidFill>
                  <a:srgbClr val="161B26"/>
                </a:solidFill>
                <a:latin typeface="Arial"/>
              </a:rPr>
              <a:t>•  Test comprehension, not merely message delivery.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K6 · K7 · A5 · A6</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Employee feedback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Ask a focused question</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Offer safe channels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Protect identity</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Analyse themes and gaps</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Decide and assign</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Close the loop</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K6 · K7 · A5 · A6</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Feedback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Survey</a:t>
            </a:r>
          </a:p>
          <a:p>
            <a:pPr algn="l">
              <a:spcAft>
                <a:spcPts val="300"/>
              </a:spcAft>
            </a:pPr>
            <a:r>
              <a:rPr sz="1200" b="0">
                <a:solidFill>
                  <a:srgbClr val="5B6372"/>
                </a:solidFill>
                <a:latin typeface="Arial"/>
              </a:rPr>
              <a:t>Scalable trends and segments; vulnerable to low response and design bias.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Focus group</a:t>
            </a:r>
          </a:p>
          <a:p>
            <a:pPr algn="l">
              <a:spcAft>
                <a:spcPts val="300"/>
              </a:spcAft>
            </a:pPr>
            <a:r>
              <a:rPr sz="1200" b="0">
                <a:solidFill>
                  <a:srgbClr val="5B6372"/>
                </a:solidFill>
                <a:latin typeface="Arial"/>
              </a:rPr>
              <a:t>Rich shared experience; power dynamics and confidentiality need facilitation.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Interview</a:t>
            </a:r>
          </a:p>
          <a:p>
            <a:pPr algn="l">
              <a:spcAft>
                <a:spcPts val="300"/>
              </a:spcAft>
            </a:pPr>
            <a:r>
              <a:rPr sz="1200" b="0">
                <a:solidFill>
                  <a:srgbClr val="5B6372"/>
                </a:solidFill>
                <a:latin typeface="Arial"/>
              </a:rPr>
              <a:t>Deep individual context; slower and harder to anonymise.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Programme and service data</a:t>
            </a:r>
          </a:p>
          <a:p>
            <a:pPr algn="l">
              <a:spcAft>
                <a:spcPts val="300"/>
              </a:spcAft>
            </a:pPr>
            <a:r>
              <a:rPr sz="1200" b="0">
                <a:solidFill>
                  <a:srgbClr val="5B6372"/>
                </a:solidFill>
                <a:latin typeface="Arial"/>
              </a:rPr>
              <a:t>Behavioural evidence; may not explain why people did or did not engage.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K6 · K7 · A5 · A6</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Additional listening channels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Social listening</a:t>
            </a:r>
          </a:p>
          <a:p>
            <a:pPr algn="l">
              <a:spcAft>
                <a:spcPts val="300"/>
              </a:spcAft>
            </a:pPr>
            <a:r>
              <a:rPr sz="1200" b="0">
                <a:solidFill>
                  <a:srgbClr val="5B6372"/>
                </a:solidFill>
                <a:latin typeface="Arial"/>
              </a:rPr>
              <a:t>Use public or authorised data, clear purpose and ethical boundaries.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Exit and stay interviews</a:t>
            </a:r>
          </a:p>
          <a:p>
            <a:pPr algn="l">
              <a:spcAft>
                <a:spcPts val="300"/>
              </a:spcAft>
            </a:pPr>
            <a:r>
              <a:rPr sz="1200" b="0">
                <a:solidFill>
                  <a:srgbClr val="5B6372"/>
                </a:solidFill>
                <a:latin typeface="Arial"/>
              </a:rPr>
              <a:t>Reveal experience and retention factors; avoid treating departure as the only safe time to speak.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Suggestion and speak-up routes</a:t>
            </a:r>
          </a:p>
          <a:p>
            <a:pPr algn="l">
              <a:spcAft>
                <a:spcPts val="300"/>
              </a:spcAft>
            </a:pPr>
            <a:r>
              <a:rPr sz="1200" b="0">
                <a:solidFill>
                  <a:srgbClr val="5B6372"/>
                </a:solidFill>
                <a:latin typeface="Arial"/>
              </a:rPr>
              <a:t>Enable ongoing issues with acknowledgement and escalation.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Manager observations</a:t>
            </a:r>
          </a:p>
          <a:p>
            <a:pPr algn="l">
              <a:spcAft>
                <a:spcPts val="300"/>
              </a:spcAft>
            </a:pPr>
            <a:r>
              <a:rPr sz="1200" b="0">
                <a:solidFill>
                  <a:srgbClr val="5B6372"/>
                </a:solidFill>
                <a:latin typeface="Arial"/>
              </a:rPr>
              <a:t>Useful operational signal, but not a proxy for confidential employee voice.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K6 · K7 · A5 · A6</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Anonymous and confidential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Anonymous means identity is not collected or reasonably recoverable.</a:t>
            </a:r>
          </a:p>
          <a:p>
            <a:pPr>
              <a:spcAft>
                <a:spcPts val="1000"/>
              </a:spcAft>
            </a:pPr>
            <a:r>
              <a:rPr sz="1600" b="0">
                <a:solidFill>
                  <a:srgbClr val="161B26"/>
                </a:solidFill>
                <a:latin typeface="Arial"/>
              </a:rPr>
              <a:t>•  Small teams, free text and metadata can defeat anonymity.</a:t>
            </a:r>
          </a:p>
          <a:p>
            <a:pPr>
              <a:spcAft>
                <a:spcPts val="1000"/>
              </a:spcAft>
            </a:pPr>
            <a:r>
              <a:rPr sz="1600" b="0">
                <a:solidFill>
                  <a:srgbClr val="161B26"/>
                </a:solidFill>
                <a:latin typeface="Arial"/>
              </a:rPr>
              <a:t>•  Set minimum reporting cells and redact identifiers.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Confidential means authorised people can know identity under defined limits.</a:t>
            </a:r>
          </a:p>
          <a:p>
            <a:pPr>
              <a:spcAft>
                <a:spcPts val="1000"/>
              </a:spcAft>
            </a:pPr>
            <a:r>
              <a:rPr sz="1600" b="0">
                <a:solidFill>
                  <a:srgbClr val="161B26"/>
                </a:solidFill>
                <a:latin typeface="Arial"/>
              </a:rPr>
              <a:t>•  Explain who sees what and when escalation may occur.</a:t>
            </a:r>
          </a:p>
          <a:p>
            <a:pPr>
              <a:spcAft>
                <a:spcPts val="1000"/>
              </a:spcAft>
            </a:pPr>
            <a:r>
              <a:rPr sz="1600" b="0">
                <a:solidFill>
                  <a:srgbClr val="161B26"/>
                </a:solidFill>
                <a:latin typeface="Arial"/>
              </a:rPr>
              <a:t>•  Do not promise anonymity when the channel is only confidential.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EVIDENCE CHAIN</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Programme logic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4663440"/>
            <a:ext cx="1600200"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4828032"/>
            <a:ext cx="1371600" cy="731520"/>
          </a:xfrm>
          <a:prstGeom prst="rect">
            <a:avLst/>
          </a:prstGeom>
          <a:noFill/>
        </p:spPr>
        <p:txBody>
          <a:bodyPr wrap="square" anchor="ctr">
            <a:spAutoFit/>
          </a:bodyPr>
          <a:lstStyle/>
          <a:p>
            <a:pPr algn="ctr">
              <a:spcAft>
                <a:spcPts val="400"/>
              </a:spcAft>
            </a:pPr>
            <a:r>
              <a:rPr sz="1100" b="1">
                <a:solidFill>
                  <a:srgbClr val="FFFFFF"/>
                </a:solidFill>
                <a:latin typeface="Arial"/>
              </a:rPr>
              <a:t>INPUTS</a:t>
            </a:r>
          </a:p>
          <a:p>
            <a:pPr algn="ctr">
              <a:spcAft>
                <a:spcPts val="400"/>
              </a:spcAft>
            </a:pPr>
            <a:r>
              <a:rPr sz="900" b="0">
                <a:solidFill>
                  <a:srgbClr val="FFFFFF"/>
                </a:solidFill>
                <a:latin typeface="Arial"/>
              </a:rPr>
              <a:t>people · budget</a:t>
            </a:r>
          </a:p>
        </p:txBody>
      </p:sp>
      <p:sp>
        <p:nvSpPr>
          <p:cNvPr id="9" name="Rectangle 8"/>
          <p:cNvSpPr/>
          <p:nvPr/>
        </p:nvSpPr>
        <p:spPr>
          <a:xfrm>
            <a:off x="2560320" y="4279393"/>
            <a:ext cx="1600200" cy="143560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70048" y="4443985"/>
            <a:ext cx="1371600" cy="731520"/>
          </a:xfrm>
          <a:prstGeom prst="rect">
            <a:avLst/>
          </a:prstGeom>
          <a:noFill/>
        </p:spPr>
        <p:txBody>
          <a:bodyPr wrap="square" anchor="ctr">
            <a:spAutoFit/>
          </a:bodyPr>
          <a:lstStyle/>
          <a:p>
            <a:pPr algn="ctr">
              <a:spcAft>
                <a:spcPts val="400"/>
              </a:spcAft>
            </a:pPr>
            <a:r>
              <a:rPr sz="1100" b="1">
                <a:solidFill>
                  <a:srgbClr val="FFFFFF"/>
                </a:solidFill>
                <a:latin typeface="Arial"/>
              </a:rPr>
              <a:t>ACTIVITIES</a:t>
            </a:r>
          </a:p>
          <a:p>
            <a:pPr algn="ctr">
              <a:spcAft>
                <a:spcPts val="400"/>
              </a:spcAft>
            </a:pPr>
            <a:r>
              <a:rPr sz="900" b="0">
                <a:solidFill>
                  <a:srgbClr val="FFFFFF"/>
                </a:solidFill>
                <a:latin typeface="Arial"/>
              </a:rPr>
              <a:t>work + support</a:t>
            </a:r>
          </a:p>
        </p:txBody>
      </p:sp>
      <p:sp>
        <p:nvSpPr>
          <p:cNvPr id="11" name="Rectangle 10"/>
          <p:cNvSpPr/>
          <p:nvPr/>
        </p:nvSpPr>
        <p:spPr>
          <a:xfrm>
            <a:off x="4434840" y="3895345"/>
            <a:ext cx="1600200" cy="18196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4059937"/>
            <a:ext cx="1371600" cy="731520"/>
          </a:xfrm>
          <a:prstGeom prst="rect">
            <a:avLst/>
          </a:prstGeom>
          <a:noFill/>
        </p:spPr>
        <p:txBody>
          <a:bodyPr wrap="square" anchor="ctr">
            <a:spAutoFit/>
          </a:bodyPr>
          <a:lstStyle/>
          <a:p>
            <a:pPr algn="ctr">
              <a:spcAft>
                <a:spcPts val="400"/>
              </a:spcAft>
            </a:pPr>
            <a:r>
              <a:rPr sz="1100" b="1">
                <a:solidFill>
                  <a:srgbClr val="FFFFFF"/>
                </a:solidFill>
                <a:latin typeface="Arial"/>
              </a:rPr>
              <a:t>REACH</a:t>
            </a:r>
          </a:p>
          <a:p>
            <a:pPr algn="ctr">
              <a:spcAft>
                <a:spcPts val="400"/>
              </a:spcAft>
            </a:pPr>
            <a:r>
              <a:rPr sz="900" b="0">
                <a:solidFill>
                  <a:srgbClr val="FFFFFF"/>
                </a:solidFill>
                <a:latin typeface="Arial"/>
              </a:rPr>
              <a:t>who can access</a:t>
            </a:r>
          </a:p>
        </p:txBody>
      </p:sp>
      <p:sp>
        <p:nvSpPr>
          <p:cNvPr id="13" name="Rectangle 12"/>
          <p:cNvSpPr/>
          <p:nvPr/>
        </p:nvSpPr>
        <p:spPr>
          <a:xfrm>
            <a:off x="6309359" y="3511296"/>
            <a:ext cx="1600200" cy="2203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7" y="3675888"/>
            <a:ext cx="1371600" cy="731520"/>
          </a:xfrm>
          <a:prstGeom prst="rect">
            <a:avLst/>
          </a:prstGeom>
          <a:noFill/>
        </p:spPr>
        <p:txBody>
          <a:bodyPr wrap="square" anchor="ctr">
            <a:spAutoFit/>
          </a:bodyPr>
          <a:lstStyle/>
          <a:p>
            <a:pPr algn="ctr">
              <a:spcAft>
                <a:spcPts val="400"/>
              </a:spcAft>
            </a:pPr>
            <a:r>
              <a:rPr sz="1100" b="1">
                <a:solidFill>
                  <a:srgbClr val="FFFFFF"/>
                </a:solidFill>
                <a:latin typeface="Arial"/>
              </a:rPr>
              <a:t>EXPERIENCE</a:t>
            </a:r>
          </a:p>
          <a:p>
            <a:pPr algn="ctr">
              <a:spcAft>
                <a:spcPts val="400"/>
              </a:spcAft>
            </a:pPr>
            <a:r>
              <a:rPr sz="900" b="0">
                <a:solidFill>
                  <a:srgbClr val="FFFFFF"/>
                </a:solidFill>
                <a:latin typeface="Arial"/>
              </a:rPr>
              <a:t>trust · quality</a:t>
            </a:r>
          </a:p>
        </p:txBody>
      </p:sp>
      <p:sp>
        <p:nvSpPr>
          <p:cNvPr id="15" name="Rectangle 14"/>
          <p:cNvSpPr/>
          <p:nvPr/>
        </p:nvSpPr>
        <p:spPr>
          <a:xfrm>
            <a:off x="8183879" y="3127248"/>
            <a:ext cx="1600200" cy="25877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7" y="3291840"/>
            <a:ext cx="1371600" cy="731520"/>
          </a:xfrm>
          <a:prstGeom prst="rect">
            <a:avLst/>
          </a:prstGeom>
          <a:noFill/>
        </p:spPr>
        <p:txBody>
          <a:bodyPr wrap="square" anchor="ctr">
            <a:spAutoFit/>
          </a:bodyPr>
          <a:lstStyle/>
          <a:p>
            <a:pPr algn="ctr">
              <a:spcAft>
                <a:spcPts val="400"/>
              </a:spcAft>
            </a:pPr>
            <a:r>
              <a:rPr sz="1100" b="1">
                <a:solidFill>
                  <a:srgbClr val="FFFFFF"/>
                </a:solidFill>
                <a:latin typeface="Arial"/>
              </a:rPr>
              <a:t>CHANGE</a:t>
            </a:r>
          </a:p>
          <a:p>
            <a:pPr algn="ctr">
              <a:spcAft>
                <a:spcPts val="400"/>
              </a:spcAft>
            </a:pPr>
            <a:r>
              <a:rPr sz="900" b="0">
                <a:solidFill>
                  <a:srgbClr val="FFFFFF"/>
                </a:solidFill>
                <a:latin typeface="Arial"/>
              </a:rPr>
              <a:t>condition · capability</a:t>
            </a:r>
          </a:p>
        </p:txBody>
      </p:sp>
      <p:sp>
        <p:nvSpPr>
          <p:cNvPr id="17" name="Rectangle 16"/>
          <p:cNvSpPr/>
          <p:nvPr/>
        </p:nvSpPr>
        <p:spPr>
          <a:xfrm>
            <a:off x="10058400" y="2743200"/>
            <a:ext cx="1600200" cy="2971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68128" y="2907792"/>
            <a:ext cx="1371600" cy="731520"/>
          </a:xfrm>
          <a:prstGeom prst="rect">
            <a:avLst/>
          </a:prstGeom>
          <a:noFill/>
        </p:spPr>
        <p:txBody>
          <a:bodyPr wrap="square" anchor="ctr">
            <a:spAutoFit/>
          </a:bodyPr>
          <a:lstStyle/>
          <a:p>
            <a:pPr algn="ctr">
              <a:spcAft>
                <a:spcPts val="400"/>
              </a:spcAft>
            </a:pPr>
            <a:r>
              <a:rPr sz="1100" b="1">
                <a:solidFill>
                  <a:srgbClr val="FFFFFF"/>
                </a:solidFill>
                <a:latin typeface="Arial"/>
              </a:rPr>
              <a:t>OUTCOMES</a:t>
            </a:r>
          </a:p>
          <a:p>
            <a:pPr algn="ctr">
              <a:spcAft>
                <a:spcPts val="400"/>
              </a:spcAft>
            </a:pPr>
            <a:r>
              <a:rPr sz="900" b="0">
                <a:solidFill>
                  <a:srgbClr val="FFFFFF"/>
                </a:solidFill>
                <a:latin typeface="Arial"/>
              </a:rPr>
              <a:t>wellbeing · work</a:t>
            </a:r>
          </a:p>
        </p:txBody>
      </p:sp>
      <p:sp>
        <p:nvSpPr>
          <p:cNvPr id="19" name="TextBox 18"/>
          <p:cNvSpPr txBox="1"/>
          <p:nvPr/>
        </p:nvSpPr>
        <p:spPr>
          <a:xfrm>
            <a:off x="777240" y="5925312"/>
            <a:ext cx="10698480" cy="320040"/>
          </a:xfrm>
          <a:prstGeom prst="rect">
            <a:avLst/>
          </a:prstGeom>
          <a:noFill/>
        </p:spPr>
        <p:txBody>
          <a:bodyPr wrap="square" anchor="t">
            <a:spAutoFit/>
          </a:bodyPr>
          <a:lstStyle/>
          <a:p>
            <a:pPr algn="ctr">
              <a:spcAft>
                <a:spcPts val="400"/>
              </a:spcAft>
            </a:pPr>
            <a:r>
              <a:rPr sz="1100" b="1">
                <a:solidFill>
                  <a:srgbClr val="5B6372"/>
                </a:solidFill>
                <a:latin typeface="Arial"/>
              </a:rPr>
              <a:t>Implementation evidence strengthens first  →  causal confidence requires design, comparison and time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K6 · K7 · A5 · A6</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Balanced measures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Reach</a:t>
            </a:r>
          </a:p>
          <a:p>
            <a:pPr algn="l">
              <a:spcAft>
                <a:spcPts val="300"/>
              </a:spcAft>
            </a:pPr>
            <a:r>
              <a:rPr sz="1200" b="0">
                <a:solidFill>
                  <a:srgbClr val="5B6372"/>
                </a:solidFill>
                <a:latin typeface="Arial"/>
              </a:rPr>
              <a:t>Eligible employees, awareness and access by relevant group.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Participation</a:t>
            </a:r>
          </a:p>
          <a:p>
            <a:pPr algn="l">
              <a:spcAft>
                <a:spcPts val="300"/>
              </a:spcAft>
            </a:pPr>
            <a:r>
              <a:rPr sz="1200" b="0">
                <a:solidFill>
                  <a:srgbClr val="5B6372"/>
                </a:solidFill>
                <a:latin typeface="Arial"/>
              </a:rPr>
              <a:t>Uptake, repeat use, completion and drop-off.</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Experience</a:t>
            </a:r>
          </a:p>
          <a:p>
            <a:pPr algn="l">
              <a:spcAft>
                <a:spcPts val="300"/>
              </a:spcAft>
            </a:pPr>
            <a:r>
              <a:rPr sz="1200" b="0">
                <a:solidFill>
                  <a:srgbClr val="5B6372"/>
                </a:solidFill>
                <a:latin typeface="Arial"/>
              </a:rPr>
              <a:t>Trust, relevance, accessibility, quality and psychological safety.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Outcome</a:t>
            </a:r>
          </a:p>
          <a:p>
            <a:pPr algn="l">
              <a:spcAft>
                <a:spcPts val="300"/>
              </a:spcAft>
            </a:pPr>
            <a:r>
              <a:rPr sz="1200" b="0">
                <a:solidFill>
                  <a:srgbClr val="5B6372"/>
                </a:solidFill>
                <a:latin typeface="Arial"/>
              </a:rPr>
              <a:t>Work conditions, wellbeing indicators and operational outcomes over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K6 · K7 · A5 · A6</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Leading and lagging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Leading: manager capability, access, response time, workload controls and participation equity.</a:t>
            </a:r>
          </a:p>
          <a:p>
            <a:pPr>
              <a:spcAft>
                <a:spcPts val="1000"/>
              </a:spcAft>
            </a:pPr>
            <a:r>
              <a:rPr sz="1600" b="0">
                <a:solidFill>
                  <a:srgbClr val="161B26"/>
                </a:solidFill>
                <a:latin typeface="Arial"/>
              </a:rPr>
              <a:t>•  They show conditions that can influence later outcomes.</a:t>
            </a:r>
          </a:p>
          <a:p>
            <a:pPr>
              <a:spcAft>
                <a:spcPts val="1000"/>
              </a:spcAft>
            </a:pPr>
            <a:r>
              <a:rPr sz="1600" b="0">
                <a:solidFill>
                  <a:srgbClr val="161B26"/>
                </a:solidFill>
                <a:latin typeface="Arial"/>
              </a:rPr>
              <a:t>•  Use them for early correction.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Lagging: absence, turnover, claims, incidents and sustained wellbeing outcomes.</a:t>
            </a:r>
          </a:p>
          <a:p>
            <a:pPr>
              <a:spcAft>
                <a:spcPts val="1000"/>
              </a:spcAft>
            </a:pPr>
            <a:r>
              <a:rPr sz="1600" b="0">
                <a:solidFill>
                  <a:srgbClr val="161B26"/>
                </a:solidFill>
                <a:latin typeface="Arial"/>
              </a:rPr>
              <a:t>•  They are influenced by many factors and often change slowly.</a:t>
            </a:r>
          </a:p>
          <a:p>
            <a:pPr>
              <a:spcAft>
                <a:spcPts val="1000"/>
              </a:spcAft>
            </a:pPr>
            <a:r>
              <a:rPr sz="1600" b="0">
                <a:solidFill>
                  <a:srgbClr val="161B26"/>
                </a:solidFill>
                <a:latin typeface="Arial"/>
              </a:rPr>
              <a:t>•  Avoid attributing change to one programme without suitable evidence.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K6 · K7 · A5 · A6</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Evaluation threats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Selection bias</a:t>
            </a:r>
          </a:p>
          <a:p>
            <a:pPr algn="l">
              <a:spcAft>
                <a:spcPts val="300"/>
              </a:spcAft>
            </a:pPr>
            <a:r>
              <a:rPr sz="1200" b="0">
                <a:solidFill>
                  <a:srgbClr val="5B6372"/>
                </a:solidFill>
                <a:latin typeface="Arial"/>
              </a:rPr>
              <a:t>Participants may differ from non-participants before the programme.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Confounding</a:t>
            </a:r>
          </a:p>
          <a:p>
            <a:pPr algn="l">
              <a:spcAft>
                <a:spcPts val="300"/>
              </a:spcAft>
            </a:pPr>
            <a:r>
              <a:rPr sz="1200" b="0">
                <a:solidFill>
                  <a:srgbClr val="5B6372"/>
                </a:solidFill>
                <a:latin typeface="Arial"/>
              </a:rPr>
              <a:t>Workload, leadership, seasonality or policy changes influence outcomes.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Small numbers</a:t>
            </a:r>
          </a:p>
          <a:p>
            <a:pPr algn="l">
              <a:spcAft>
                <a:spcPts val="300"/>
              </a:spcAft>
            </a:pPr>
            <a:r>
              <a:rPr sz="1200" b="0">
                <a:solidFill>
                  <a:srgbClr val="5B6372"/>
                </a:solidFill>
                <a:latin typeface="Arial"/>
              </a:rPr>
              <a:t>Percentages may fluctuate and create privacy risk.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Vanity metrics</a:t>
            </a:r>
          </a:p>
          <a:p>
            <a:pPr algn="l">
              <a:spcAft>
                <a:spcPts val="300"/>
              </a:spcAft>
            </a:pPr>
            <a:r>
              <a:rPr sz="1200" b="0">
                <a:solidFill>
                  <a:srgbClr val="5B6372"/>
                </a:solidFill>
                <a:latin typeface="Arial"/>
              </a:rPr>
              <a:t>Registrations and clicks do not prove benefit or safe implementation.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K6 · K7 · A5 · A6</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Management review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Review purpose and safeguards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Compare target with evidence</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Check equity and unintended effects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Identify causes</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Choose scale, adapt or stop</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Assign and close actions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K6 · K7 · A5 · A6</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Decision-ready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Decision</a:t>
            </a:r>
          </a:p>
          <a:p>
            <a:pPr algn="l">
              <a:spcAft>
                <a:spcPts val="300"/>
              </a:spcAft>
            </a:pPr>
            <a:r>
              <a:rPr sz="1200" b="0">
                <a:solidFill>
                  <a:srgbClr val="5B6372"/>
                </a:solidFill>
                <a:latin typeface="Arial"/>
              </a:rPr>
              <a:t>What approval, resource, risk acceptance or change is required?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What is known, how reliable is it and what remains uncertain?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Equity and risk</a:t>
            </a:r>
          </a:p>
          <a:p>
            <a:pPr algn="l">
              <a:spcAft>
                <a:spcPts val="300"/>
              </a:spcAft>
            </a:pPr>
            <a:r>
              <a:rPr sz="1200" b="0">
                <a:solidFill>
                  <a:srgbClr val="5B6372"/>
                </a:solidFill>
                <a:latin typeface="Arial"/>
              </a:rPr>
              <a:t>Who benefits, who is missing and what harm may occur?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Owner, due date, measure, communication and next review trigger.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03 · K6 · K7 · A5 · A6</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Feedback earns trust only when people can see what changed.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Close the loop, explain constraints and keep measuring the employee experience.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REAL-USE-CASE DECISIONS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400" b="1">
                <a:solidFill>
                  <a:srgbClr val="161B26"/>
                </a:solidFill>
                <a:latin typeface="Arial"/>
              </a:rPr>
              <a:t>Applied Activities — Communication, Feedback and Improvement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Activity 8</a:t>
            </a:r>
          </a:p>
          <a:p>
            <a:pPr algn="l">
              <a:spcAft>
                <a:spcPts val="300"/>
              </a:spcAft>
            </a:pPr>
            <a:r>
              <a:rPr sz="1000" b="0">
                <a:solidFill>
                  <a:srgbClr val="5B6372"/>
                </a:solidFill>
                <a:latin typeface="Arial"/>
              </a:rPr>
              <a:t>Inclusive Multi-Channel Wellbeing Campaign · K6 · K7 · A5 · LO3</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Activity 9</a:t>
            </a:r>
          </a:p>
          <a:p>
            <a:pPr algn="l">
              <a:spcAft>
                <a:spcPts val="300"/>
              </a:spcAft>
            </a:pPr>
            <a:r>
              <a:rPr sz="1000" b="0">
                <a:solidFill>
                  <a:srgbClr val="5B6372"/>
                </a:solidFill>
                <a:latin typeface="Arial"/>
              </a:rPr>
              <a:t>Employee Feedback and Listening System · K7 · A6 · LO3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Activity 10</a:t>
            </a:r>
          </a:p>
          <a:p>
            <a:pPr algn="l">
              <a:spcAft>
                <a:spcPts val="300"/>
              </a:spcAft>
            </a:pPr>
            <a:r>
              <a:rPr sz="1000" b="0">
                <a:solidFill>
                  <a:srgbClr val="5B6372"/>
                </a:solidFill>
                <a:latin typeface="Arial"/>
              </a:rPr>
              <a:t>Wellbeing Programme Management Review · K6 · K7 · A5 · A6 · LO3</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Evidence boundary</a:t>
            </a:r>
          </a:p>
          <a:p>
            <a:pPr algn="l">
              <a:spcAft>
                <a:spcPts val="300"/>
              </a:spcAft>
            </a:pPr>
            <a:r>
              <a:rPr sz="1000" b="0">
                <a:solidFill>
                  <a:srgbClr val="5B6372"/>
                </a:solidFill>
                <a:latin typeface="Arial"/>
              </a:rPr>
              <a:t>Published evidence and requirements are separated from fictional workplace inputs.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03 · K6 · K7 · A5 · LO3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Inclusive Multi-Channel Wellbeing Campaign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Design a trust-centred campaign that reaches office, frontline and mobile employees without overclaiming outcomes.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Audience-message-channel matrix, campaign assets plan and measurement framework</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Gallup wellbeing framing · employee personas · channel data · message testing sheet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8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Gallup's research treats career wellbeing as foundational and describes employee wellbeing as connected with engagement, absence, performance and retention. These relationships can guide a value proposition but do not prove that a single campaign or programme causes each outcome.</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Personas, channel reach, trust scores and message-test results are fictional.</a:t>
            </a:r>
          </a:p>
          <a:p>
            <a:pPr>
              <a:spcAft>
                <a:spcPts val="1000"/>
              </a:spcAft>
            </a:pPr>
            <a:r>
              <a:rPr sz="1600" b="0">
                <a:solidFill>
                  <a:srgbClr val="161B26"/>
                </a:solidFill>
                <a:latin typeface="Arial"/>
              </a:rPr>
              <a:t>•  EAP individual use is confidential to the provider, subject to stated safety and legal boundaries.</a:t>
            </a:r>
          </a:p>
          <a:p>
            <a:pPr>
              <a:spcAft>
                <a:spcPts val="1000"/>
              </a:spcAft>
            </a:pPr>
            <a:r>
              <a:rPr sz="1600" b="0">
                <a:solidFill>
                  <a:srgbClr val="161B26"/>
                </a:solidFill>
                <a:latin typeface="Arial"/>
              </a:rPr>
              <a:t>•  The campaign has six weeks and a S$18,000 budget.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8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behaviour or decision should each audience take?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benefit, barrier, messenger and channel combination fits each group?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How will the campaign explain privacy and voluntariness accurately?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measures distinguish delivery, comprehension, trust and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Inclusive Multi-Channel Wellbeing Campaign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priority audience has a defined action, credible benefit, trusted messenger and accessible channel; privacy is accurate; overclaiming is absent; and measures cover reach, comprehension, trust, action and equity.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03 · K7 · A6 · LO3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Employee Feedback and Listening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Design a feedback system that combines surveys, focus groups, interviews and programme data while protecting identity and closing the loop.</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Feedback architecture, survey/facilitation instruments and response protocol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Workplace Mental Health resilience framework · sample dataset · channel risk cards · reporting template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9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Center for Workplace Mental Health describes organisational resilience through leadership, training, a culture of empowerment, purpose, trust and accountability, supportive work environments, flexibility and access to support. Employee voice is needed to understand whether those conditions are experienced in practice.</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All sample responses and organisational details are fictional.</a:t>
            </a:r>
          </a:p>
          <a:p>
            <a:pPr>
              <a:spcAft>
                <a:spcPts val="1000"/>
              </a:spcAft>
            </a:pPr>
            <a:r>
              <a:rPr sz="1600" b="0">
                <a:solidFill>
                  <a:srgbClr val="161B26"/>
                </a:solidFill>
                <a:latin typeface="Arial"/>
              </a:rPr>
              <a:t>•  Reporting groups must meet a minimum threshold and free text needs disclosure review.</a:t>
            </a:r>
          </a:p>
          <a:p>
            <a:pPr>
              <a:spcAft>
                <a:spcPts val="1000"/>
              </a:spcAft>
            </a:pPr>
            <a:r>
              <a:rPr sz="1600" b="0">
                <a:solidFill>
                  <a:srgbClr val="161B26"/>
                </a:solidFill>
                <a:latin typeface="Arial"/>
              </a:rPr>
              <a:t>•  An independent research administrator is available for confidential interviews.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9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question requires survey, focus group, interview or service data?</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data should not be collected, and what reporting threshold is safe?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How will employees understand anonymity, confidentiality and escalation?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How will management acknowledge, decide and close the feedback loop?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Employee Feedback and Listening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system collects only decision-relevant data, uses complementary methods, protects small groups and free text, accurately distinguishes anonymity/confidentiality, includes safety escalation and commits to visible response timelines.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03 · K6 · K7 · A5 · A6 · LO3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Wellbeing Programme Management Review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Turn reach, experience, work-condition, outcome and cost evidence into a decision-ready management review.</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Programme dashboard, evidence confidence assessment and management decision paper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McKinsey thriving-at-work research · fictional 12-month dataset · logic model · decision template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10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McKinsey's workplace research presents wellbeing as a leadership priority and highlights organisational enablers such as psychological safety, purpose and adaptable support. The source supports a systems perspective; the fictional programme dataset must be evaluated on its own quality and cannot inherit causal conclusions.</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All programme, outcome, cost, baseline and comparison data are fictional.</a:t>
            </a:r>
          </a:p>
          <a:p>
            <a:pPr>
              <a:spcAft>
                <a:spcPts val="1000"/>
              </a:spcAft>
            </a:pPr>
            <a:r>
              <a:rPr sz="1600" b="0">
                <a:solidFill>
                  <a:srgbClr val="161B26"/>
                </a:solidFill>
                <a:latin typeface="Arial"/>
              </a:rPr>
              <a:t>•  Business units were not randomly assigned; workload and leadership changes occurred during the pilot.</a:t>
            </a:r>
          </a:p>
          <a:p>
            <a:pPr>
              <a:spcAft>
                <a:spcPts val="1000"/>
              </a:spcAft>
            </a:pPr>
            <a:r>
              <a:rPr sz="1600" b="0">
                <a:solidFill>
                  <a:srgbClr val="161B26"/>
                </a:solidFill>
                <a:latin typeface="Arial"/>
              </a:rPr>
              <a:t>•  Small groups and sensitive service data must be aggregated before management reporting.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10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Did delivery reach the intended groups safely and equitably?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evidence supports changes in experience, work conditions and outcomes?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alternative explanations and data-quality weaknesses limit confidence?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should management scale, adapt, pause or stop, and what is the next review trigger?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Wellbeing Programme Management Review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review validates data, follows the logic model, separates implementation from outcome, analyses equity, names confounders, avoids causal overclaiming and gives component-level decisions with owners and review triggers.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UNIT RECAP</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Recap — Communication, Feedback and Improvement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Inclusive Multi-Channel Wellbeing Campaign</a:t>
            </a:r>
          </a:p>
          <a:p>
            <a:pPr algn="l">
              <a:spcAft>
                <a:spcPts val="300"/>
              </a:spcAft>
            </a:pPr>
            <a:r>
              <a:rPr sz="1100" b="0">
                <a:solidFill>
                  <a:srgbClr val="5B6372"/>
                </a:solidFill>
                <a:latin typeface="Arial"/>
              </a:rPr>
              <a:t>Communicate credible programme benefits through appropriate techniques and channels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Employee Feedback and Listening System</a:t>
            </a:r>
          </a:p>
          <a:p>
            <a:pPr algn="l">
              <a:spcAft>
                <a:spcPts val="300"/>
              </a:spcAft>
            </a:pPr>
            <a:r>
              <a:rPr sz="1100" b="0">
                <a:solidFill>
                  <a:srgbClr val="5B6372"/>
                </a:solidFill>
                <a:latin typeface="Arial"/>
              </a:rPr>
              <a:t>Gather safe, representative employee feedback using complementary methods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Wellbeing Programme Management Review</a:t>
            </a:r>
          </a:p>
          <a:p>
            <a:pPr algn="l">
              <a:spcAft>
                <a:spcPts val="300"/>
              </a:spcAft>
            </a:pPr>
            <a:r>
              <a:rPr sz="1100" b="0">
                <a:solidFill>
                  <a:srgbClr val="5B6372"/>
                </a:solidFill>
                <a:latin typeface="Arial"/>
              </a:rPr>
              <a:t>Assess programme effectiveness and recommend scale, adaptation or stop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Evidence habit</a:t>
            </a:r>
          </a:p>
          <a:p>
            <a:pPr algn="l">
              <a:spcAft>
                <a:spcPts val="300"/>
              </a:spcAft>
            </a:pPr>
            <a:r>
              <a:rPr sz="1100" b="0">
                <a:solidFill>
                  <a:srgbClr val="5B6372"/>
                </a:solidFill>
                <a:latin typeface="Arial"/>
              </a:rPr>
              <a:t>Separate public facts, organisation evidence and training assumptions.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Management habit</a:t>
            </a:r>
          </a:p>
          <a:p>
            <a:pPr algn="l">
              <a:spcAft>
                <a:spcPts val="300"/>
              </a:spcAft>
            </a:pPr>
            <a:r>
              <a:rPr sz="1100" b="0">
                <a:solidFill>
                  <a:srgbClr val="5B6372"/>
                </a:solidFill>
                <a:latin typeface="Arial"/>
              </a:rPr>
              <a:t>Link every priority, risk or finding to an owner and review trigger.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Wellbeing Is Designed, Enabled and Improved</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SUMMARY</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LO1</a:t>
            </a:r>
          </a:p>
          <a:p>
            <a:pPr algn="l">
              <a:spcAft>
                <a:spcPts val="300"/>
              </a:spcAft>
            </a:pPr>
            <a:r>
              <a:rPr sz="1000" b="0">
                <a:solidFill>
                  <a:srgbClr val="5B6372"/>
                </a:solidFill>
                <a:latin typeface="Arial"/>
              </a:rPr>
              <a:t>Identify workplace health and wellness trends, technologies and research implications for employees and the organisation.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LO2</a:t>
            </a:r>
          </a:p>
          <a:p>
            <a:pPr algn="l">
              <a:spcAft>
                <a:spcPts val="300"/>
              </a:spcAft>
            </a:pPr>
            <a:r>
              <a:rPr sz="1000" b="0">
                <a:solidFill>
                  <a:srgbClr val="5B6372"/>
                </a:solidFill>
                <a:latin typeface="Arial"/>
              </a:rPr>
              <a:t>Implement inclusive health and wellness programmes for different employee groups and translate policies into day-to-day practices.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LO3</a:t>
            </a:r>
          </a:p>
          <a:p>
            <a:pPr algn="l">
              <a:spcAft>
                <a:spcPts val="300"/>
              </a:spcAft>
            </a:pPr>
            <a:r>
              <a:rPr sz="1000" b="0">
                <a:solidFill>
                  <a:srgbClr val="5B6372"/>
                </a:solidFill>
                <a:latin typeface="Arial"/>
              </a:rPr>
              <a:t>Communicate programme benefits through appropriate channels and assess effectiveness using employee feedback and programme evidence.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TAKEAWAY</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The complete programme discipline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Understand needs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Protect trust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Design the system</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Enable access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Evaluate and improve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 MAP · FULL URLS IN NOTES AND LEARNER GUIDE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Research Foundations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NCBI</a:t>
            </a:r>
          </a:p>
          <a:p>
            <a:pPr algn="l">
              <a:spcAft>
                <a:spcPts val="300"/>
              </a:spcAft>
            </a:pPr>
            <a:r>
              <a:rPr sz="1100" b="0">
                <a:solidFill>
                  <a:srgbClr val="5B6372"/>
                </a:solidFill>
                <a:latin typeface="Arial"/>
              </a:rPr>
              <a:t>Programme design, accessibility, partnerships and participation barriers.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Gallup</a:t>
            </a:r>
          </a:p>
          <a:p>
            <a:pPr algn="l">
              <a:spcAft>
                <a:spcPts val="300"/>
              </a:spcAft>
            </a:pPr>
            <a:r>
              <a:rPr sz="1100" b="0">
                <a:solidFill>
                  <a:srgbClr val="5B6372"/>
                </a:solidFill>
                <a:latin typeface="Arial"/>
              </a:rPr>
              <a:t>Whole-person wellbeing elements and employee-experience relationships.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CIPD</a:t>
            </a:r>
          </a:p>
          <a:p>
            <a:pPr algn="l">
              <a:spcAft>
                <a:spcPts val="300"/>
              </a:spcAft>
            </a:pPr>
            <a:r>
              <a:rPr sz="1100" b="0">
                <a:solidFill>
                  <a:srgbClr val="5B6372"/>
                </a:solidFill>
                <a:latin typeface="Arial"/>
              </a:rPr>
              <a:t>Resilience evidence, protective factors and system responsibility.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Workplace Mental Health</a:t>
            </a:r>
          </a:p>
          <a:p>
            <a:pPr algn="l">
              <a:spcAft>
                <a:spcPts val="300"/>
              </a:spcAft>
            </a:pPr>
            <a:r>
              <a:rPr sz="1100" b="0">
                <a:solidFill>
                  <a:srgbClr val="5B6372"/>
                </a:solidFill>
                <a:latin typeface="Arial"/>
              </a:rPr>
              <a:t>Leadership, culture, flexibility and access to support.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McKinsey</a:t>
            </a:r>
          </a:p>
          <a:p>
            <a:pPr algn="l">
              <a:spcAft>
                <a:spcPts val="300"/>
              </a:spcAft>
            </a:pPr>
            <a:r>
              <a:rPr sz="1100" b="0">
                <a:solidFill>
                  <a:srgbClr val="5B6372"/>
                </a:solidFill>
                <a:latin typeface="Arial"/>
              </a:rPr>
              <a:t>Thriving-at-work research and organisational enablers.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Peer-reviewed studies</a:t>
            </a:r>
          </a:p>
          <a:p>
            <a:pPr algn="l">
              <a:spcAft>
                <a:spcPts val="300"/>
              </a:spcAft>
            </a:pPr>
            <a:r>
              <a:rPr sz="1100" b="0">
                <a:solidFill>
                  <a:srgbClr val="5B6372"/>
                </a:solidFill>
                <a:latin typeface="Arial"/>
              </a:rPr>
              <a:t>Resilience ecosystems and whole-person care implementation.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 MAP · VALIDATED 16 AUGUST 2026</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Singapore Requirements and 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PDPC</a:t>
            </a:r>
          </a:p>
          <a:p>
            <a:pPr algn="l">
              <a:spcAft>
                <a:spcPts val="300"/>
              </a:spcAft>
            </a:pPr>
            <a:r>
              <a:rPr sz="1100" b="0">
                <a:solidFill>
                  <a:srgbClr val="5B6372"/>
                </a:solidFill>
                <a:latin typeface="Arial"/>
              </a:rPr>
              <a:t>Personal-data obligations and privacy-by-design baseline.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TAFEP</a:t>
            </a:r>
          </a:p>
          <a:p>
            <a:pPr algn="l">
              <a:spcAft>
                <a:spcPts val="300"/>
              </a:spcAft>
            </a:pPr>
            <a:r>
              <a:rPr sz="1100" b="0">
                <a:solidFill>
                  <a:srgbClr val="5B6372"/>
                </a:solidFill>
                <a:latin typeface="Arial"/>
              </a:rPr>
              <a:t>Mental-wellbeing and fair, supportive employment practices.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HPB</a:t>
            </a:r>
          </a:p>
          <a:p>
            <a:pPr algn="l">
              <a:spcAft>
                <a:spcPts val="300"/>
              </a:spcAft>
            </a:pPr>
            <a:r>
              <a:rPr sz="1100" b="0">
                <a:solidFill>
                  <a:srgbClr val="5B6372"/>
                </a:solidFill>
                <a:latin typeface="Arial"/>
              </a:rPr>
              <a:t>Current workplace-health resources and programme guidance.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MOM</a:t>
            </a:r>
          </a:p>
          <a:p>
            <a:pPr algn="l">
              <a:spcAft>
                <a:spcPts val="300"/>
              </a:spcAft>
            </a:pPr>
            <a:r>
              <a:rPr sz="1100" b="0">
                <a:solidFill>
                  <a:srgbClr val="5B6372"/>
                </a:solidFill>
                <a:latin typeface="Arial"/>
              </a:rPr>
              <a:t>Employment Act sick-leave eligibility and administration.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Healthier SG</a:t>
            </a:r>
          </a:p>
          <a:p>
            <a:pPr algn="l">
              <a:spcAft>
                <a:spcPts val="300"/>
              </a:spcAft>
            </a:pPr>
            <a:r>
              <a:rPr sz="1100" b="0">
                <a:solidFill>
                  <a:srgbClr val="5B6372"/>
                </a:solidFill>
                <a:latin typeface="Arial"/>
              </a:rPr>
              <a:t>National preventive-health and community-support pathway.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Course page</a:t>
            </a:r>
          </a:p>
          <a:p>
            <a:pPr algn="l">
              <a:spcAft>
                <a:spcPts val="300"/>
              </a:spcAft>
            </a:pPr>
            <a:r>
              <a:rPr sz="1100" b="0">
                <a:solidFill>
                  <a:srgbClr val="5B6372"/>
                </a:solidFill>
                <a:latin typeface="Arial"/>
              </a:rPr>
              <a:t>Approved learning outcomes, topics, duration and assessment format.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 MAP · APPRAISE BEFORE APPLYING</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Practice Perspectives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 Talent Solutions</a:t>
            </a:r>
          </a:p>
          <a:p>
            <a:pPr algn="l">
              <a:spcAft>
                <a:spcPts val="300"/>
              </a:spcAft>
            </a:pPr>
            <a:r>
              <a:rPr sz="1100" b="0">
                <a:solidFill>
                  <a:srgbClr val="5B6372"/>
                </a:solidFill>
                <a:latin typeface="Arial"/>
              </a:rPr>
              <a:t>Whole-person wellness and workplace resilience examples.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Outback Team Building</a:t>
            </a:r>
          </a:p>
          <a:p>
            <a:pPr algn="l">
              <a:spcAft>
                <a:spcPts val="300"/>
              </a:spcAft>
            </a:pPr>
            <a:r>
              <a:rPr sz="1100" b="0">
                <a:solidFill>
                  <a:srgbClr val="5B6372"/>
                </a:solidFill>
                <a:latin typeface="Arial"/>
              </a:rPr>
              <a:t>Activity examples treated as practice inspiration, not causal evidence.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hierarchy</a:t>
            </a:r>
          </a:p>
          <a:p>
            <a:pPr algn="l">
              <a:spcAft>
                <a:spcPts val="300"/>
              </a:spcAft>
            </a:pPr>
            <a:r>
              <a:rPr sz="1100" b="0">
                <a:solidFill>
                  <a:srgbClr val="5B6372"/>
                </a:solidFill>
                <a:latin typeface="Arial"/>
              </a:rPr>
              <a:t>Regulation and research carry more weight than vendor or promotional claims.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Decision rule</a:t>
            </a:r>
          </a:p>
          <a:p>
            <a:pPr algn="l">
              <a:spcAft>
                <a:spcPts val="300"/>
              </a:spcAft>
            </a:pPr>
            <a:r>
              <a:rPr sz="1100" b="0">
                <a:solidFill>
                  <a:srgbClr val="5B6372"/>
                </a:solidFill>
                <a:latin typeface="Arial"/>
              </a:rPr>
              <a:t>Use source quality, relevance, workforce evidence and safe piloting together.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LMS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Courseware and Assessment on the LMS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52760" cy="658368"/>
          </a:xfrm>
          <a:prstGeom prst="rect">
            <a:avLst/>
          </a:prstGeom>
          <a:solidFill>
            <a:srgbClr val="EE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38528"/>
            <a:ext cx="10195560" cy="411480"/>
          </a:xfrm>
          <a:prstGeom prst="rect">
            <a:avLst/>
          </a:prstGeom>
          <a:noFill/>
        </p:spPr>
        <p:txBody>
          <a:bodyPr wrap="square" anchor="t">
            <a:spAutoFit/>
          </a:bodyPr>
          <a:lstStyle/>
          <a:p>
            <a:pPr algn="ctr">
              <a:spcAft>
                <a:spcPts val="400"/>
              </a:spcAft>
            </a:pPr>
            <a:r>
              <a:rPr sz="1500" b="1">
                <a:solidFill>
                  <a:srgbClr val="7C3AED"/>
                </a:solidFill>
                <a:latin typeface="Arial"/>
                <a:hlinkClick r:id="rId2"/>
              </a:rPr>
              <a:t>Open resource · lms-tms.tertiaryinfotech.com</a:t>
            </a:r>
          </a:p>
        </p:txBody>
      </p:sp>
      <p:sp>
        <p:nvSpPr>
          <p:cNvPr id="9" name="Rectangle 8"/>
          <p:cNvSpPr/>
          <p:nvPr/>
        </p:nvSpPr>
        <p:spPr>
          <a:xfrm>
            <a:off x="777240" y="2880360"/>
            <a:ext cx="3337560" cy="2514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880360"/>
            <a:ext cx="3337560"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3154680"/>
            <a:ext cx="2926080" cy="502920"/>
          </a:xfrm>
          <a:prstGeom prst="rect">
            <a:avLst/>
          </a:prstGeom>
          <a:noFill/>
        </p:spPr>
        <p:txBody>
          <a:bodyPr wrap="square" anchor="t">
            <a:spAutoFit/>
          </a:bodyPr>
          <a:lstStyle/>
          <a:p>
            <a:pPr algn="l">
              <a:spcAft>
                <a:spcPts val="400"/>
              </a:spcAft>
            </a:pPr>
            <a:r>
              <a:rPr sz="1800" b="1">
                <a:solidFill>
                  <a:srgbClr val="1F6FEB"/>
                </a:solidFill>
                <a:latin typeface="Arial"/>
              </a:rPr>
              <a:t>Courseware</a:t>
            </a:r>
          </a:p>
        </p:txBody>
      </p:sp>
      <p:sp>
        <p:nvSpPr>
          <p:cNvPr id="12" name="TextBox 11"/>
          <p:cNvSpPr txBox="1"/>
          <p:nvPr/>
        </p:nvSpPr>
        <p:spPr>
          <a:xfrm>
            <a:off x="978408" y="3794760"/>
            <a:ext cx="2926080" cy="1325880"/>
          </a:xfrm>
          <a:prstGeom prst="rect">
            <a:avLst/>
          </a:prstGeom>
          <a:noFill/>
        </p:spPr>
        <p:txBody>
          <a:bodyPr wrap="square" anchor="t">
            <a:spAutoFit/>
          </a:bodyPr>
          <a:lstStyle/>
          <a:p>
            <a:pPr algn="l">
              <a:spcAft>
                <a:spcPts val="400"/>
              </a:spcAft>
            </a:pPr>
            <a:r>
              <a:rPr sz="1500" b="0">
                <a:solidFill>
                  <a:srgbClr val="161B26"/>
                </a:solidFill>
                <a:latin typeface="Arial"/>
              </a:rPr>
              <a:t>Download the current slides and Learner Guide.</a:t>
            </a:r>
          </a:p>
        </p:txBody>
      </p:sp>
      <p:sp>
        <p:nvSpPr>
          <p:cNvPr id="13" name="Rectangle 12"/>
          <p:cNvSpPr/>
          <p:nvPr/>
        </p:nvSpPr>
        <p:spPr>
          <a:xfrm>
            <a:off x="4434840" y="2880360"/>
            <a:ext cx="3337560" cy="2514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2880360"/>
            <a:ext cx="3337560"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36008" y="3154680"/>
            <a:ext cx="2926080" cy="502920"/>
          </a:xfrm>
          <a:prstGeom prst="rect">
            <a:avLst/>
          </a:prstGeom>
          <a:noFill/>
        </p:spPr>
        <p:txBody>
          <a:bodyPr wrap="square" anchor="t">
            <a:spAutoFit/>
          </a:bodyPr>
          <a:lstStyle/>
          <a:p>
            <a:pPr algn="l">
              <a:spcAft>
                <a:spcPts val="400"/>
              </a:spcAft>
            </a:pPr>
            <a:r>
              <a:rPr sz="1800" b="1">
                <a:solidFill>
                  <a:srgbClr val="10B981"/>
                </a:solidFill>
                <a:latin typeface="Arial"/>
              </a:rPr>
              <a:t>Assessment</a:t>
            </a:r>
          </a:p>
        </p:txBody>
      </p:sp>
      <p:sp>
        <p:nvSpPr>
          <p:cNvPr id="16" name="TextBox 15"/>
          <p:cNvSpPr txBox="1"/>
          <p:nvPr/>
        </p:nvSpPr>
        <p:spPr>
          <a:xfrm>
            <a:off x="4636008" y="3794760"/>
            <a:ext cx="2926080" cy="1325880"/>
          </a:xfrm>
          <a:prstGeom prst="rect">
            <a:avLst/>
          </a:prstGeom>
          <a:noFill/>
        </p:spPr>
        <p:txBody>
          <a:bodyPr wrap="square" anchor="t">
            <a:spAutoFit/>
          </a:bodyPr>
          <a:lstStyle/>
          <a:p>
            <a:pPr algn="l">
              <a:spcAft>
                <a:spcPts val="400"/>
              </a:spcAft>
            </a:pPr>
            <a:r>
              <a:rPr sz="1500" b="0">
                <a:solidFill>
                  <a:srgbClr val="161B26"/>
                </a:solidFill>
                <a:latin typeface="Arial"/>
              </a:rPr>
              <a:t>Open and complete the WA then Case Study.</a:t>
            </a:r>
          </a:p>
        </p:txBody>
      </p:sp>
      <p:sp>
        <p:nvSpPr>
          <p:cNvPr id="17" name="Rectangle 16"/>
          <p:cNvSpPr/>
          <p:nvPr/>
        </p:nvSpPr>
        <p:spPr>
          <a:xfrm>
            <a:off x="8092440" y="2880360"/>
            <a:ext cx="3337560" cy="2514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2880360"/>
            <a:ext cx="3337560"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3154680"/>
            <a:ext cx="2926080" cy="502920"/>
          </a:xfrm>
          <a:prstGeom prst="rect">
            <a:avLst/>
          </a:prstGeom>
          <a:noFill/>
        </p:spPr>
        <p:txBody>
          <a:bodyPr wrap="square" anchor="t">
            <a:spAutoFit/>
          </a:bodyPr>
          <a:lstStyle/>
          <a:p>
            <a:pPr algn="l">
              <a:spcAft>
                <a:spcPts val="400"/>
              </a:spcAft>
            </a:pPr>
            <a:r>
              <a:rPr sz="1800" b="1">
                <a:solidFill>
                  <a:srgbClr val="7C3AED"/>
                </a:solidFill>
                <a:latin typeface="Arial"/>
              </a:rPr>
              <a:t>Submission</a:t>
            </a:r>
          </a:p>
        </p:txBody>
      </p:sp>
      <p:sp>
        <p:nvSpPr>
          <p:cNvPr id="20" name="TextBox 19"/>
          <p:cNvSpPr txBox="1"/>
          <p:nvPr/>
        </p:nvSpPr>
        <p:spPr>
          <a:xfrm>
            <a:off x="8293608" y="3794760"/>
            <a:ext cx="2926080" cy="1325880"/>
          </a:xfrm>
          <a:prstGeom prst="rect">
            <a:avLst/>
          </a:prstGeom>
          <a:noFill/>
        </p:spPr>
        <p:txBody>
          <a:bodyPr wrap="square" anchor="t">
            <a:spAutoFit/>
          </a:bodyPr>
          <a:lstStyle/>
          <a:p>
            <a:pPr algn="l">
              <a:spcAft>
                <a:spcPts val="400"/>
              </a:spcAft>
            </a:pPr>
            <a:r>
              <a:rPr sz="1500" b="0">
                <a:solidFill>
                  <a:srgbClr val="161B26"/>
                </a:solidFill>
                <a:latin typeface="Arial"/>
              </a:rPr>
              <a:t>Upload completed answers and complete the sign-off process.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Assessment Reminder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WA-SAQ · 4:00–5:00pm</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7 open-ended questions</a:t>
            </a:r>
          </a:p>
          <a:p>
            <a:pPr>
              <a:spcAft>
                <a:spcPts val="900"/>
              </a:spcAft>
            </a:pPr>
            <a:r>
              <a:rPr sz="1400" b="0">
                <a:solidFill>
                  <a:srgbClr val="161B26"/>
                </a:solidFill>
                <a:latin typeface="Arial"/>
              </a:rPr>
              <a:t>•  K1–K7</a:t>
            </a:r>
          </a:p>
          <a:p>
            <a:pPr>
              <a:spcAft>
                <a:spcPts val="900"/>
              </a:spcAft>
            </a:pPr>
            <a:r>
              <a:rPr sz="1400" b="0">
                <a:solidFill>
                  <a:srgbClr val="161B26"/>
                </a:solidFill>
                <a:latin typeface="Arial"/>
              </a:rPr>
              <a:t>•  Open book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Case Study · 5:00–6:00pm</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3 integrated questions</a:t>
            </a:r>
          </a:p>
          <a:p>
            <a:pPr>
              <a:spcAft>
                <a:spcPts val="900"/>
              </a:spcAft>
            </a:pPr>
            <a:r>
              <a:rPr sz="1400" b="0">
                <a:solidFill>
                  <a:srgbClr val="161B26"/>
                </a:solidFill>
                <a:latin typeface="Arial"/>
              </a:rPr>
              <a:t>•  A1–A6</a:t>
            </a:r>
          </a:p>
          <a:p>
            <a:pPr>
              <a:spcAft>
                <a:spcPts val="900"/>
              </a:spcAft>
            </a:pPr>
            <a:r>
              <a:rPr sz="1400" b="0">
                <a:solidFill>
                  <a:srgbClr val="161B26"/>
                </a:solidFill>
                <a:latin typeface="Arial"/>
              </a:rPr>
              <a:t>•  Open book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Finish</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Submit on LMS</a:t>
            </a:r>
          </a:p>
          <a:p>
            <a:pPr>
              <a:spcAft>
                <a:spcPts val="900"/>
              </a:spcAft>
            </a:pPr>
            <a:r>
              <a:rPr sz="1400" b="0">
                <a:solidFill>
                  <a:srgbClr val="161B26"/>
                </a:solidFill>
                <a:latin typeface="Arial"/>
              </a:rPr>
              <a:t>•  Digital attendance</a:t>
            </a:r>
          </a:p>
          <a:p>
            <a:pPr>
              <a:spcAft>
                <a:spcPts val="900"/>
              </a:spcAft>
            </a:pPr>
            <a:r>
              <a:rPr sz="1400" b="0">
                <a:solidFill>
                  <a:srgbClr val="161B26"/>
                </a:solidFill>
                <a:latin typeface="Arial"/>
              </a:rPr>
              <a:t>•  Sign summary record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 SSG attendance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then Case Study</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Scan</a:t>
            </a:r>
          </a:p>
          <a:p>
            <a:pPr algn="l">
              <a:spcAft>
                <a:spcPts val="300"/>
              </a:spcAft>
            </a:pPr>
            <a:r>
              <a:rPr sz="1200" b="0">
                <a:solidFill>
                  <a:srgbClr val="5B6372"/>
                </a:solidFill>
                <a:latin typeface="Arial"/>
              </a:rPr>
              <a:t>Use the QR code shown by the trainer.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Submit</a:t>
            </a:r>
          </a:p>
          <a:p>
            <a:pPr algn="l">
              <a:spcAft>
                <a:spcPts val="300"/>
              </a:spcAft>
            </a:pPr>
            <a:r>
              <a:rPr sz="1200" b="0">
                <a:solidFill>
                  <a:srgbClr val="5B6372"/>
                </a:solidFill>
                <a:latin typeface="Arial"/>
              </a:rPr>
              <a:t>Complete the assessment attendance event.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Confirm</a:t>
            </a:r>
          </a:p>
          <a:p>
            <a:pPr algn="l">
              <a:spcAft>
                <a:spcPts val="300"/>
              </a:spcAft>
            </a:pPr>
            <a:r>
              <a:rPr sz="1200" b="0">
                <a:solidFill>
                  <a:srgbClr val="5B6372"/>
                </a:solidFill>
                <a:latin typeface="Arial"/>
              </a:rPr>
              <a:t>Verify the submission confirmation.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Resolve</a:t>
            </a:r>
          </a:p>
          <a:p>
            <a:pPr algn="l">
              <a:spcAft>
                <a:spcPts val="300"/>
              </a:spcAft>
            </a:pPr>
            <a:r>
              <a:rPr sz="1200" b="0">
                <a:solidFill>
                  <a:srgbClr val="5B6372"/>
                </a:solidFill>
                <a:latin typeface="Arial"/>
              </a:rPr>
              <a:t>Tell the trainer immediately if it fails.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WORKPLACE WELLBEING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Design healthy work, earn trust and close the learning loop with evidence.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Empowering Employee Health and Wellness at the Workplace  ·  TGS-2024045222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